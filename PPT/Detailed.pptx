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80" r:id="rId19"/>
    <p:sldId id="277" r:id="rId20"/>
    <p:sldId id="278" r:id="rId21"/>
  </p:sldIdLst>
  <p:sldSz cx="14630400" cy="8229600"/>
  <p:notesSz cx="8229600" cy="14630400"/>
  <p:embeddedFontLst>
    <p:embeddedFont>
      <p:font typeface="Merriweather" panose="00000500000000000000" pitchFamily="2" charset="0"/>
      <p:regular r:id="rId23"/>
      <p:bold r:id="rId24"/>
      <p:italic r:id="rId25"/>
      <p:boldItalic r:id="rId26"/>
    </p:embeddedFont>
    <p:embeddedFont>
      <p:font typeface="Merriweather Light" panose="00000400000000000000" pitchFamily="2" charset="0"/>
      <p:regular r:id="rId27"/>
      <p:bold r:id="rId28"/>
      <p:italic r:id="rId29"/>
      <p:boldItalic r:id="rId30"/>
    </p:embeddedFont>
    <p:embeddedFont>
      <p:font typeface="Roboto" panose="02000000000000000000" pitchFamily="2" charset="0"/>
      <p:regular r:id="rId31"/>
      <p:bold r:id="rId32"/>
      <p:italic r:id="rId33"/>
      <p:boldItalic r:id="rId34"/>
    </p:embeddedFont>
    <p:embeddedFont>
      <p:font typeface="Roboto Medium" panose="02000000000000000000" pitchFamily="2" charset="0"/>
      <p:regular r:id="rId35"/>
      <p:italic r:id="rId36"/>
    </p:embeddedFont>
    <p:embeddedFont>
      <p:font typeface="Script MT Bold" panose="03040602040607080904" pitchFamily="66" charset="0"/>
      <p:bold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
          <p15:clr>
            <a:srgbClr val="747775"/>
          </p15:clr>
        </p15:guide>
        <p15:guide id="2" pos="4608">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3" roundtripDataSignature="AMtx7mgu3zSuefa3tF3t5yLtHDbkSuh9d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276DB2A-A49B-4E71-99EA-B9CB79705D1E}">
  <a:tblStyle styleId="{5276DB2A-A49B-4E71-99EA-B9CB79705D1E}"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F50C566-705F-44B5-BE17-416DC6F367EF}" styleName="Table_1">
    <a:wholeTbl>
      <a:tcTxStyle b="off" i="off">
        <a:font>
          <a:latin typeface="Calibri"/>
          <a:ea typeface="Calibri"/>
          <a:cs typeface="Calibri"/>
        </a:font>
        <a:schemeClr val="lt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accent1"/>
          </a:solidFill>
        </a:fill>
      </a:tcStyle>
    </a:wholeTbl>
    <a:band1H>
      <a:tcTxStyle/>
      <a:tcStyle>
        <a:tcBdr/>
        <a:fill>
          <a:solidFill>
            <a:srgbClr val="355A9B"/>
          </a:solidFill>
        </a:fill>
      </a:tcStyle>
    </a:band1H>
    <a:band2H>
      <a:tcTxStyle/>
      <a:tcStyle>
        <a:tcBdr/>
      </a:tcStyle>
    </a:band2H>
    <a:band1V>
      <a:tcTxStyle/>
      <a:tcStyle>
        <a:tcBdr/>
        <a:fill>
          <a:solidFill>
            <a:srgbClr val="355A9B"/>
          </a:solidFill>
        </a:fill>
      </a:tcStyle>
    </a:band1V>
    <a:band2V>
      <a:tcTxStyle/>
      <a:tcStyle>
        <a:tcBdr/>
      </a:tcStyle>
    </a:band2V>
    <a:lastCol>
      <a:tcTxStyle b="on" i="off"/>
      <a:tcStyle>
        <a:tcBdr>
          <a:left>
            <a:ln w="25400" cap="flat" cmpd="sng">
              <a:solidFill>
                <a:schemeClr val="lt1"/>
              </a:solidFill>
              <a:prstDash val="solid"/>
              <a:round/>
              <a:headEnd type="none" w="sm" len="sm"/>
              <a:tailEnd type="none" w="sm" len="sm"/>
            </a:ln>
          </a:left>
        </a:tcBdr>
        <a:fill>
          <a:solidFill>
            <a:srgbClr val="355A9B"/>
          </a:solidFill>
        </a:fill>
      </a:tcStyle>
    </a:lastCol>
    <a:firstCol>
      <a:tcTxStyle b="on" i="off"/>
      <a:tcStyle>
        <a:tcBdr>
          <a:right>
            <a:ln w="25400" cap="flat" cmpd="sng">
              <a:solidFill>
                <a:schemeClr val="lt1"/>
              </a:solidFill>
              <a:prstDash val="solid"/>
              <a:round/>
              <a:headEnd type="none" w="sm" len="sm"/>
              <a:tailEnd type="none" w="sm" len="sm"/>
            </a:ln>
          </a:right>
        </a:tcBdr>
        <a:fill>
          <a:solidFill>
            <a:srgbClr val="355A9B"/>
          </a:solidFill>
        </a:fill>
      </a:tcStyle>
    </a:firstCol>
    <a:lastRow>
      <a:tcTxStyle b="on" i="off"/>
      <a:tcStyle>
        <a:tcBdr>
          <a:top>
            <a:ln w="25400" cap="flat" cmpd="sng">
              <a:solidFill>
                <a:schemeClr val="lt1"/>
              </a:solidFill>
              <a:prstDash val="solid"/>
              <a:round/>
              <a:headEnd type="none" w="sm" len="sm"/>
              <a:tailEnd type="none" w="sm" len="sm"/>
            </a:ln>
          </a:top>
        </a:tcBdr>
        <a:fill>
          <a:solidFill>
            <a:srgbClr val="2C4B81"/>
          </a:solidFill>
        </a:fill>
      </a:tcStyle>
    </a:lastRow>
    <a:seCell>
      <a:tcTxStyle/>
      <a:tcStyle>
        <a:tcBdr>
          <a:left>
            <a:ln w="9525" cap="flat" cmpd="sng">
              <a:solidFill>
                <a:srgbClr val="000000">
                  <a:alpha val="0"/>
                </a:srgbClr>
              </a:solidFill>
              <a:prstDash val="solid"/>
              <a:round/>
              <a:headEnd type="none" w="sm" len="sm"/>
              <a:tailEnd type="none" w="sm" len="sm"/>
            </a:ln>
          </a:left>
        </a:tcBdr>
      </a:tcStyle>
    </a:seCell>
    <a:swCell>
      <a:tcTxStyle/>
      <a:tcStyle>
        <a:tcBdr>
          <a:right>
            <a:ln w="9525" cap="flat" cmpd="sng">
              <a:solidFill>
                <a:srgbClr val="000000">
                  <a:alpha val="0"/>
                </a:srgbClr>
              </a:solidFill>
              <a:prstDash val="solid"/>
              <a:round/>
              <a:headEnd type="none" w="sm" len="sm"/>
              <a:tailEnd type="none" w="sm" len="sm"/>
            </a:ln>
          </a:right>
        </a:tcBdr>
      </a:tcStyle>
    </a:swCell>
    <a:firstRow>
      <a:tcTxStyle b="on" i="off"/>
      <a:tcStyle>
        <a:tcBdr>
          <a:bottom>
            <a:ln w="25400" cap="flat" cmpd="sng">
              <a:solidFill>
                <a:schemeClr val="lt1"/>
              </a:solidFill>
              <a:prstDash val="solid"/>
              <a:round/>
              <a:headEnd type="none" w="sm" len="sm"/>
              <a:tailEnd type="none" w="sm" len="sm"/>
            </a:ln>
          </a:bottom>
        </a:tcBdr>
        <a:fill>
          <a:solidFill>
            <a:schemeClr val="dk1"/>
          </a:solidFill>
        </a:fill>
      </a:tcStyle>
    </a:firstRow>
    <a:neCell>
      <a:tcTxStyle/>
      <a:tcStyle>
        <a:tcBdr>
          <a:left>
            <a:ln w="9525" cap="flat" cmpd="sng">
              <a:solidFill>
                <a:srgbClr val="000000">
                  <a:alpha val="0"/>
                </a:srgbClr>
              </a:solidFill>
              <a:prstDash val="solid"/>
              <a:round/>
              <a:headEnd type="none" w="sm" len="sm"/>
              <a:tailEnd type="none" w="sm" len="sm"/>
            </a:ln>
          </a:left>
        </a:tcBdr>
      </a:tcStyle>
    </a:neCell>
    <a:nwCell>
      <a:tcTxStyle/>
      <a:tcStyle>
        <a:tcBdr>
          <a:right>
            <a:ln w="9525" cap="flat" cmpd="sng">
              <a:solidFill>
                <a:srgbClr val="000000">
                  <a:alpha val="0"/>
                </a:srgbClr>
              </a:solidFill>
              <a:prstDash val="solid"/>
              <a:round/>
              <a:headEnd type="none" w="sm" len="sm"/>
              <a:tailEnd type="none" w="sm" len="sm"/>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476" autoAdjust="0"/>
    <p:restoredTop sz="94660"/>
  </p:normalViewPr>
  <p:slideViewPr>
    <p:cSldViewPr snapToGrid="0">
      <p:cViewPr varScale="1">
        <p:scale>
          <a:sx n="70" d="100"/>
          <a:sy n="70" d="100"/>
        </p:scale>
        <p:origin x="249" y="36"/>
      </p:cViewPr>
      <p:guideLst>
        <p:guide orient="horz" pos="216"/>
        <p:guide pos="460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font" Target="fonts/font12.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43"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4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371850" y="1097275"/>
            <a:ext cx="5486650" cy="54864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822950" y="6949425"/>
            <a:ext cx="6583675" cy="658367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p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0" name="Google Shape;50;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51" name="Google Shape;51;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a:t>
            </a:fld>
            <a:endParaRPr sz="1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7" name="Google Shape;67;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8" name="Google Shape;68;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2</a:t>
            </a:fld>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1" name="Google Shape;91;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92" name="Google Shape;92;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3</a:t>
            </a:fld>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7" name="Google Shape;127;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28" name="Google Shape;128;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4</a:t>
            </a:fld>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7" name="Google Shape;147;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48" name="Google Shape;148;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5</a:t>
            </a:fld>
            <a:endParaRPr sz="18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7" name="Google Shape;187;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88" name="Google Shape;188;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6</a:t>
            </a:fld>
            <a:endParaRPr sz="1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2" name="Google Shape;202;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03" name="Google Shape;203;p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7</a:t>
            </a:fld>
            <a:endParaRPr sz="18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9:notes"/>
          <p:cNvSpPr txBox="1">
            <a:spLocks noGrp="1"/>
          </p:cNvSpPr>
          <p:nvPr>
            <p:ph type="body" idx="1"/>
          </p:nvPr>
        </p:nvSpPr>
        <p:spPr>
          <a:xfrm>
            <a:off x="822950" y="6949425"/>
            <a:ext cx="6583675" cy="65836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9" name="Google Shape;219;p9:notes"/>
          <p:cNvSpPr>
            <a:spLocks noGrp="1" noRot="1" noChangeAspect="1"/>
          </p:cNvSpPr>
          <p:nvPr>
            <p:ph type="sldImg" idx="2"/>
          </p:nvPr>
        </p:nvSpPr>
        <p:spPr>
          <a:xfrm>
            <a:off x="-762000" y="1096963"/>
            <a:ext cx="9753600" cy="5486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5" name="Google Shape;225;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26" name="Google Shape;226;p1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9</a:t>
            </a:fld>
            <a:endParaRPr sz="18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11:notes"/>
          <p:cNvSpPr txBox="1">
            <a:spLocks noGrp="1"/>
          </p:cNvSpPr>
          <p:nvPr>
            <p:ph type="body" idx="1"/>
          </p:nvPr>
        </p:nvSpPr>
        <p:spPr>
          <a:xfrm>
            <a:off x="822950" y="6949425"/>
            <a:ext cx="6583675" cy="65836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3" name="Google Shape;253;p11:notes"/>
          <p:cNvSpPr>
            <a:spLocks noGrp="1" noRot="1" noChangeAspect="1"/>
          </p:cNvSpPr>
          <p:nvPr>
            <p:ph type="sldImg" idx="2"/>
          </p:nvPr>
        </p:nvSpPr>
        <p:spPr>
          <a:xfrm>
            <a:off x="1371850" y="1097275"/>
            <a:ext cx="5486650" cy="5486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1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9" name="Google Shape;259;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60" name="Google Shape;260;p1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11</a:t>
            </a:fld>
            <a:endParaRPr sz="18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1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6" name="Google Shape;276;p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77" name="Google Shape;277;p1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12</a:t>
            </a:fld>
            <a:endParaRPr sz="18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14:notes"/>
          <p:cNvSpPr txBox="1">
            <a:spLocks noGrp="1"/>
          </p:cNvSpPr>
          <p:nvPr>
            <p:ph type="body" idx="1"/>
          </p:nvPr>
        </p:nvSpPr>
        <p:spPr>
          <a:xfrm>
            <a:off x="822950" y="6949425"/>
            <a:ext cx="6583675" cy="65836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5" name="Google Shape;285;p14:notes"/>
          <p:cNvSpPr>
            <a:spLocks noGrp="1" noRot="1" noChangeAspect="1"/>
          </p:cNvSpPr>
          <p:nvPr>
            <p:ph type="sldImg" idx="2"/>
          </p:nvPr>
        </p:nvSpPr>
        <p:spPr>
          <a:xfrm>
            <a:off x="1371850" y="1097275"/>
            <a:ext cx="5486650" cy="5486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1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1" name="Google Shape;291;p1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92" name="Google Shape;292;p1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14</a:t>
            </a:fld>
            <a:endParaRPr sz="1800">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1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4" name="Google Shape;304;p1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05" name="Google Shape;305;p1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15</a:t>
            </a:fld>
            <a:endParaRPr sz="1800">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1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6" name="Google Shape;316;p1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17" name="Google Shape;317;p1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16</a:t>
            </a:fld>
            <a:endParaRPr sz="1800">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1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8" name="Google Shape;328;p1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29" name="Google Shape;329;p1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17</a:t>
            </a:fld>
            <a:endParaRPr sz="1800">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0" y="1096963"/>
            <a:ext cx="9753600" cy="54864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p2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33" name="Google Shape;433;p2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34" name="Google Shape;434;p2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19</a:t>
            </a:fld>
            <a:endParaRPr sz="1800">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p2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4" name="Google Shape;464;p2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65" name="Google Shape;465;p2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20</a:t>
            </a:fld>
            <a:endParaRPr sz="18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ide 1 master">
  <p:cSld name="Slide 1 master">
    <p:bg>
      <p:bgPr>
        <a:solidFill>
          <a:srgbClr val="000000"/>
        </a:solidFill>
        <a:effectLst/>
      </p:bgPr>
    </p:bg>
    <p:spTree>
      <p:nvGrpSpPr>
        <p:cNvPr id="1" name="Shape 6"/>
        <p:cNvGrpSpPr/>
        <p:nvPr/>
      </p:nvGrpSpPr>
      <p:grpSpPr>
        <a:xfrm>
          <a:off x="0" y="0"/>
          <a:ext cx="0" cy="0"/>
          <a:chOff x="0" y="0"/>
          <a:chExt cx="0" cy="0"/>
        </a:xfrm>
      </p:grpSpPr>
      <p:pic>
        <p:nvPicPr>
          <p:cNvPr id="7" name="Google Shape;7;p25"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8" name="Google Shape;8;p25"/>
          <p:cNvSpPr/>
          <p:nvPr/>
        </p:nvSpPr>
        <p:spPr>
          <a:xfrm>
            <a:off x="0" y="0"/>
            <a:ext cx="14630400" cy="8229600"/>
          </a:xfrm>
          <a:prstGeom prst="rect">
            <a:avLst/>
          </a:prstGeom>
          <a:solidFill>
            <a:srgbClr val="09151A">
              <a:alpha val="9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 name="Google Shape;9;p25" descr="preencoded.png">
            <a:hlinkClick r:id="rId3"/>
          </p:cNvPr>
          <p:cNvPicPr preferRelativeResize="0"/>
          <p:nvPr/>
        </p:nvPicPr>
        <p:blipFill rotWithShape="1">
          <a:blip r:embed="rId4">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lide 2 master">
  <p:cSld name="Slide 2 master">
    <p:bg>
      <p:bgPr>
        <a:solidFill>
          <a:srgbClr val="000000"/>
        </a:solidFill>
        <a:effectLst/>
      </p:bgPr>
    </p:bg>
    <p:spTree>
      <p:nvGrpSpPr>
        <p:cNvPr id="1" name="Shape 10"/>
        <p:cNvGrpSpPr/>
        <p:nvPr/>
      </p:nvGrpSpPr>
      <p:grpSpPr>
        <a:xfrm>
          <a:off x="0" y="0"/>
          <a:ext cx="0" cy="0"/>
          <a:chOff x="0" y="0"/>
          <a:chExt cx="0" cy="0"/>
        </a:xfrm>
      </p:grpSpPr>
      <p:pic>
        <p:nvPicPr>
          <p:cNvPr id="11" name="Google Shape;11;p26"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12" name="Google Shape;12;p26"/>
          <p:cNvSpPr/>
          <p:nvPr/>
        </p:nvSpPr>
        <p:spPr>
          <a:xfrm>
            <a:off x="0" y="0"/>
            <a:ext cx="14630400" cy="8229600"/>
          </a:xfrm>
          <a:prstGeom prst="rect">
            <a:avLst/>
          </a:prstGeom>
          <a:solidFill>
            <a:srgbClr val="09151A">
              <a:alpha val="9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 name="Google Shape;13;p26" descr="preencoded.png">
            <a:hlinkClick r:id="rId3"/>
          </p:cNvPr>
          <p:cNvPicPr preferRelativeResize="0"/>
          <p:nvPr/>
        </p:nvPicPr>
        <p:blipFill rotWithShape="1">
          <a:blip r:embed="rId4">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lide 3 master">
  <p:cSld name="Slide 3 master">
    <p:bg>
      <p:bgPr>
        <a:solidFill>
          <a:srgbClr val="000000"/>
        </a:solidFill>
        <a:effectLst/>
      </p:bgPr>
    </p:bg>
    <p:spTree>
      <p:nvGrpSpPr>
        <p:cNvPr id="1" name="Shape 14"/>
        <p:cNvGrpSpPr/>
        <p:nvPr/>
      </p:nvGrpSpPr>
      <p:grpSpPr>
        <a:xfrm>
          <a:off x="0" y="0"/>
          <a:ext cx="0" cy="0"/>
          <a:chOff x="0" y="0"/>
          <a:chExt cx="0" cy="0"/>
        </a:xfrm>
      </p:grpSpPr>
      <p:pic>
        <p:nvPicPr>
          <p:cNvPr id="15" name="Google Shape;15;p27"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16" name="Google Shape;16;p27"/>
          <p:cNvSpPr/>
          <p:nvPr/>
        </p:nvSpPr>
        <p:spPr>
          <a:xfrm>
            <a:off x="0" y="0"/>
            <a:ext cx="14630400" cy="8229600"/>
          </a:xfrm>
          <a:prstGeom prst="rect">
            <a:avLst/>
          </a:prstGeom>
          <a:solidFill>
            <a:srgbClr val="09151A">
              <a:alpha val="9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 name="Google Shape;17;p27" descr="preencoded.png">
            <a:hlinkClick r:id="rId3"/>
          </p:cNvPr>
          <p:cNvPicPr preferRelativeResize="0"/>
          <p:nvPr/>
        </p:nvPicPr>
        <p:blipFill rotWithShape="1">
          <a:blip r:embed="rId4">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lide 4 master">
  <p:cSld name="Slide 4 master">
    <p:bg>
      <p:bgPr>
        <a:solidFill>
          <a:srgbClr val="000000"/>
        </a:solidFill>
        <a:effectLst/>
      </p:bgPr>
    </p:bg>
    <p:spTree>
      <p:nvGrpSpPr>
        <p:cNvPr id="1" name="Shape 18"/>
        <p:cNvGrpSpPr/>
        <p:nvPr/>
      </p:nvGrpSpPr>
      <p:grpSpPr>
        <a:xfrm>
          <a:off x="0" y="0"/>
          <a:ext cx="0" cy="0"/>
          <a:chOff x="0" y="0"/>
          <a:chExt cx="0" cy="0"/>
        </a:xfrm>
      </p:grpSpPr>
      <p:pic>
        <p:nvPicPr>
          <p:cNvPr id="19" name="Google Shape;19;p28"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20" name="Google Shape;20;p28"/>
          <p:cNvSpPr/>
          <p:nvPr/>
        </p:nvSpPr>
        <p:spPr>
          <a:xfrm>
            <a:off x="0" y="0"/>
            <a:ext cx="14630400" cy="8229600"/>
          </a:xfrm>
          <a:prstGeom prst="rect">
            <a:avLst/>
          </a:prstGeom>
          <a:solidFill>
            <a:srgbClr val="09151A">
              <a:alpha val="9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1" name="Google Shape;21;p28" descr="preencoded.png">
            <a:hlinkClick r:id="rId3"/>
          </p:cNvPr>
          <p:cNvPicPr preferRelativeResize="0"/>
          <p:nvPr/>
        </p:nvPicPr>
        <p:blipFill rotWithShape="1">
          <a:blip r:embed="rId4">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lide 5 master">
  <p:cSld name="Slide 5 master">
    <p:bg>
      <p:bgPr>
        <a:solidFill>
          <a:srgbClr val="000000"/>
        </a:solidFill>
        <a:effectLst/>
      </p:bgPr>
    </p:bg>
    <p:spTree>
      <p:nvGrpSpPr>
        <p:cNvPr id="1" name="Shape 22"/>
        <p:cNvGrpSpPr/>
        <p:nvPr/>
      </p:nvGrpSpPr>
      <p:grpSpPr>
        <a:xfrm>
          <a:off x="0" y="0"/>
          <a:ext cx="0" cy="0"/>
          <a:chOff x="0" y="0"/>
          <a:chExt cx="0" cy="0"/>
        </a:xfrm>
      </p:grpSpPr>
      <p:pic>
        <p:nvPicPr>
          <p:cNvPr id="23" name="Google Shape;23;p29"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24" name="Google Shape;24;p29"/>
          <p:cNvSpPr/>
          <p:nvPr/>
        </p:nvSpPr>
        <p:spPr>
          <a:xfrm>
            <a:off x="0" y="0"/>
            <a:ext cx="14630400" cy="8229600"/>
          </a:xfrm>
          <a:prstGeom prst="rect">
            <a:avLst/>
          </a:prstGeom>
          <a:solidFill>
            <a:srgbClr val="09151A">
              <a:alpha val="9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5" name="Google Shape;25;p29" descr="preencoded.png">
            <a:hlinkClick r:id="rId3"/>
          </p:cNvPr>
          <p:cNvPicPr preferRelativeResize="0"/>
          <p:nvPr/>
        </p:nvPicPr>
        <p:blipFill rotWithShape="1">
          <a:blip r:embed="rId4">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lide 6 master">
  <p:cSld name="Slide 6 master">
    <p:bg>
      <p:bgPr>
        <a:solidFill>
          <a:srgbClr val="000000"/>
        </a:solidFill>
        <a:effectLst/>
      </p:bgPr>
    </p:bg>
    <p:spTree>
      <p:nvGrpSpPr>
        <p:cNvPr id="1" name="Shape 26"/>
        <p:cNvGrpSpPr/>
        <p:nvPr/>
      </p:nvGrpSpPr>
      <p:grpSpPr>
        <a:xfrm>
          <a:off x="0" y="0"/>
          <a:ext cx="0" cy="0"/>
          <a:chOff x="0" y="0"/>
          <a:chExt cx="0" cy="0"/>
        </a:xfrm>
      </p:grpSpPr>
      <p:pic>
        <p:nvPicPr>
          <p:cNvPr id="27" name="Google Shape;27;p30"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28" name="Google Shape;28;p30"/>
          <p:cNvSpPr/>
          <p:nvPr/>
        </p:nvSpPr>
        <p:spPr>
          <a:xfrm>
            <a:off x="0" y="0"/>
            <a:ext cx="14630400" cy="8229600"/>
          </a:xfrm>
          <a:prstGeom prst="rect">
            <a:avLst/>
          </a:prstGeom>
          <a:solidFill>
            <a:srgbClr val="09151A">
              <a:alpha val="9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 name="Google Shape;29;p30" descr="preencoded.png">
            <a:hlinkClick r:id="rId3"/>
          </p:cNvPr>
          <p:cNvPicPr preferRelativeResize="0"/>
          <p:nvPr/>
        </p:nvPicPr>
        <p:blipFill rotWithShape="1">
          <a:blip r:embed="rId4">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3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4.png"/><Relationship Id="rId9"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4.png"/><Relationship Id="rId5" Type="http://schemas.openxmlformats.org/officeDocument/2006/relationships/image" Target="../media/image20.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hyperlink" Target="https://data.mendeley.com/datasets/4mn2g8cnsf/1"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hyperlink" Target="https://www.kaggle.com/datasets/javaidahmadwani/lc25000/data"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28.png"/><Relationship Id="rId4" Type="http://schemas.openxmlformats.org/officeDocument/2006/relationships/hyperlink" Target="https://www.kaggle.com/datasets/yudhaislamisulistya/plants-type-datasets"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5.png"/><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p2"/>
          <p:cNvSpPr/>
          <p:nvPr/>
        </p:nvSpPr>
        <p:spPr>
          <a:xfrm>
            <a:off x="863798" y="334851"/>
            <a:ext cx="7416403" cy="1845779"/>
          </a:xfrm>
          <a:prstGeom prst="rect">
            <a:avLst/>
          </a:prstGeom>
          <a:noFill/>
          <a:ln>
            <a:noFill/>
          </a:ln>
        </p:spPr>
        <p:txBody>
          <a:bodyPr spcFirstLastPara="1" wrap="square" lIns="0" tIns="0" rIns="0" bIns="0" anchor="t" anchorCtr="0">
            <a:noAutofit/>
          </a:bodyPr>
          <a:lstStyle/>
          <a:p>
            <a:pPr marL="0" marR="0" lvl="0" indent="0" algn="ctr" rtl="0">
              <a:lnSpc>
                <a:spcPct val="202083"/>
              </a:lnSpc>
              <a:spcBef>
                <a:spcPts val="0"/>
              </a:spcBef>
              <a:spcAft>
                <a:spcPts val="0"/>
              </a:spcAft>
              <a:buNone/>
            </a:pPr>
            <a:r>
              <a:rPr lang="en-US" sz="2400">
                <a:solidFill>
                  <a:srgbClr val="F5F0F0"/>
                </a:solidFill>
                <a:latin typeface="Merriweather"/>
                <a:ea typeface="Merriweather"/>
                <a:cs typeface="Merriweather"/>
                <a:sym typeface="Merriweather"/>
              </a:rPr>
              <a:t>— Research Paper — </a:t>
            </a:r>
            <a:endParaRPr/>
          </a:p>
          <a:p>
            <a:pPr marL="0" marR="0" lvl="0" indent="0" algn="ctr" rtl="0">
              <a:lnSpc>
                <a:spcPct val="202083"/>
              </a:lnSpc>
              <a:spcBef>
                <a:spcPts val="0"/>
              </a:spcBef>
              <a:spcAft>
                <a:spcPts val="0"/>
              </a:spcAft>
              <a:buNone/>
            </a:pPr>
            <a:r>
              <a:rPr lang="en-US" sz="2400">
                <a:solidFill>
                  <a:srgbClr val="F5F0F0"/>
                </a:solidFill>
                <a:latin typeface="Merriweather"/>
                <a:ea typeface="Merriweather"/>
                <a:cs typeface="Merriweather"/>
                <a:sym typeface="Merriweather"/>
              </a:rPr>
              <a:t>Breast Cancer Diagnosis Using SVM Optimized by </a:t>
            </a:r>
            <a:r>
              <a:rPr lang="en-US" sz="2400">
                <a:solidFill>
                  <a:schemeClr val="lt1"/>
                </a:solidFill>
                <a:latin typeface="Merriweather"/>
                <a:ea typeface="Merriweather"/>
                <a:cs typeface="Merriweather"/>
                <a:sym typeface="Merriweather"/>
              </a:rPr>
              <a:t>I</a:t>
            </a:r>
            <a:r>
              <a:rPr lang="en-US" sz="2400">
                <a:solidFill>
                  <a:schemeClr val="lt1"/>
                </a:solidFill>
                <a:latin typeface="Calibri"/>
                <a:ea typeface="Calibri"/>
                <a:cs typeface="Calibri"/>
                <a:sym typeface="Calibri"/>
              </a:rPr>
              <a:t>mproved Quantum Inspired Grey Wolf Optimization</a:t>
            </a:r>
            <a:endParaRPr/>
          </a:p>
        </p:txBody>
      </p:sp>
      <p:sp>
        <p:nvSpPr>
          <p:cNvPr id="54" name="Google Shape;54;p2"/>
          <p:cNvSpPr/>
          <p:nvPr/>
        </p:nvSpPr>
        <p:spPr>
          <a:xfrm>
            <a:off x="1116508" y="2674144"/>
            <a:ext cx="2961918" cy="370284"/>
          </a:xfrm>
          <a:prstGeom prst="rect">
            <a:avLst/>
          </a:prstGeom>
          <a:noFill/>
          <a:ln>
            <a:noFill/>
          </a:ln>
        </p:spPr>
        <p:txBody>
          <a:bodyPr spcFirstLastPara="1" wrap="square" lIns="0" tIns="0" rIns="0" bIns="0" anchor="t" anchorCtr="0">
            <a:noAutofit/>
          </a:bodyPr>
          <a:lstStyle/>
          <a:p>
            <a:pPr marL="0" marR="0" lvl="0" indent="0" algn="ctr" rtl="0">
              <a:lnSpc>
                <a:spcPct val="126086"/>
              </a:lnSpc>
              <a:spcBef>
                <a:spcPts val="0"/>
              </a:spcBef>
              <a:spcAft>
                <a:spcPts val="0"/>
              </a:spcAft>
              <a:buClr>
                <a:srgbClr val="F5F0F0"/>
              </a:buClr>
              <a:buSzPts val="2300"/>
              <a:buFont typeface="Merriweather"/>
              <a:buNone/>
            </a:pPr>
            <a:r>
              <a:rPr lang="en-US" sz="2300">
                <a:solidFill>
                  <a:srgbClr val="F5F0F0"/>
                </a:solidFill>
                <a:latin typeface="Merriweather"/>
                <a:ea typeface="Merriweather"/>
                <a:cs typeface="Merriweather"/>
                <a:sym typeface="Merriweather"/>
              </a:rPr>
              <a:t>Research Paper  :</a:t>
            </a:r>
            <a:endParaRPr sz="2300">
              <a:solidFill>
                <a:schemeClr val="dk1"/>
              </a:solidFill>
              <a:latin typeface="Calibri"/>
              <a:ea typeface="Calibri"/>
              <a:cs typeface="Calibri"/>
              <a:sym typeface="Calibri"/>
            </a:endParaRPr>
          </a:p>
        </p:txBody>
      </p:sp>
      <p:sp>
        <p:nvSpPr>
          <p:cNvPr id="55" name="Google Shape;55;p2"/>
          <p:cNvSpPr/>
          <p:nvPr/>
        </p:nvSpPr>
        <p:spPr>
          <a:xfrm>
            <a:off x="863798" y="3133651"/>
            <a:ext cx="3467338" cy="947976"/>
          </a:xfrm>
          <a:prstGeom prst="rect">
            <a:avLst/>
          </a:prstGeom>
          <a:noFill/>
          <a:ln>
            <a:noFill/>
          </a:ln>
        </p:spPr>
        <p:txBody>
          <a:bodyPr spcFirstLastPara="1" wrap="square" lIns="0" tIns="0" rIns="0" bIns="0" anchor="t" anchorCtr="0">
            <a:noAutofit/>
          </a:bodyPr>
          <a:lstStyle/>
          <a:p>
            <a:pPr marL="342900" marR="0" lvl="0" indent="-342900" algn="l" rtl="0">
              <a:lnSpc>
                <a:spcPct val="158064"/>
              </a:lnSpc>
              <a:spcBef>
                <a:spcPts val="0"/>
              </a:spcBef>
              <a:spcAft>
                <a:spcPts val="0"/>
              </a:spcAft>
              <a:buClr>
                <a:srgbClr val="E2E6E9"/>
              </a:buClr>
              <a:buSzPts val="1550"/>
              <a:buFont typeface="Merriweather"/>
              <a:buChar char="•"/>
            </a:pPr>
            <a:r>
              <a:rPr lang="en-US" sz="1550" dirty="0">
                <a:solidFill>
                  <a:srgbClr val="E2E6E9"/>
                </a:solidFill>
                <a:latin typeface="Merriweather"/>
                <a:ea typeface="Merriweather"/>
                <a:cs typeface="Merriweather"/>
                <a:sym typeface="Merriweather"/>
              </a:rPr>
              <a:t>Breast cancer detection from medical data is a challenging classification problem</a:t>
            </a:r>
            <a:endParaRPr sz="1550" dirty="0">
              <a:solidFill>
                <a:schemeClr val="dk1"/>
              </a:solidFill>
              <a:latin typeface="Calibri"/>
              <a:ea typeface="Calibri"/>
              <a:cs typeface="Calibri"/>
              <a:sym typeface="Calibri"/>
            </a:endParaRPr>
          </a:p>
        </p:txBody>
      </p:sp>
      <p:sp>
        <p:nvSpPr>
          <p:cNvPr id="56" name="Google Shape;56;p2"/>
          <p:cNvSpPr/>
          <p:nvPr/>
        </p:nvSpPr>
        <p:spPr>
          <a:xfrm>
            <a:off x="863798" y="4258866"/>
            <a:ext cx="3467338" cy="1263968"/>
          </a:xfrm>
          <a:prstGeom prst="rect">
            <a:avLst/>
          </a:prstGeom>
          <a:noFill/>
          <a:ln>
            <a:noFill/>
          </a:ln>
        </p:spPr>
        <p:txBody>
          <a:bodyPr spcFirstLastPara="1" wrap="square" lIns="0" tIns="0" rIns="0" bIns="0" anchor="t" anchorCtr="0">
            <a:noAutofit/>
          </a:bodyPr>
          <a:lstStyle/>
          <a:p>
            <a:pPr marL="342900" marR="0" lvl="0" indent="-342900" algn="l" rtl="0">
              <a:lnSpc>
                <a:spcPct val="158064"/>
              </a:lnSpc>
              <a:spcBef>
                <a:spcPts val="0"/>
              </a:spcBef>
              <a:spcAft>
                <a:spcPts val="0"/>
              </a:spcAft>
              <a:buClr>
                <a:srgbClr val="E2E6E9"/>
              </a:buClr>
              <a:buSzPts val="1550"/>
              <a:buFont typeface="Merriweather"/>
              <a:buChar char="•"/>
            </a:pPr>
            <a:r>
              <a:rPr lang="en-US" sz="1550">
                <a:solidFill>
                  <a:srgbClr val="E2E6E9"/>
                </a:solidFill>
                <a:latin typeface="Merriweather"/>
                <a:ea typeface="Merriweather"/>
                <a:cs typeface="Merriweather"/>
                <a:sym typeface="Merriweather"/>
              </a:rPr>
              <a:t>Traditional SVM classifiers depend heavily on hyperparameters (C, γ) that must be optimized for accuracy</a:t>
            </a:r>
            <a:endParaRPr sz="1550">
              <a:solidFill>
                <a:schemeClr val="dk1"/>
              </a:solidFill>
              <a:latin typeface="Calibri"/>
              <a:ea typeface="Calibri"/>
              <a:cs typeface="Calibri"/>
              <a:sym typeface="Calibri"/>
            </a:endParaRPr>
          </a:p>
        </p:txBody>
      </p:sp>
      <p:sp>
        <p:nvSpPr>
          <p:cNvPr id="57" name="Google Shape;57;p2"/>
          <p:cNvSpPr/>
          <p:nvPr/>
        </p:nvSpPr>
        <p:spPr>
          <a:xfrm>
            <a:off x="4820483" y="2674144"/>
            <a:ext cx="2961918" cy="370284"/>
          </a:xfrm>
          <a:prstGeom prst="rect">
            <a:avLst/>
          </a:prstGeom>
          <a:noFill/>
          <a:ln>
            <a:noFill/>
          </a:ln>
        </p:spPr>
        <p:txBody>
          <a:bodyPr spcFirstLastPara="1" wrap="square" lIns="0" tIns="0" rIns="0" bIns="0" anchor="t" anchorCtr="0">
            <a:noAutofit/>
          </a:bodyPr>
          <a:lstStyle/>
          <a:p>
            <a:pPr marL="0" marR="0" lvl="0" indent="0" algn="ctr" rtl="0">
              <a:lnSpc>
                <a:spcPct val="126086"/>
              </a:lnSpc>
              <a:spcBef>
                <a:spcPts val="0"/>
              </a:spcBef>
              <a:spcAft>
                <a:spcPts val="0"/>
              </a:spcAft>
              <a:buClr>
                <a:srgbClr val="F5F0F0"/>
              </a:buClr>
              <a:buSzPts val="2300"/>
              <a:buFont typeface="Merriweather"/>
              <a:buNone/>
            </a:pPr>
            <a:r>
              <a:rPr lang="en-US" sz="2300">
                <a:solidFill>
                  <a:srgbClr val="F5F0F0"/>
                </a:solidFill>
                <a:latin typeface="Merriweather"/>
                <a:ea typeface="Merriweather"/>
                <a:cs typeface="Merriweather"/>
                <a:sym typeface="Merriweather"/>
              </a:rPr>
              <a:t> Approach</a:t>
            </a:r>
            <a:endParaRPr sz="2300">
              <a:solidFill>
                <a:schemeClr val="dk1"/>
              </a:solidFill>
              <a:latin typeface="Calibri"/>
              <a:ea typeface="Calibri"/>
              <a:cs typeface="Calibri"/>
              <a:sym typeface="Calibri"/>
            </a:endParaRPr>
          </a:p>
        </p:txBody>
      </p:sp>
      <p:sp>
        <p:nvSpPr>
          <p:cNvPr id="58" name="Google Shape;58;p2"/>
          <p:cNvSpPr/>
          <p:nvPr/>
        </p:nvSpPr>
        <p:spPr>
          <a:xfrm>
            <a:off x="4820483" y="3241834"/>
            <a:ext cx="3467338" cy="947976"/>
          </a:xfrm>
          <a:prstGeom prst="rect">
            <a:avLst/>
          </a:prstGeom>
          <a:noFill/>
          <a:ln>
            <a:noFill/>
          </a:ln>
        </p:spPr>
        <p:txBody>
          <a:bodyPr spcFirstLastPara="1" wrap="square" lIns="0" tIns="0" rIns="0" bIns="0" anchor="t" anchorCtr="0">
            <a:noAutofit/>
          </a:bodyPr>
          <a:lstStyle/>
          <a:p>
            <a:pPr marL="342900" marR="0" lvl="0" indent="-342900" algn="l" rtl="0">
              <a:lnSpc>
                <a:spcPct val="158064"/>
              </a:lnSpc>
              <a:spcBef>
                <a:spcPts val="0"/>
              </a:spcBef>
              <a:spcAft>
                <a:spcPts val="0"/>
              </a:spcAft>
              <a:buClr>
                <a:srgbClr val="E2E6E9"/>
              </a:buClr>
              <a:buSzPts val="1550"/>
              <a:buFont typeface="Merriweather"/>
              <a:buChar char="•"/>
            </a:pPr>
            <a:r>
              <a:rPr lang="en-US" sz="1550">
                <a:solidFill>
                  <a:srgbClr val="E2E6E9"/>
                </a:solidFill>
                <a:latin typeface="Merriweather"/>
                <a:ea typeface="Merriweather"/>
                <a:cs typeface="Merriweather"/>
                <a:sym typeface="Merriweather"/>
              </a:rPr>
              <a:t>Research focuses on using hybrid metaheuristic optimization</a:t>
            </a:r>
            <a:endParaRPr sz="1550">
              <a:solidFill>
                <a:schemeClr val="dk1"/>
              </a:solidFill>
              <a:latin typeface="Calibri"/>
              <a:ea typeface="Calibri"/>
              <a:cs typeface="Calibri"/>
              <a:sym typeface="Calibri"/>
            </a:endParaRPr>
          </a:p>
        </p:txBody>
      </p:sp>
      <p:sp>
        <p:nvSpPr>
          <p:cNvPr id="59" name="Google Shape;59;p2"/>
          <p:cNvSpPr/>
          <p:nvPr/>
        </p:nvSpPr>
        <p:spPr>
          <a:xfrm>
            <a:off x="4820483" y="4258866"/>
            <a:ext cx="3467338" cy="947976"/>
          </a:xfrm>
          <a:prstGeom prst="rect">
            <a:avLst/>
          </a:prstGeom>
          <a:noFill/>
          <a:ln>
            <a:noFill/>
          </a:ln>
        </p:spPr>
        <p:txBody>
          <a:bodyPr spcFirstLastPara="1" wrap="square" lIns="0" tIns="0" rIns="0" bIns="0" anchor="t" anchorCtr="0">
            <a:noAutofit/>
          </a:bodyPr>
          <a:lstStyle/>
          <a:p>
            <a:pPr marL="342900" marR="0" lvl="0" indent="-342900" algn="l" rtl="0">
              <a:lnSpc>
                <a:spcPct val="158064"/>
              </a:lnSpc>
              <a:spcBef>
                <a:spcPts val="0"/>
              </a:spcBef>
              <a:spcAft>
                <a:spcPts val="0"/>
              </a:spcAft>
              <a:buClr>
                <a:srgbClr val="E2E6E9"/>
              </a:buClr>
              <a:buSzPts val="1550"/>
              <a:buFont typeface="Merriweather"/>
              <a:buChar char="•"/>
            </a:pPr>
            <a:r>
              <a:rPr lang="en-US" sz="1550" i="1">
                <a:solidFill>
                  <a:srgbClr val="E2E6E9"/>
                </a:solidFill>
                <a:latin typeface="Merriweather"/>
                <a:ea typeface="Merriweather"/>
                <a:cs typeface="Merriweather"/>
                <a:sym typeface="Merriweather"/>
              </a:rPr>
              <a:t>Improved Quantum-Inspired Grey Wolf Optimization (IQI-GWO)</a:t>
            </a:r>
            <a:r>
              <a:rPr lang="en-US" sz="1550">
                <a:solidFill>
                  <a:srgbClr val="E2E6E9"/>
                </a:solidFill>
                <a:latin typeface="Merriweather"/>
                <a:ea typeface="Merriweather"/>
                <a:cs typeface="Merriweather"/>
                <a:sym typeface="Merriweather"/>
              </a:rPr>
              <a:t> for feature selection</a:t>
            </a:r>
            <a:endParaRPr sz="1550">
              <a:solidFill>
                <a:schemeClr val="dk1"/>
              </a:solidFill>
              <a:latin typeface="Calibri"/>
              <a:ea typeface="Calibri"/>
              <a:cs typeface="Calibri"/>
              <a:sym typeface="Calibri"/>
            </a:endParaRPr>
          </a:p>
        </p:txBody>
      </p:sp>
      <p:sp>
        <p:nvSpPr>
          <p:cNvPr id="60" name="Google Shape;60;p2"/>
          <p:cNvSpPr/>
          <p:nvPr/>
        </p:nvSpPr>
        <p:spPr>
          <a:xfrm>
            <a:off x="863798" y="5813941"/>
            <a:ext cx="7416403" cy="1468993"/>
          </a:xfrm>
          <a:prstGeom prst="roundRect">
            <a:avLst>
              <a:gd name="adj" fmla="val 5646"/>
            </a:avLst>
          </a:prstGeom>
          <a:solidFill>
            <a:srgbClr val="003180"/>
          </a:solidFill>
          <a:ln w="9525" cap="flat" cmpd="sng">
            <a:solidFill>
              <a:srgbClr val="194A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1068824" y="6018967"/>
            <a:ext cx="2468285" cy="308491"/>
          </a:xfrm>
          <a:prstGeom prst="rect">
            <a:avLst/>
          </a:prstGeom>
          <a:noFill/>
          <a:ln>
            <a:noFill/>
          </a:ln>
        </p:spPr>
        <p:txBody>
          <a:bodyPr spcFirstLastPara="1" wrap="square" lIns="0" tIns="0" rIns="0" bIns="0" anchor="t" anchorCtr="0">
            <a:noAutofit/>
          </a:bodyPr>
          <a:lstStyle/>
          <a:p>
            <a:pPr marL="0" marR="0" lvl="0" indent="0" algn="l" rtl="0">
              <a:lnSpc>
                <a:spcPct val="126315"/>
              </a:lnSpc>
              <a:spcBef>
                <a:spcPts val="0"/>
              </a:spcBef>
              <a:spcAft>
                <a:spcPts val="0"/>
              </a:spcAft>
              <a:buClr>
                <a:srgbClr val="E2E6E9"/>
              </a:buClr>
              <a:buSzPts val="1900"/>
              <a:buFont typeface="Merriweather"/>
              <a:buNone/>
            </a:pPr>
            <a:r>
              <a:rPr lang="en-US" sz="1900">
                <a:solidFill>
                  <a:srgbClr val="E2E6E9"/>
                </a:solidFill>
                <a:latin typeface="Merriweather"/>
                <a:ea typeface="Merriweather"/>
                <a:cs typeface="Merriweather"/>
                <a:sym typeface="Merriweather"/>
              </a:rPr>
              <a:t>Goal</a:t>
            </a:r>
            <a:endParaRPr sz="1900">
              <a:solidFill>
                <a:schemeClr val="dk1"/>
              </a:solidFill>
              <a:latin typeface="Calibri"/>
              <a:ea typeface="Calibri"/>
              <a:cs typeface="Calibri"/>
              <a:sym typeface="Calibri"/>
            </a:endParaRPr>
          </a:p>
        </p:txBody>
      </p:sp>
      <p:sp>
        <p:nvSpPr>
          <p:cNvPr id="62" name="Google Shape;62;p2"/>
          <p:cNvSpPr/>
          <p:nvPr/>
        </p:nvSpPr>
        <p:spPr>
          <a:xfrm>
            <a:off x="1068824" y="6445925"/>
            <a:ext cx="7006352" cy="631984"/>
          </a:xfrm>
          <a:prstGeom prst="rect">
            <a:avLst/>
          </a:prstGeom>
          <a:noFill/>
          <a:ln>
            <a:noFill/>
          </a:ln>
        </p:spPr>
        <p:txBody>
          <a:bodyPr spcFirstLastPara="1" wrap="square" lIns="0" tIns="0" rIns="0" bIns="0" anchor="t" anchorCtr="0">
            <a:noAutofit/>
          </a:bodyPr>
          <a:lstStyle/>
          <a:p>
            <a:pPr marL="0" marR="0" lvl="0" indent="0" algn="l" rtl="0">
              <a:lnSpc>
                <a:spcPct val="158064"/>
              </a:lnSpc>
              <a:spcBef>
                <a:spcPts val="0"/>
              </a:spcBef>
              <a:spcAft>
                <a:spcPts val="0"/>
              </a:spcAft>
              <a:buClr>
                <a:srgbClr val="E2E6E9"/>
              </a:buClr>
              <a:buSzPts val="1550"/>
              <a:buFont typeface="Merriweather"/>
              <a:buNone/>
            </a:pPr>
            <a:r>
              <a:rPr lang="en-US" sz="1550">
                <a:solidFill>
                  <a:srgbClr val="E2E6E9"/>
                </a:solidFill>
                <a:latin typeface="Merriweather"/>
                <a:ea typeface="Merriweather"/>
                <a:cs typeface="Merriweather"/>
                <a:sym typeface="Merriweather"/>
              </a:rPr>
              <a:t>Achieve higher diagnostic accuracy with fewer features and faster convergence</a:t>
            </a:r>
            <a:endParaRPr sz="1550">
              <a:solidFill>
                <a:schemeClr val="dk1"/>
              </a:solidFill>
              <a:latin typeface="Calibri"/>
              <a:ea typeface="Calibri"/>
              <a:cs typeface="Calibri"/>
              <a:sym typeface="Calibri"/>
            </a:endParaRPr>
          </a:p>
        </p:txBody>
      </p:sp>
      <p:pic>
        <p:nvPicPr>
          <p:cNvPr id="63" name="Google Shape;63;p2"/>
          <p:cNvPicPr preferRelativeResize="0"/>
          <p:nvPr/>
        </p:nvPicPr>
        <p:blipFill rotWithShape="1">
          <a:blip r:embed="rId3">
            <a:alphaModFix/>
          </a:blip>
          <a:srcRect l="8555" t="6826" r="4370"/>
          <a:stretch/>
        </p:blipFill>
        <p:spPr>
          <a:xfrm>
            <a:off x="9296399" y="2286000"/>
            <a:ext cx="4876801" cy="4159925"/>
          </a:xfrm>
          <a:prstGeom prst="rect">
            <a:avLst/>
          </a:prstGeom>
          <a:noFill/>
          <a:ln>
            <a:noFill/>
          </a:ln>
          <a:effectLst>
            <a:outerShdw blurRad="190500" algn="tl" rotWithShape="0">
              <a:srgbClr val="000000">
                <a:alpha val="69803"/>
              </a:srgbClr>
            </a:outerShdw>
          </a:effectLst>
        </p:spPr>
      </p:pic>
      <p:pic>
        <p:nvPicPr>
          <p:cNvPr id="64" name="Google Shape;64;p2"/>
          <p:cNvPicPr preferRelativeResize="0"/>
          <p:nvPr/>
        </p:nvPicPr>
        <p:blipFill rotWithShape="1">
          <a:blip r:embed="rId4">
            <a:alphaModFix/>
          </a:blip>
          <a:srcRect/>
          <a:stretch/>
        </p:blipFill>
        <p:spPr>
          <a:xfrm>
            <a:off x="12818350" y="7749691"/>
            <a:ext cx="1812050" cy="43483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3"/>
          <p:cNvSpPr/>
          <p:nvPr/>
        </p:nvSpPr>
        <p:spPr>
          <a:xfrm>
            <a:off x="863798" y="706874"/>
            <a:ext cx="8519038" cy="539948"/>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F5F0F0"/>
              </a:buClr>
              <a:buSzPts val="3400"/>
              <a:buFont typeface="Merriweather"/>
              <a:buNone/>
            </a:pPr>
            <a:r>
              <a:rPr lang="en-US" sz="3400" dirty="0">
                <a:solidFill>
                  <a:srgbClr val="F5F0F0"/>
                </a:solidFill>
                <a:latin typeface="Merriweather"/>
                <a:ea typeface="Merriweather"/>
                <a:cs typeface="Merriweather"/>
                <a:sym typeface="Merriweather"/>
              </a:rPr>
              <a:t>Overview of the Research Approach</a:t>
            </a:r>
            <a:endParaRPr sz="3400" dirty="0">
              <a:solidFill>
                <a:schemeClr val="dk1"/>
              </a:solidFill>
              <a:latin typeface="Calibri"/>
              <a:ea typeface="Calibri"/>
              <a:cs typeface="Calibri"/>
              <a:sym typeface="Calibri"/>
            </a:endParaRPr>
          </a:p>
        </p:txBody>
      </p:sp>
      <p:pic>
        <p:nvPicPr>
          <p:cNvPr id="71" name="Google Shape;71;p3" descr="preencoded.png"/>
          <p:cNvPicPr preferRelativeResize="0"/>
          <p:nvPr/>
        </p:nvPicPr>
        <p:blipFill rotWithShape="1">
          <a:blip r:embed="rId3">
            <a:alphaModFix/>
          </a:blip>
          <a:srcRect/>
          <a:stretch/>
        </p:blipFill>
        <p:spPr>
          <a:xfrm>
            <a:off x="863798" y="1592342"/>
            <a:ext cx="863798" cy="1036677"/>
          </a:xfrm>
          <a:prstGeom prst="rect">
            <a:avLst/>
          </a:prstGeom>
          <a:noFill/>
          <a:ln>
            <a:noFill/>
          </a:ln>
        </p:spPr>
      </p:pic>
      <p:sp>
        <p:nvSpPr>
          <p:cNvPr id="72" name="Google Shape;72;p3"/>
          <p:cNvSpPr/>
          <p:nvPr/>
        </p:nvSpPr>
        <p:spPr>
          <a:xfrm>
            <a:off x="1900357" y="1765102"/>
            <a:ext cx="2159675" cy="269915"/>
          </a:xfrm>
          <a:prstGeom prst="rect">
            <a:avLst/>
          </a:prstGeom>
          <a:noFill/>
          <a:ln>
            <a:noFill/>
          </a:ln>
        </p:spPr>
        <p:txBody>
          <a:bodyPr spcFirstLastPara="1" wrap="square" lIns="0" tIns="0" rIns="0" bIns="0" anchor="t" anchorCtr="0">
            <a:noAutofit/>
          </a:bodyPr>
          <a:lstStyle/>
          <a:p>
            <a:pPr marL="0" marR="0" lvl="0" indent="0" algn="l" rtl="0">
              <a:lnSpc>
                <a:spcPct val="123529"/>
              </a:lnSpc>
              <a:spcBef>
                <a:spcPts val="0"/>
              </a:spcBef>
              <a:spcAft>
                <a:spcPts val="0"/>
              </a:spcAft>
              <a:buClr>
                <a:srgbClr val="E2E6E9"/>
              </a:buClr>
              <a:buSzPts val="1700"/>
              <a:buFont typeface="Merriweather"/>
              <a:buNone/>
            </a:pPr>
            <a:r>
              <a:rPr lang="en-US" sz="1700">
                <a:solidFill>
                  <a:srgbClr val="E2E6E9"/>
                </a:solidFill>
                <a:latin typeface="Merriweather"/>
                <a:ea typeface="Merriweather"/>
                <a:cs typeface="Merriweather"/>
                <a:sym typeface="Merriweather"/>
              </a:rPr>
              <a:t>Dataset</a:t>
            </a:r>
            <a:endParaRPr sz="1700">
              <a:solidFill>
                <a:schemeClr val="dk1"/>
              </a:solidFill>
              <a:latin typeface="Calibri"/>
              <a:ea typeface="Calibri"/>
              <a:cs typeface="Calibri"/>
              <a:sym typeface="Calibri"/>
            </a:endParaRPr>
          </a:p>
        </p:txBody>
      </p:sp>
      <p:sp>
        <p:nvSpPr>
          <p:cNvPr id="73" name="Google Shape;73;p3"/>
          <p:cNvSpPr/>
          <p:nvPr/>
        </p:nvSpPr>
        <p:spPr>
          <a:xfrm>
            <a:off x="1900357" y="2138601"/>
            <a:ext cx="11866245" cy="276344"/>
          </a:xfrm>
          <a:prstGeom prst="rect">
            <a:avLst/>
          </a:prstGeom>
          <a:noFill/>
          <a:ln>
            <a:noFill/>
          </a:ln>
        </p:spPr>
        <p:txBody>
          <a:bodyPr spcFirstLastPara="1" wrap="square" lIns="0" tIns="0" rIns="0" bIns="0" anchor="t" anchorCtr="0">
            <a:noAutofit/>
          </a:bodyPr>
          <a:lstStyle/>
          <a:p>
            <a:pPr marL="0" marR="0" lvl="0" indent="0" algn="l" rtl="0">
              <a:lnSpc>
                <a:spcPct val="159259"/>
              </a:lnSpc>
              <a:spcBef>
                <a:spcPts val="0"/>
              </a:spcBef>
              <a:spcAft>
                <a:spcPts val="0"/>
              </a:spcAft>
              <a:buClr>
                <a:srgbClr val="E2E6E9"/>
              </a:buClr>
              <a:buSzPts val="1350"/>
              <a:buFont typeface="Merriweather"/>
              <a:buNone/>
            </a:pPr>
            <a:r>
              <a:rPr lang="en-US" sz="1350">
                <a:solidFill>
                  <a:srgbClr val="E2E6E9"/>
                </a:solidFill>
                <a:latin typeface="Merriweather"/>
                <a:ea typeface="Merriweather"/>
                <a:cs typeface="Merriweather"/>
                <a:sym typeface="Merriweather"/>
              </a:rPr>
              <a:t>Medical features extracted from images or measurements</a:t>
            </a:r>
            <a:endParaRPr sz="1350">
              <a:solidFill>
                <a:schemeClr val="dk1"/>
              </a:solidFill>
              <a:latin typeface="Calibri"/>
              <a:ea typeface="Calibri"/>
              <a:cs typeface="Calibri"/>
              <a:sym typeface="Calibri"/>
            </a:endParaRPr>
          </a:p>
        </p:txBody>
      </p:sp>
      <p:pic>
        <p:nvPicPr>
          <p:cNvPr id="74" name="Google Shape;74;p3" descr="preencoded.png"/>
          <p:cNvPicPr preferRelativeResize="0"/>
          <p:nvPr/>
        </p:nvPicPr>
        <p:blipFill rotWithShape="1">
          <a:blip r:embed="rId4">
            <a:alphaModFix/>
          </a:blip>
          <a:srcRect/>
          <a:stretch/>
        </p:blipFill>
        <p:spPr>
          <a:xfrm>
            <a:off x="863798" y="2629019"/>
            <a:ext cx="863798" cy="1036677"/>
          </a:xfrm>
          <a:prstGeom prst="rect">
            <a:avLst/>
          </a:prstGeom>
          <a:noFill/>
          <a:ln>
            <a:noFill/>
          </a:ln>
        </p:spPr>
      </p:pic>
      <p:sp>
        <p:nvSpPr>
          <p:cNvPr id="75" name="Google Shape;75;p3"/>
          <p:cNvSpPr/>
          <p:nvPr/>
        </p:nvSpPr>
        <p:spPr>
          <a:xfrm>
            <a:off x="1900357" y="2801779"/>
            <a:ext cx="2159675" cy="269915"/>
          </a:xfrm>
          <a:prstGeom prst="rect">
            <a:avLst/>
          </a:prstGeom>
          <a:noFill/>
          <a:ln>
            <a:noFill/>
          </a:ln>
        </p:spPr>
        <p:txBody>
          <a:bodyPr spcFirstLastPara="1" wrap="square" lIns="0" tIns="0" rIns="0" bIns="0" anchor="t" anchorCtr="0">
            <a:noAutofit/>
          </a:bodyPr>
          <a:lstStyle/>
          <a:p>
            <a:pPr marL="0" marR="0" lvl="0" indent="0" algn="l" rtl="0">
              <a:lnSpc>
                <a:spcPct val="123529"/>
              </a:lnSpc>
              <a:spcBef>
                <a:spcPts val="0"/>
              </a:spcBef>
              <a:spcAft>
                <a:spcPts val="0"/>
              </a:spcAft>
              <a:buClr>
                <a:srgbClr val="E2E6E9"/>
              </a:buClr>
              <a:buSzPts val="1700"/>
              <a:buFont typeface="Merriweather"/>
              <a:buNone/>
            </a:pPr>
            <a:r>
              <a:rPr lang="en-US" sz="1700">
                <a:solidFill>
                  <a:srgbClr val="E2E6E9"/>
                </a:solidFill>
                <a:latin typeface="Merriweather"/>
                <a:ea typeface="Merriweather"/>
                <a:cs typeface="Merriweather"/>
                <a:sym typeface="Merriweather"/>
              </a:rPr>
              <a:t>Preprocessing</a:t>
            </a:r>
            <a:endParaRPr sz="1700">
              <a:solidFill>
                <a:schemeClr val="dk1"/>
              </a:solidFill>
              <a:latin typeface="Calibri"/>
              <a:ea typeface="Calibri"/>
              <a:cs typeface="Calibri"/>
              <a:sym typeface="Calibri"/>
            </a:endParaRPr>
          </a:p>
        </p:txBody>
      </p:sp>
      <p:sp>
        <p:nvSpPr>
          <p:cNvPr id="76" name="Google Shape;76;p3"/>
          <p:cNvSpPr/>
          <p:nvPr/>
        </p:nvSpPr>
        <p:spPr>
          <a:xfrm>
            <a:off x="1900357" y="3175278"/>
            <a:ext cx="11866245" cy="276344"/>
          </a:xfrm>
          <a:prstGeom prst="rect">
            <a:avLst/>
          </a:prstGeom>
          <a:noFill/>
          <a:ln>
            <a:noFill/>
          </a:ln>
        </p:spPr>
        <p:txBody>
          <a:bodyPr spcFirstLastPara="1" wrap="square" lIns="0" tIns="0" rIns="0" bIns="0" anchor="t" anchorCtr="0">
            <a:noAutofit/>
          </a:bodyPr>
          <a:lstStyle/>
          <a:p>
            <a:pPr marL="0" marR="0" lvl="0" indent="0" algn="l" rtl="0">
              <a:lnSpc>
                <a:spcPct val="159259"/>
              </a:lnSpc>
              <a:spcBef>
                <a:spcPts val="0"/>
              </a:spcBef>
              <a:spcAft>
                <a:spcPts val="0"/>
              </a:spcAft>
              <a:buClr>
                <a:srgbClr val="E2E6E9"/>
              </a:buClr>
              <a:buSzPts val="1350"/>
              <a:buFont typeface="Merriweather"/>
              <a:buNone/>
            </a:pPr>
            <a:r>
              <a:rPr lang="en-US" sz="1350">
                <a:solidFill>
                  <a:srgbClr val="E2E6E9"/>
                </a:solidFill>
                <a:latin typeface="Merriweather"/>
                <a:ea typeface="Merriweather"/>
                <a:cs typeface="Merriweather"/>
                <a:sym typeface="Merriweather"/>
              </a:rPr>
              <a:t>Normalization and feature scaling</a:t>
            </a:r>
            <a:endParaRPr sz="1350">
              <a:solidFill>
                <a:schemeClr val="dk1"/>
              </a:solidFill>
              <a:latin typeface="Calibri"/>
              <a:ea typeface="Calibri"/>
              <a:cs typeface="Calibri"/>
              <a:sym typeface="Calibri"/>
            </a:endParaRPr>
          </a:p>
        </p:txBody>
      </p:sp>
      <p:pic>
        <p:nvPicPr>
          <p:cNvPr id="77" name="Google Shape;77;p3" descr="preencoded.png"/>
          <p:cNvPicPr preferRelativeResize="0"/>
          <p:nvPr/>
        </p:nvPicPr>
        <p:blipFill rotWithShape="1">
          <a:blip r:embed="rId5">
            <a:alphaModFix/>
          </a:blip>
          <a:srcRect/>
          <a:stretch/>
        </p:blipFill>
        <p:spPr>
          <a:xfrm>
            <a:off x="863798" y="3665696"/>
            <a:ext cx="863798" cy="1036677"/>
          </a:xfrm>
          <a:prstGeom prst="rect">
            <a:avLst/>
          </a:prstGeom>
          <a:noFill/>
          <a:ln>
            <a:noFill/>
          </a:ln>
        </p:spPr>
      </p:pic>
      <p:sp>
        <p:nvSpPr>
          <p:cNvPr id="78" name="Google Shape;78;p3"/>
          <p:cNvSpPr/>
          <p:nvPr/>
        </p:nvSpPr>
        <p:spPr>
          <a:xfrm>
            <a:off x="1900348" y="3838450"/>
            <a:ext cx="3900300" cy="270000"/>
          </a:xfrm>
          <a:prstGeom prst="rect">
            <a:avLst/>
          </a:prstGeom>
          <a:noFill/>
          <a:ln>
            <a:noFill/>
          </a:ln>
        </p:spPr>
        <p:txBody>
          <a:bodyPr spcFirstLastPara="1" wrap="square" lIns="0" tIns="0" rIns="0" bIns="0" anchor="t" anchorCtr="0">
            <a:noAutofit/>
          </a:bodyPr>
          <a:lstStyle/>
          <a:p>
            <a:pPr marL="0" marR="0" lvl="0" indent="0" algn="l" rtl="0">
              <a:lnSpc>
                <a:spcPct val="123529"/>
              </a:lnSpc>
              <a:spcBef>
                <a:spcPts val="0"/>
              </a:spcBef>
              <a:spcAft>
                <a:spcPts val="0"/>
              </a:spcAft>
              <a:buClr>
                <a:srgbClr val="E2E6E9"/>
              </a:buClr>
              <a:buSzPts val="1700"/>
              <a:buFont typeface="Merriweather"/>
              <a:buNone/>
            </a:pPr>
            <a:r>
              <a:rPr lang="en-US" sz="1700">
                <a:solidFill>
                  <a:srgbClr val="E2E6E9"/>
                </a:solidFill>
                <a:latin typeface="Merriweather"/>
                <a:ea typeface="Merriweather"/>
                <a:cs typeface="Merriweather"/>
                <a:sym typeface="Merriweather"/>
              </a:rPr>
              <a:t>Feature Selection (IQI-GWO)</a:t>
            </a:r>
            <a:endParaRPr sz="1700">
              <a:solidFill>
                <a:schemeClr val="dk1"/>
              </a:solidFill>
              <a:latin typeface="Calibri"/>
              <a:ea typeface="Calibri"/>
              <a:cs typeface="Calibri"/>
              <a:sym typeface="Calibri"/>
            </a:endParaRPr>
          </a:p>
        </p:txBody>
      </p:sp>
      <p:sp>
        <p:nvSpPr>
          <p:cNvPr id="79" name="Google Shape;79;p3"/>
          <p:cNvSpPr/>
          <p:nvPr/>
        </p:nvSpPr>
        <p:spPr>
          <a:xfrm>
            <a:off x="1900357" y="4211955"/>
            <a:ext cx="11866245" cy="276344"/>
          </a:xfrm>
          <a:prstGeom prst="rect">
            <a:avLst/>
          </a:prstGeom>
          <a:noFill/>
          <a:ln>
            <a:noFill/>
          </a:ln>
        </p:spPr>
        <p:txBody>
          <a:bodyPr spcFirstLastPara="1" wrap="square" lIns="0" tIns="0" rIns="0" bIns="0" anchor="t" anchorCtr="0">
            <a:noAutofit/>
          </a:bodyPr>
          <a:lstStyle/>
          <a:p>
            <a:pPr marL="0" marR="0" lvl="0" indent="0" algn="l" rtl="0">
              <a:lnSpc>
                <a:spcPct val="159259"/>
              </a:lnSpc>
              <a:spcBef>
                <a:spcPts val="0"/>
              </a:spcBef>
              <a:spcAft>
                <a:spcPts val="0"/>
              </a:spcAft>
              <a:buClr>
                <a:srgbClr val="E2E6E9"/>
              </a:buClr>
              <a:buSzPts val="1350"/>
              <a:buFont typeface="Merriweather"/>
              <a:buNone/>
            </a:pPr>
            <a:r>
              <a:rPr lang="en-US" sz="1350">
                <a:solidFill>
                  <a:srgbClr val="E2E6E9"/>
                </a:solidFill>
                <a:latin typeface="Merriweather"/>
                <a:ea typeface="Merriweather"/>
                <a:cs typeface="Merriweather"/>
                <a:sym typeface="Merriweather"/>
              </a:rPr>
              <a:t>Select relevant features and optimize SVM parameters</a:t>
            </a:r>
            <a:endParaRPr sz="1350">
              <a:solidFill>
                <a:schemeClr val="dk1"/>
              </a:solidFill>
              <a:latin typeface="Calibri"/>
              <a:ea typeface="Calibri"/>
              <a:cs typeface="Calibri"/>
              <a:sym typeface="Calibri"/>
            </a:endParaRPr>
          </a:p>
        </p:txBody>
      </p:sp>
      <p:pic>
        <p:nvPicPr>
          <p:cNvPr id="80" name="Google Shape;80;p3" descr="preencoded.png"/>
          <p:cNvPicPr preferRelativeResize="0"/>
          <p:nvPr/>
        </p:nvPicPr>
        <p:blipFill rotWithShape="1">
          <a:blip r:embed="rId6">
            <a:alphaModFix/>
          </a:blip>
          <a:srcRect/>
          <a:stretch/>
        </p:blipFill>
        <p:spPr>
          <a:xfrm>
            <a:off x="863798" y="4702373"/>
            <a:ext cx="863798" cy="1036677"/>
          </a:xfrm>
          <a:prstGeom prst="rect">
            <a:avLst/>
          </a:prstGeom>
          <a:noFill/>
          <a:ln>
            <a:noFill/>
          </a:ln>
        </p:spPr>
      </p:pic>
      <p:sp>
        <p:nvSpPr>
          <p:cNvPr id="81" name="Google Shape;81;p3"/>
          <p:cNvSpPr/>
          <p:nvPr/>
        </p:nvSpPr>
        <p:spPr>
          <a:xfrm>
            <a:off x="1900357" y="4875133"/>
            <a:ext cx="2159675" cy="269915"/>
          </a:xfrm>
          <a:prstGeom prst="rect">
            <a:avLst/>
          </a:prstGeom>
          <a:noFill/>
          <a:ln>
            <a:noFill/>
          </a:ln>
        </p:spPr>
        <p:txBody>
          <a:bodyPr spcFirstLastPara="1" wrap="square" lIns="0" tIns="0" rIns="0" bIns="0" anchor="t" anchorCtr="0">
            <a:noAutofit/>
          </a:bodyPr>
          <a:lstStyle/>
          <a:p>
            <a:pPr marL="0" marR="0" lvl="0" indent="0" algn="l" rtl="0">
              <a:lnSpc>
                <a:spcPct val="123529"/>
              </a:lnSpc>
              <a:spcBef>
                <a:spcPts val="0"/>
              </a:spcBef>
              <a:spcAft>
                <a:spcPts val="0"/>
              </a:spcAft>
              <a:buClr>
                <a:srgbClr val="E2E6E9"/>
              </a:buClr>
              <a:buSzPts val="1700"/>
              <a:buFont typeface="Merriweather"/>
              <a:buNone/>
            </a:pPr>
            <a:r>
              <a:rPr lang="en-US" sz="1700">
                <a:solidFill>
                  <a:srgbClr val="E2E6E9"/>
                </a:solidFill>
                <a:latin typeface="Merriweather"/>
                <a:ea typeface="Merriweather"/>
                <a:cs typeface="Merriweather"/>
                <a:sym typeface="Merriweather"/>
              </a:rPr>
              <a:t>Optimized SVM</a:t>
            </a:r>
            <a:endParaRPr sz="1700">
              <a:solidFill>
                <a:schemeClr val="dk1"/>
              </a:solidFill>
              <a:latin typeface="Calibri"/>
              <a:ea typeface="Calibri"/>
              <a:cs typeface="Calibri"/>
              <a:sym typeface="Calibri"/>
            </a:endParaRPr>
          </a:p>
        </p:txBody>
      </p:sp>
      <p:sp>
        <p:nvSpPr>
          <p:cNvPr id="82" name="Google Shape;82;p3"/>
          <p:cNvSpPr/>
          <p:nvPr/>
        </p:nvSpPr>
        <p:spPr>
          <a:xfrm>
            <a:off x="1900357" y="5248632"/>
            <a:ext cx="11866245" cy="276344"/>
          </a:xfrm>
          <a:prstGeom prst="rect">
            <a:avLst/>
          </a:prstGeom>
          <a:noFill/>
          <a:ln>
            <a:noFill/>
          </a:ln>
        </p:spPr>
        <p:txBody>
          <a:bodyPr spcFirstLastPara="1" wrap="square" lIns="0" tIns="0" rIns="0" bIns="0" anchor="t" anchorCtr="0">
            <a:noAutofit/>
          </a:bodyPr>
          <a:lstStyle/>
          <a:p>
            <a:pPr marL="0" marR="0" lvl="0" indent="0" algn="l" rtl="0">
              <a:lnSpc>
                <a:spcPct val="159259"/>
              </a:lnSpc>
              <a:spcBef>
                <a:spcPts val="0"/>
              </a:spcBef>
              <a:spcAft>
                <a:spcPts val="0"/>
              </a:spcAft>
              <a:buClr>
                <a:srgbClr val="E2E6E9"/>
              </a:buClr>
              <a:buSzPts val="1350"/>
              <a:buFont typeface="Merriweather"/>
              <a:buNone/>
            </a:pPr>
            <a:r>
              <a:rPr lang="en-US" sz="1350">
                <a:solidFill>
                  <a:srgbClr val="E2E6E9"/>
                </a:solidFill>
                <a:latin typeface="Merriweather"/>
                <a:ea typeface="Merriweather"/>
                <a:cs typeface="Merriweather"/>
                <a:sym typeface="Merriweather"/>
              </a:rPr>
              <a:t>Classification output</a:t>
            </a:r>
            <a:endParaRPr sz="1350">
              <a:solidFill>
                <a:schemeClr val="dk1"/>
              </a:solidFill>
              <a:latin typeface="Calibri"/>
              <a:ea typeface="Calibri"/>
              <a:cs typeface="Calibri"/>
              <a:sym typeface="Calibri"/>
            </a:endParaRPr>
          </a:p>
        </p:txBody>
      </p:sp>
      <p:pic>
        <p:nvPicPr>
          <p:cNvPr id="83" name="Google Shape;83;p3" descr="preencoded.png"/>
          <p:cNvPicPr preferRelativeResize="0"/>
          <p:nvPr/>
        </p:nvPicPr>
        <p:blipFill rotWithShape="1">
          <a:blip r:embed="rId7">
            <a:alphaModFix/>
          </a:blip>
          <a:srcRect/>
          <a:stretch/>
        </p:blipFill>
        <p:spPr>
          <a:xfrm>
            <a:off x="863798" y="5739051"/>
            <a:ext cx="863798" cy="1036677"/>
          </a:xfrm>
          <a:prstGeom prst="rect">
            <a:avLst/>
          </a:prstGeom>
          <a:noFill/>
          <a:ln>
            <a:noFill/>
          </a:ln>
        </p:spPr>
      </p:pic>
      <p:sp>
        <p:nvSpPr>
          <p:cNvPr id="84" name="Google Shape;84;p3"/>
          <p:cNvSpPr/>
          <p:nvPr/>
        </p:nvSpPr>
        <p:spPr>
          <a:xfrm>
            <a:off x="1900357" y="5911810"/>
            <a:ext cx="2159675" cy="269915"/>
          </a:xfrm>
          <a:prstGeom prst="rect">
            <a:avLst/>
          </a:prstGeom>
          <a:noFill/>
          <a:ln>
            <a:noFill/>
          </a:ln>
        </p:spPr>
        <p:txBody>
          <a:bodyPr spcFirstLastPara="1" wrap="square" lIns="0" tIns="0" rIns="0" bIns="0" anchor="t" anchorCtr="0">
            <a:noAutofit/>
          </a:bodyPr>
          <a:lstStyle/>
          <a:p>
            <a:pPr marL="0" marR="0" lvl="0" indent="0" algn="l" rtl="0">
              <a:lnSpc>
                <a:spcPct val="123529"/>
              </a:lnSpc>
              <a:spcBef>
                <a:spcPts val="0"/>
              </a:spcBef>
              <a:spcAft>
                <a:spcPts val="0"/>
              </a:spcAft>
              <a:buClr>
                <a:srgbClr val="E2E6E9"/>
              </a:buClr>
              <a:buSzPts val="1700"/>
              <a:buFont typeface="Merriweather"/>
              <a:buNone/>
            </a:pPr>
            <a:r>
              <a:rPr lang="en-US" sz="1700">
                <a:solidFill>
                  <a:srgbClr val="E2E6E9"/>
                </a:solidFill>
                <a:latin typeface="Merriweather"/>
                <a:ea typeface="Merriweather"/>
                <a:cs typeface="Merriweather"/>
                <a:sym typeface="Merriweather"/>
              </a:rPr>
              <a:t>Diagnosis Output</a:t>
            </a:r>
            <a:endParaRPr sz="1700">
              <a:solidFill>
                <a:schemeClr val="dk1"/>
              </a:solidFill>
              <a:latin typeface="Calibri"/>
              <a:ea typeface="Calibri"/>
              <a:cs typeface="Calibri"/>
              <a:sym typeface="Calibri"/>
            </a:endParaRPr>
          </a:p>
        </p:txBody>
      </p:sp>
      <p:sp>
        <p:nvSpPr>
          <p:cNvPr id="85" name="Google Shape;85;p3"/>
          <p:cNvSpPr/>
          <p:nvPr/>
        </p:nvSpPr>
        <p:spPr>
          <a:xfrm>
            <a:off x="1900357" y="6285309"/>
            <a:ext cx="11866245" cy="276344"/>
          </a:xfrm>
          <a:prstGeom prst="rect">
            <a:avLst/>
          </a:prstGeom>
          <a:noFill/>
          <a:ln>
            <a:noFill/>
          </a:ln>
        </p:spPr>
        <p:txBody>
          <a:bodyPr spcFirstLastPara="1" wrap="square" lIns="0" tIns="0" rIns="0" bIns="0" anchor="t" anchorCtr="0">
            <a:noAutofit/>
          </a:bodyPr>
          <a:lstStyle/>
          <a:p>
            <a:pPr marL="0" marR="0" lvl="0" indent="0" algn="l" rtl="0">
              <a:lnSpc>
                <a:spcPct val="159259"/>
              </a:lnSpc>
              <a:spcBef>
                <a:spcPts val="0"/>
              </a:spcBef>
              <a:spcAft>
                <a:spcPts val="0"/>
              </a:spcAft>
              <a:buClr>
                <a:srgbClr val="E2E6E9"/>
              </a:buClr>
              <a:buSzPts val="1350"/>
              <a:buFont typeface="Merriweather"/>
              <a:buNone/>
            </a:pPr>
            <a:r>
              <a:rPr lang="en-US" sz="1350">
                <a:solidFill>
                  <a:srgbClr val="E2E6E9"/>
                </a:solidFill>
                <a:latin typeface="Merriweather"/>
                <a:ea typeface="Merriweather"/>
                <a:cs typeface="Merriweather"/>
                <a:sym typeface="Merriweather"/>
              </a:rPr>
              <a:t>Benign or Malignant</a:t>
            </a:r>
            <a:endParaRPr sz="1350">
              <a:solidFill>
                <a:schemeClr val="dk1"/>
              </a:solidFill>
              <a:latin typeface="Calibri"/>
              <a:ea typeface="Calibri"/>
              <a:cs typeface="Calibri"/>
              <a:sym typeface="Calibri"/>
            </a:endParaRPr>
          </a:p>
        </p:txBody>
      </p:sp>
      <p:sp>
        <p:nvSpPr>
          <p:cNvPr id="86" name="Google Shape;86;p3"/>
          <p:cNvSpPr/>
          <p:nvPr/>
        </p:nvSpPr>
        <p:spPr>
          <a:xfrm>
            <a:off x="863798" y="6970038"/>
            <a:ext cx="12902803" cy="552688"/>
          </a:xfrm>
          <a:prstGeom prst="rect">
            <a:avLst/>
          </a:prstGeom>
          <a:noFill/>
          <a:ln>
            <a:noFill/>
          </a:ln>
        </p:spPr>
        <p:txBody>
          <a:bodyPr spcFirstLastPara="1" wrap="square" lIns="0" tIns="0" rIns="0" bIns="0" anchor="t" anchorCtr="0">
            <a:noAutofit/>
          </a:bodyPr>
          <a:lstStyle/>
          <a:p>
            <a:pPr marL="0" marR="0" lvl="0" indent="0" algn="l" rtl="0">
              <a:lnSpc>
                <a:spcPct val="159259"/>
              </a:lnSpc>
              <a:spcBef>
                <a:spcPts val="0"/>
              </a:spcBef>
              <a:spcAft>
                <a:spcPts val="0"/>
              </a:spcAft>
              <a:buClr>
                <a:srgbClr val="E2E6E9"/>
              </a:buClr>
              <a:buSzPts val="1350"/>
              <a:buFont typeface="Merriweather"/>
              <a:buNone/>
            </a:pPr>
            <a:r>
              <a:rPr lang="en-US" sz="1350">
                <a:solidFill>
                  <a:srgbClr val="E2E6E9"/>
                </a:solidFill>
                <a:latin typeface="Merriweather"/>
                <a:ea typeface="Merriweather"/>
                <a:cs typeface="Merriweather"/>
                <a:sym typeface="Merriweather"/>
              </a:rPr>
              <a:t>The dataset (Breast Cancer Wisconsin or similar) provides features extracted from medical images or measurements. The optimized SVM model classifies the samples into </a:t>
            </a:r>
            <a:r>
              <a:rPr lang="en-US" sz="1350" i="1">
                <a:solidFill>
                  <a:srgbClr val="E2E6E9"/>
                </a:solidFill>
                <a:latin typeface="Merriweather"/>
                <a:ea typeface="Merriweather"/>
                <a:cs typeface="Merriweather"/>
                <a:sym typeface="Merriweather"/>
              </a:rPr>
              <a:t>benign</a:t>
            </a:r>
            <a:r>
              <a:rPr lang="en-US" sz="1350">
                <a:solidFill>
                  <a:srgbClr val="E2E6E9"/>
                </a:solidFill>
                <a:latin typeface="Merriweather"/>
                <a:ea typeface="Merriweather"/>
                <a:cs typeface="Merriweather"/>
                <a:sym typeface="Merriweather"/>
              </a:rPr>
              <a:t> or </a:t>
            </a:r>
            <a:r>
              <a:rPr lang="en-US" sz="1350" i="1">
                <a:solidFill>
                  <a:srgbClr val="E2E6E9"/>
                </a:solidFill>
                <a:latin typeface="Merriweather"/>
                <a:ea typeface="Merriweather"/>
                <a:cs typeface="Merriweather"/>
                <a:sym typeface="Merriweather"/>
              </a:rPr>
              <a:t>malignant</a:t>
            </a:r>
            <a:r>
              <a:rPr lang="en-US" sz="1350">
                <a:solidFill>
                  <a:srgbClr val="E2E6E9"/>
                </a:solidFill>
                <a:latin typeface="Merriweather"/>
                <a:ea typeface="Merriweather"/>
                <a:cs typeface="Merriweather"/>
                <a:sym typeface="Merriweather"/>
              </a:rPr>
              <a:t>.</a:t>
            </a:r>
            <a:endParaRPr sz="1350">
              <a:solidFill>
                <a:schemeClr val="dk1"/>
              </a:solidFill>
              <a:latin typeface="Calibri"/>
              <a:ea typeface="Calibri"/>
              <a:cs typeface="Calibri"/>
              <a:sym typeface="Calibri"/>
            </a:endParaRPr>
          </a:p>
        </p:txBody>
      </p:sp>
      <p:pic>
        <p:nvPicPr>
          <p:cNvPr id="87" name="Google Shape;87;p3"/>
          <p:cNvPicPr preferRelativeResize="0"/>
          <p:nvPr/>
        </p:nvPicPr>
        <p:blipFill rotWithShape="1">
          <a:blip r:embed="rId8">
            <a:alphaModFix/>
          </a:blip>
          <a:srcRect/>
          <a:stretch/>
        </p:blipFill>
        <p:spPr>
          <a:xfrm>
            <a:off x="7692369" y="1592342"/>
            <a:ext cx="6272120" cy="5053157"/>
          </a:xfrm>
          <a:prstGeom prst="rect">
            <a:avLst/>
          </a:prstGeom>
          <a:noFill/>
          <a:ln>
            <a:noFill/>
          </a:ln>
        </p:spPr>
      </p:pic>
      <p:pic>
        <p:nvPicPr>
          <p:cNvPr id="88" name="Google Shape;88;p3"/>
          <p:cNvPicPr preferRelativeResize="0"/>
          <p:nvPr/>
        </p:nvPicPr>
        <p:blipFill rotWithShape="1">
          <a:blip r:embed="rId9">
            <a:alphaModFix/>
          </a:blip>
          <a:srcRect/>
          <a:stretch/>
        </p:blipFill>
        <p:spPr>
          <a:xfrm>
            <a:off x="12878873" y="7592096"/>
            <a:ext cx="1666622" cy="62836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4"/>
          <p:cNvSpPr/>
          <p:nvPr/>
        </p:nvSpPr>
        <p:spPr>
          <a:xfrm>
            <a:off x="863798" y="784741"/>
            <a:ext cx="7761587" cy="616982"/>
          </a:xfrm>
          <a:prstGeom prst="rect">
            <a:avLst/>
          </a:prstGeom>
          <a:noFill/>
          <a:ln>
            <a:noFill/>
          </a:ln>
        </p:spPr>
        <p:txBody>
          <a:bodyPr spcFirstLastPara="1" wrap="square" lIns="0" tIns="0" rIns="0" bIns="0" anchor="t" anchorCtr="0">
            <a:noAutofit/>
          </a:bodyPr>
          <a:lstStyle/>
          <a:p>
            <a:pPr marL="0" marR="0" lvl="0" indent="0" algn="l" rtl="0">
              <a:lnSpc>
                <a:spcPct val="125974"/>
              </a:lnSpc>
              <a:spcBef>
                <a:spcPts val="0"/>
              </a:spcBef>
              <a:spcAft>
                <a:spcPts val="0"/>
              </a:spcAft>
              <a:buClr>
                <a:srgbClr val="F5F0F0"/>
              </a:buClr>
              <a:buSzPts val="3850"/>
              <a:buFont typeface="Merriweather"/>
              <a:buNone/>
            </a:pPr>
            <a:r>
              <a:rPr lang="en-US" sz="3850" dirty="0">
                <a:solidFill>
                  <a:srgbClr val="F5F0F0"/>
                </a:solidFill>
                <a:latin typeface="Merriweather"/>
                <a:ea typeface="Merriweather"/>
                <a:cs typeface="Merriweather"/>
                <a:sym typeface="Merriweather"/>
              </a:rPr>
              <a:t>IQI-GWO Optimization Flow</a:t>
            </a:r>
            <a:endParaRPr sz="3850" dirty="0">
              <a:solidFill>
                <a:schemeClr val="dk1"/>
              </a:solidFill>
              <a:latin typeface="Calibri"/>
              <a:ea typeface="Calibri"/>
              <a:cs typeface="Calibri"/>
              <a:sym typeface="Calibri"/>
            </a:endParaRPr>
          </a:p>
        </p:txBody>
      </p:sp>
      <p:sp>
        <p:nvSpPr>
          <p:cNvPr id="95" name="Google Shape;95;p4"/>
          <p:cNvSpPr/>
          <p:nvPr/>
        </p:nvSpPr>
        <p:spPr>
          <a:xfrm>
            <a:off x="863805" y="1796650"/>
            <a:ext cx="727800" cy="246900"/>
          </a:xfrm>
          <a:prstGeom prst="rect">
            <a:avLst/>
          </a:prstGeom>
          <a:noFill/>
          <a:ln>
            <a:noFill/>
          </a:ln>
        </p:spPr>
        <p:txBody>
          <a:bodyPr spcFirstLastPara="1" wrap="square" lIns="0" tIns="0" rIns="0" bIns="0" anchor="t" anchorCtr="0">
            <a:noAutofit/>
          </a:bodyPr>
          <a:lstStyle/>
          <a:p>
            <a:pPr marL="0" marR="0" lvl="0" indent="0" algn="l" rtl="0">
              <a:lnSpc>
                <a:spcPct val="158064"/>
              </a:lnSpc>
              <a:spcBef>
                <a:spcPts val="0"/>
              </a:spcBef>
              <a:spcAft>
                <a:spcPts val="0"/>
              </a:spcAft>
              <a:buClr>
                <a:srgbClr val="E2E6E9"/>
              </a:buClr>
              <a:buSzPts val="1550"/>
              <a:buFont typeface="Merriweather Light"/>
              <a:buNone/>
            </a:pPr>
            <a:r>
              <a:rPr lang="en-US" sz="1550">
                <a:solidFill>
                  <a:srgbClr val="E2E6E9"/>
                </a:solidFill>
                <a:latin typeface="Merriweather Light"/>
                <a:ea typeface="Merriweather Light"/>
                <a:cs typeface="Merriweather Light"/>
                <a:sym typeface="Merriweather Light"/>
              </a:rPr>
              <a:t>01</a:t>
            </a:r>
            <a:endParaRPr sz="1550">
              <a:solidFill>
                <a:schemeClr val="dk1"/>
              </a:solidFill>
              <a:latin typeface="Calibri"/>
              <a:ea typeface="Calibri"/>
              <a:cs typeface="Calibri"/>
              <a:sym typeface="Calibri"/>
            </a:endParaRPr>
          </a:p>
        </p:txBody>
      </p:sp>
      <p:sp>
        <p:nvSpPr>
          <p:cNvPr id="96" name="Google Shape;96;p4"/>
          <p:cNvSpPr/>
          <p:nvPr/>
        </p:nvSpPr>
        <p:spPr>
          <a:xfrm>
            <a:off x="863798" y="2109311"/>
            <a:ext cx="4169331" cy="22860"/>
          </a:xfrm>
          <a:prstGeom prst="rect">
            <a:avLst/>
          </a:prstGeom>
          <a:solidFill>
            <a:srgbClr val="609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4"/>
          <p:cNvSpPr/>
          <p:nvPr/>
        </p:nvSpPr>
        <p:spPr>
          <a:xfrm>
            <a:off x="863798" y="2253734"/>
            <a:ext cx="2993231" cy="308491"/>
          </a:xfrm>
          <a:prstGeom prst="rect">
            <a:avLst/>
          </a:prstGeom>
          <a:noFill/>
          <a:ln>
            <a:noFill/>
          </a:ln>
        </p:spPr>
        <p:txBody>
          <a:bodyPr spcFirstLastPara="1" wrap="square" lIns="0" tIns="0" rIns="0" bIns="0" anchor="t" anchorCtr="0">
            <a:noAutofit/>
          </a:bodyPr>
          <a:lstStyle/>
          <a:p>
            <a:pPr marL="0" marR="0" lvl="0" indent="0" algn="l" rtl="0">
              <a:lnSpc>
                <a:spcPct val="126315"/>
              </a:lnSpc>
              <a:spcBef>
                <a:spcPts val="0"/>
              </a:spcBef>
              <a:spcAft>
                <a:spcPts val="0"/>
              </a:spcAft>
              <a:buClr>
                <a:srgbClr val="E2E6E9"/>
              </a:buClr>
              <a:buSzPts val="1900"/>
              <a:buFont typeface="Merriweather"/>
              <a:buNone/>
            </a:pPr>
            <a:r>
              <a:rPr lang="en-US" sz="1900">
                <a:solidFill>
                  <a:srgbClr val="E2E6E9"/>
                </a:solidFill>
                <a:latin typeface="Merriweather"/>
                <a:ea typeface="Merriweather"/>
                <a:cs typeface="Merriweather"/>
                <a:sym typeface="Merriweather"/>
              </a:rPr>
              <a:t>Initialize wolf population</a:t>
            </a:r>
            <a:endParaRPr sz="1900">
              <a:solidFill>
                <a:schemeClr val="dk1"/>
              </a:solidFill>
              <a:latin typeface="Calibri"/>
              <a:ea typeface="Calibri"/>
              <a:cs typeface="Calibri"/>
              <a:sym typeface="Calibri"/>
            </a:endParaRPr>
          </a:p>
        </p:txBody>
      </p:sp>
      <p:sp>
        <p:nvSpPr>
          <p:cNvPr id="98" name="Google Shape;98;p4"/>
          <p:cNvSpPr/>
          <p:nvPr/>
        </p:nvSpPr>
        <p:spPr>
          <a:xfrm>
            <a:off x="863797" y="2890759"/>
            <a:ext cx="4169331" cy="315992"/>
          </a:xfrm>
          <a:prstGeom prst="rect">
            <a:avLst/>
          </a:prstGeom>
          <a:noFill/>
          <a:ln>
            <a:noFill/>
          </a:ln>
        </p:spPr>
        <p:txBody>
          <a:bodyPr spcFirstLastPara="1" wrap="square" lIns="0" tIns="0" rIns="0" bIns="0" anchor="t" anchorCtr="0">
            <a:noAutofit/>
          </a:bodyPr>
          <a:lstStyle/>
          <a:p>
            <a:pPr marL="0" marR="0" lvl="0" indent="0" algn="l" rtl="0">
              <a:lnSpc>
                <a:spcPct val="158064"/>
              </a:lnSpc>
              <a:spcBef>
                <a:spcPts val="0"/>
              </a:spcBef>
              <a:spcAft>
                <a:spcPts val="0"/>
              </a:spcAft>
              <a:buClr>
                <a:srgbClr val="E2E6E9"/>
              </a:buClr>
              <a:buSzPts val="1550"/>
              <a:buFont typeface="Merriweather"/>
              <a:buNone/>
            </a:pPr>
            <a:r>
              <a:rPr lang="en-US" sz="1550" dirty="0">
                <a:solidFill>
                  <a:srgbClr val="E2E6E9"/>
                </a:solidFill>
                <a:latin typeface="Merriweather"/>
                <a:ea typeface="Merriweather"/>
                <a:cs typeface="Merriweather"/>
                <a:sym typeface="Merriweather"/>
              </a:rPr>
              <a:t>Random solutions</a:t>
            </a:r>
            <a:endParaRPr sz="1550" dirty="0">
              <a:solidFill>
                <a:schemeClr val="dk1"/>
              </a:solidFill>
              <a:latin typeface="Calibri"/>
              <a:ea typeface="Calibri"/>
              <a:cs typeface="Calibri"/>
              <a:sym typeface="Calibri"/>
            </a:endParaRPr>
          </a:p>
        </p:txBody>
      </p:sp>
      <p:sp>
        <p:nvSpPr>
          <p:cNvPr id="99" name="Google Shape;99;p4"/>
          <p:cNvSpPr/>
          <p:nvPr/>
        </p:nvSpPr>
        <p:spPr>
          <a:xfrm>
            <a:off x="5230500" y="1796650"/>
            <a:ext cx="727800" cy="246900"/>
          </a:xfrm>
          <a:prstGeom prst="rect">
            <a:avLst/>
          </a:prstGeom>
          <a:noFill/>
          <a:ln>
            <a:noFill/>
          </a:ln>
        </p:spPr>
        <p:txBody>
          <a:bodyPr spcFirstLastPara="1" wrap="square" lIns="0" tIns="0" rIns="0" bIns="0" anchor="t" anchorCtr="0">
            <a:noAutofit/>
          </a:bodyPr>
          <a:lstStyle/>
          <a:p>
            <a:pPr marL="0" marR="0" lvl="0" indent="0" algn="l" rtl="0">
              <a:lnSpc>
                <a:spcPct val="158064"/>
              </a:lnSpc>
              <a:spcBef>
                <a:spcPts val="0"/>
              </a:spcBef>
              <a:spcAft>
                <a:spcPts val="0"/>
              </a:spcAft>
              <a:buClr>
                <a:srgbClr val="E2E6E9"/>
              </a:buClr>
              <a:buSzPts val="1550"/>
              <a:buFont typeface="Merriweather Light"/>
              <a:buNone/>
            </a:pPr>
            <a:r>
              <a:rPr lang="en-US" sz="1550">
                <a:solidFill>
                  <a:srgbClr val="E2E6E9"/>
                </a:solidFill>
                <a:latin typeface="Merriweather Light"/>
                <a:ea typeface="Merriweather Light"/>
                <a:cs typeface="Merriweather Light"/>
                <a:sym typeface="Merriweather Light"/>
              </a:rPr>
              <a:t>02</a:t>
            </a:r>
            <a:endParaRPr sz="1550">
              <a:solidFill>
                <a:schemeClr val="dk1"/>
              </a:solidFill>
              <a:latin typeface="Calibri"/>
              <a:ea typeface="Calibri"/>
              <a:cs typeface="Calibri"/>
              <a:sym typeface="Calibri"/>
            </a:endParaRPr>
          </a:p>
        </p:txBody>
      </p:sp>
      <p:sp>
        <p:nvSpPr>
          <p:cNvPr id="100" name="Google Shape;100;p4"/>
          <p:cNvSpPr/>
          <p:nvPr/>
        </p:nvSpPr>
        <p:spPr>
          <a:xfrm>
            <a:off x="5230535" y="2109311"/>
            <a:ext cx="4169331" cy="22860"/>
          </a:xfrm>
          <a:prstGeom prst="rect">
            <a:avLst/>
          </a:prstGeom>
          <a:solidFill>
            <a:srgbClr val="609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4"/>
          <p:cNvSpPr/>
          <p:nvPr/>
        </p:nvSpPr>
        <p:spPr>
          <a:xfrm>
            <a:off x="5230535" y="2253734"/>
            <a:ext cx="2468285" cy="308491"/>
          </a:xfrm>
          <a:prstGeom prst="rect">
            <a:avLst/>
          </a:prstGeom>
          <a:noFill/>
          <a:ln>
            <a:noFill/>
          </a:ln>
        </p:spPr>
        <p:txBody>
          <a:bodyPr spcFirstLastPara="1" wrap="square" lIns="0" tIns="0" rIns="0" bIns="0" anchor="t" anchorCtr="0">
            <a:noAutofit/>
          </a:bodyPr>
          <a:lstStyle/>
          <a:p>
            <a:pPr marL="0" marR="0" lvl="0" indent="0" algn="l" rtl="0">
              <a:lnSpc>
                <a:spcPct val="126315"/>
              </a:lnSpc>
              <a:spcBef>
                <a:spcPts val="0"/>
              </a:spcBef>
              <a:spcAft>
                <a:spcPts val="0"/>
              </a:spcAft>
              <a:buClr>
                <a:srgbClr val="E2E6E9"/>
              </a:buClr>
              <a:buSzPts val="1900"/>
              <a:buFont typeface="Merriweather"/>
              <a:buNone/>
            </a:pPr>
            <a:r>
              <a:rPr lang="en-US" sz="1900">
                <a:solidFill>
                  <a:srgbClr val="E2E6E9"/>
                </a:solidFill>
                <a:latin typeface="Merriweather"/>
                <a:ea typeface="Merriweather"/>
                <a:cs typeface="Merriweather"/>
                <a:sym typeface="Merriweather"/>
              </a:rPr>
              <a:t>Evaluate fitness</a:t>
            </a:r>
            <a:endParaRPr sz="1900">
              <a:solidFill>
                <a:schemeClr val="dk1"/>
              </a:solidFill>
              <a:latin typeface="Calibri"/>
              <a:ea typeface="Calibri"/>
              <a:cs typeface="Calibri"/>
              <a:sym typeface="Calibri"/>
            </a:endParaRPr>
          </a:p>
        </p:txBody>
      </p:sp>
      <p:sp>
        <p:nvSpPr>
          <p:cNvPr id="102" name="Google Shape;102;p4"/>
          <p:cNvSpPr/>
          <p:nvPr/>
        </p:nvSpPr>
        <p:spPr>
          <a:xfrm>
            <a:off x="5230535" y="2680692"/>
            <a:ext cx="4169331" cy="315992"/>
          </a:xfrm>
          <a:prstGeom prst="rect">
            <a:avLst/>
          </a:prstGeom>
          <a:noFill/>
          <a:ln>
            <a:noFill/>
          </a:ln>
        </p:spPr>
        <p:txBody>
          <a:bodyPr spcFirstLastPara="1" wrap="square" lIns="0" tIns="0" rIns="0" bIns="0" anchor="t" anchorCtr="0">
            <a:noAutofit/>
          </a:bodyPr>
          <a:lstStyle/>
          <a:p>
            <a:pPr marL="0" marR="0" lvl="0" indent="0" algn="l" rtl="0">
              <a:lnSpc>
                <a:spcPct val="158064"/>
              </a:lnSpc>
              <a:spcBef>
                <a:spcPts val="0"/>
              </a:spcBef>
              <a:spcAft>
                <a:spcPts val="0"/>
              </a:spcAft>
              <a:buClr>
                <a:srgbClr val="E2E6E9"/>
              </a:buClr>
              <a:buSzPts val="1550"/>
              <a:buFont typeface="Merriweather"/>
              <a:buNone/>
            </a:pPr>
            <a:r>
              <a:rPr lang="en-US" sz="1550">
                <a:solidFill>
                  <a:srgbClr val="E2E6E9"/>
                </a:solidFill>
                <a:latin typeface="Merriweather"/>
                <a:ea typeface="Merriweather"/>
                <a:cs typeface="Merriweather"/>
                <a:sym typeface="Merriweather"/>
              </a:rPr>
              <a:t>Classification accuracy - penalty</a:t>
            </a:r>
            <a:endParaRPr sz="1550">
              <a:solidFill>
                <a:schemeClr val="dk1"/>
              </a:solidFill>
              <a:latin typeface="Calibri"/>
              <a:ea typeface="Calibri"/>
              <a:cs typeface="Calibri"/>
              <a:sym typeface="Calibri"/>
            </a:endParaRPr>
          </a:p>
        </p:txBody>
      </p:sp>
      <p:sp>
        <p:nvSpPr>
          <p:cNvPr id="103" name="Google Shape;103;p4"/>
          <p:cNvSpPr/>
          <p:nvPr/>
        </p:nvSpPr>
        <p:spPr>
          <a:xfrm>
            <a:off x="9597286" y="1796650"/>
            <a:ext cx="727800" cy="246900"/>
          </a:xfrm>
          <a:prstGeom prst="rect">
            <a:avLst/>
          </a:prstGeom>
          <a:noFill/>
          <a:ln>
            <a:noFill/>
          </a:ln>
        </p:spPr>
        <p:txBody>
          <a:bodyPr spcFirstLastPara="1" wrap="square" lIns="0" tIns="0" rIns="0" bIns="0" anchor="t" anchorCtr="0">
            <a:noAutofit/>
          </a:bodyPr>
          <a:lstStyle/>
          <a:p>
            <a:pPr marL="0" marR="0" lvl="0" indent="0" algn="l" rtl="0">
              <a:lnSpc>
                <a:spcPct val="158064"/>
              </a:lnSpc>
              <a:spcBef>
                <a:spcPts val="0"/>
              </a:spcBef>
              <a:spcAft>
                <a:spcPts val="0"/>
              </a:spcAft>
              <a:buClr>
                <a:srgbClr val="E2E6E9"/>
              </a:buClr>
              <a:buSzPts val="1550"/>
              <a:buFont typeface="Merriweather Light"/>
              <a:buNone/>
            </a:pPr>
            <a:r>
              <a:rPr lang="en-US" sz="1550">
                <a:solidFill>
                  <a:srgbClr val="E2E6E9"/>
                </a:solidFill>
                <a:latin typeface="Merriweather Light"/>
                <a:ea typeface="Merriweather Light"/>
                <a:cs typeface="Merriweather Light"/>
                <a:sym typeface="Merriweather Light"/>
              </a:rPr>
              <a:t>03</a:t>
            </a:r>
            <a:endParaRPr sz="1550">
              <a:solidFill>
                <a:schemeClr val="dk1"/>
              </a:solidFill>
              <a:latin typeface="Calibri"/>
              <a:ea typeface="Calibri"/>
              <a:cs typeface="Calibri"/>
              <a:sym typeface="Calibri"/>
            </a:endParaRPr>
          </a:p>
        </p:txBody>
      </p:sp>
      <p:sp>
        <p:nvSpPr>
          <p:cNvPr id="104" name="Google Shape;104;p4"/>
          <p:cNvSpPr/>
          <p:nvPr/>
        </p:nvSpPr>
        <p:spPr>
          <a:xfrm>
            <a:off x="9597271" y="2109311"/>
            <a:ext cx="4169331" cy="22860"/>
          </a:xfrm>
          <a:prstGeom prst="rect">
            <a:avLst/>
          </a:prstGeom>
          <a:solidFill>
            <a:srgbClr val="609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4"/>
          <p:cNvSpPr/>
          <p:nvPr/>
        </p:nvSpPr>
        <p:spPr>
          <a:xfrm>
            <a:off x="9597271" y="2253734"/>
            <a:ext cx="3964543" cy="308491"/>
          </a:xfrm>
          <a:prstGeom prst="rect">
            <a:avLst/>
          </a:prstGeom>
          <a:noFill/>
          <a:ln>
            <a:noFill/>
          </a:ln>
        </p:spPr>
        <p:txBody>
          <a:bodyPr spcFirstLastPara="1" wrap="square" lIns="0" tIns="0" rIns="0" bIns="0" anchor="t" anchorCtr="0">
            <a:noAutofit/>
          </a:bodyPr>
          <a:lstStyle/>
          <a:p>
            <a:pPr marL="0" marR="0" lvl="0" indent="0" algn="l" rtl="0">
              <a:lnSpc>
                <a:spcPct val="126315"/>
              </a:lnSpc>
              <a:spcBef>
                <a:spcPts val="0"/>
              </a:spcBef>
              <a:spcAft>
                <a:spcPts val="0"/>
              </a:spcAft>
              <a:buClr>
                <a:srgbClr val="E2E6E9"/>
              </a:buClr>
              <a:buSzPts val="1900"/>
              <a:buFont typeface="Merriweather"/>
              <a:buNone/>
            </a:pPr>
            <a:r>
              <a:rPr lang="en-US" sz="1900">
                <a:solidFill>
                  <a:srgbClr val="E2E6E9"/>
                </a:solidFill>
                <a:latin typeface="Merriweather"/>
                <a:ea typeface="Merriweather"/>
                <a:cs typeface="Merriweather"/>
                <a:sym typeface="Merriweather"/>
              </a:rPr>
              <a:t>Identify Alpha, Beta, Delta wolves</a:t>
            </a:r>
            <a:endParaRPr sz="1900">
              <a:solidFill>
                <a:schemeClr val="dk1"/>
              </a:solidFill>
              <a:latin typeface="Calibri"/>
              <a:ea typeface="Calibri"/>
              <a:cs typeface="Calibri"/>
              <a:sym typeface="Calibri"/>
            </a:endParaRPr>
          </a:p>
        </p:txBody>
      </p:sp>
      <p:sp>
        <p:nvSpPr>
          <p:cNvPr id="106" name="Google Shape;106;p4"/>
          <p:cNvSpPr/>
          <p:nvPr/>
        </p:nvSpPr>
        <p:spPr>
          <a:xfrm>
            <a:off x="863806" y="3342075"/>
            <a:ext cx="727800" cy="246900"/>
          </a:xfrm>
          <a:prstGeom prst="rect">
            <a:avLst/>
          </a:prstGeom>
          <a:noFill/>
          <a:ln>
            <a:noFill/>
          </a:ln>
        </p:spPr>
        <p:txBody>
          <a:bodyPr spcFirstLastPara="1" wrap="square" lIns="0" tIns="0" rIns="0" bIns="0" anchor="t" anchorCtr="0">
            <a:noAutofit/>
          </a:bodyPr>
          <a:lstStyle/>
          <a:p>
            <a:pPr marL="0" marR="0" lvl="0" indent="0" algn="l" rtl="0">
              <a:lnSpc>
                <a:spcPct val="158064"/>
              </a:lnSpc>
              <a:spcBef>
                <a:spcPts val="0"/>
              </a:spcBef>
              <a:spcAft>
                <a:spcPts val="0"/>
              </a:spcAft>
              <a:buClr>
                <a:srgbClr val="E2E6E9"/>
              </a:buClr>
              <a:buSzPts val="1550"/>
              <a:buFont typeface="Merriweather Light"/>
              <a:buNone/>
            </a:pPr>
            <a:r>
              <a:rPr lang="en-US" sz="1550">
                <a:solidFill>
                  <a:srgbClr val="E2E6E9"/>
                </a:solidFill>
                <a:latin typeface="Merriweather Light"/>
                <a:ea typeface="Merriweather Light"/>
                <a:cs typeface="Merriweather Light"/>
                <a:sym typeface="Merriweather Light"/>
              </a:rPr>
              <a:t>04</a:t>
            </a:r>
            <a:endParaRPr sz="1550">
              <a:solidFill>
                <a:schemeClr val="dk1"/>
              </a:solidFill>
              <a:latin typeface="Calibri"/>
              <a:ea typeface="Calibri"/>
              <a:cs typeface="Calibri"/>
              <a:sym typeface="Calibri"/>
            </a:endParaRPr>
          </a:p>
        </p:txBody>
      </p:sp>
      <p:sp>
        <p:nvSpPr>
          <p:cNvPr id="107" name="Google Shape;107;p4"/>
          <p:cNvSpPr/>
          <p:nvPr/>
        </p:nvSpPr>
        <p:spPr>
          <a:xfrm>
            <a:off x="863798" y="3654743"/>
            <a:ext cx="4169331" cy="22860"/>
          </a:xfrm>
          <a:prstGeom prst="rect">
            <a:avLst/>
          </a:prstGeom>
          <a:solidFill>
            <a:srgbClr val="609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4"/>
          <p:cNvSpPr/>
          <p:nvPr/>
        </p:nvSpPr>
        <p:spPr>
          <a:xfrm>
            <a:off x="863798" y="3799165"/>
            <a:ext cx="2468285" cy="308491"/>
          </a:xfrm>
          <a:prstGeom prst="rect">
            <a:avLst/>
          </a:prstGeom>
          <a:noFill/>
          <a:ln>
            <a:noFill/>
          </a:ln>
        </p:spPr>
        <p:txBody>
          <a:bodyPr spcFirstLastPara="1" wrap="square" lIns="0" tIns="0" rIns="0" bIns="0" anchor="t" anchorCtr="0">
            <a:noAutofit/>
          </a:bodyPr>
          <a:lstStyle/>
          <a:p>
            <a:pPr marL="0" marR="0" lvl="0" indent="0" algn="l" rtl="0">
              <a:lnSpc>
                <a:spcPct val="126315"/>
              </a:lnSpc>
              <a:spcBef>
                <a:spcPts val="0"/>
              </a:spcBef>
              <a:spcAft>
                <a:spcPts val="0"/>
              </a:spcAft>
              <a:buClr>
                <a:srgbClr val="E2E6E9"/>
              </a:buClr>
              <a:buSzPts val="1900"/>
              <a:buFont typeface="Merriweather"/>
              <a:buNone/>
            </a:pPr>
            <a:r>
              <a:rPr lang="en-US" sz="1900">
                <a:solidFill>
                  <a:srgbClr val="E2E6E9"/>
                </a:solidFill>
                <a:latin typeface="Merriweather"/>
                <a:ea typeface="Merriweather"/>
                <a:cs typeface="Merriweather"/>
                <a:sym typeface="Merriweather"/>
              </a:rPr>
              <a:t>Update positions</a:t>
            </a:r>
            <a:endParaRPr sz="1900">
              <a:solidFill>
                <a:schemeClr val="dk1"/>
              </a:solidFill>
              <a:latin typeface="Calibri"/>
              <a:ea typeface="Calibri"/>
              <a:cs typeface="Calibri"/>
              <a:sym typeface="Calibri"/>
            </a:endParaRPr>
          </a:p>
        </p:txBody>
      </p:sp>
      <p:sp>
        <p:nvSpPr>
          <p:cNvPr id="109" name="Google Shape;109;p4"/>
          <p:cNvSpPr/>
          <p:nvPr/>
        </p:nvSpPr>
        <p:spPr>
          <a:xfrm>
            <a:off x="863798" y="4226123"/>
            <a:ext cx="4169331" cy="315992"/>
          </a:xfrm>
          <a:prstGeom prst="rect">
            <a:avLst/>
          </a:prstGeom>
          <a:noFill/>
          <a:ln>
            <a:noFill/>
          </a:ln>
        </p:spPr>
        <p:txBody>
          <a:bodyPr spcFirstLastPara="1" wrap="square" lIns="0" tIns="0" rIns="0" bIns="0" anchor="t" anchorCtr="0">
            <a:noAutofit/>
          </a:bodyPr>
          <a:lstStyle/>
          <a:p>
            <a:pPr marL="0" marR="0" lvl="0" indent="0" algn="l" rtl="0">
              <a:lnSpc>
                <a:spcPct val="158064"/>
              </a:lnSpc>
              <a:spcBef>
                <a:spcPts val="0"/>
              </a:spcBef>
              <a:spcAft>
                <a:spcPts val="0"/>
              </a:spcAft>
              <a:buClr>
                <a:srgbClr val="E2E6E9"/>
              </a:buClr>
              <a:buSzPts val="1550"/>
              <a:buFont typeface="Merriweather"/>
              <a:buNone/>
            </a:pPr>
            <a:r>
              <a:rPr lang="en-US" sz="1550">
                <a:solidFill>
                  <a:srgbClr val="E2E6E9"/>
                </a:solidFill>
                <a:latin typeface="Merriweather"/>
                <a:ea typeface="Merriweather"/>
                <a:cs typeface="Merriweather"/>
                <a:sym typeface="Merriweather"/>
              </a:rPr>
              <a:t>Using quantum behaviour</a:t>
            </a:r>
            <a:endParaRPr sz="1550">
              <a:solidFill>
                <a:schemeClr val="dk1"/>
              </a:solidFill>
              <a:latin typeface="Calibri"/>
              <a:ea typeface="Calibri"/>
              <a:cs typeface="Calibri"/>
              <a:sym typeface="Calibri"/>
            </a:endParaRPr>
          </a:p>
        </p:txBody>
      </p:sp>
      <p:sp>
        <p:nvSpPr>
          <p:cNvPr id="110" name="Google Shape;110;p4"/>
          <p:cNvSpPr/>
          <p:nvPr/>
        </p:nvSpPr>
        <p:spPr>
          <a:xfrm>
            <a:off x="5230493" y="3342075"/>
            <a:ext cx="832500" cy="246900"/>
          </a:xfrm>
          <a:prstGeom prst="rect">
            <a:avLst/>
          </a:prstGeom>
          <a:noFill/>
          <a:ln>
            <a:noFill/>
          </a:ln>
        </p:spPr>
        <p:txBody>
          <a:bodyPr spcFirstLastPara="1" wrap="square" lIns="0" tIns="0" rIns="0" bIns="0" anchor="t" anchorCtr="0">
            <a:noAutofit/>
          </a:bodyPr>
          <a:lstStyle/>
          <a:p>
            <a:pPr marL="0" marR="0" lvl="0" indent="0" algn="l" rtl="0">
              <a:lnSpc>
                <a:spcPct val="158064"/>
              </a:lnSpc>
              <a:spcBef>
                <a:spcPts val="0"/>
              </a:spcBef>
              <a:spcAft>
                <a:spcPts val="0"/>
              </a:spcAft>
              <a:buClr>
                <a:srgbClr val="E2E6E9"/>
              </a:buClr>
              <a:buSzPts val="1550"/>
              <a:buFont typeface="Merriweather Light"/>
              <a:buNone/>
            </a:pPr>
            <a:r>
              <a:rPr lang="en-US" sz="1550">
                <a:solidFill>
                  <a:srgbClr val="E2E6E9"/>
                </a:solidFill>
                <a:latin typeface="Merriweather Light"/>
                <a:ea typeface="Merriweather Light"/>
                <a:cs typeface="Merriweather Light"/>
                <a:sym typeface="Merriweather Light"/>
              </a:rPr>
              <a:t>05</a:t>
            </a:r>
            <a:endParaRPr sz="1550">
              <a:solidFill>
                <a:schemeClr val="dk1"/>
              </a:solidFill>
              <a:latin typeface="Calibri"/>
              <a:ea typeface="Calibri"/>
              <a:cs typeface="Calibri"/>
              <a:sym typeface="Calibri"/>
            </a:endParaRPr>
          </a:p>
        </p:txBody>
      </p:sp>
      <p:sp>
        <p:nvSpPr>
          <p:cNvPr id="111" name="Google Shape;111;p4"/>
          <p:cNvSpPr/>
          <p:nvPr/>
        </p:nvSpPr>
        <p:spPr>
          <a:xfrm>
            <a:off x="5230535" y="3654743"/>
            <a:ext cx="4169331" cy="22860"/>
          </a:xfrm>
          <a:prstGeom prst="rect">
            <a:avLst/>
          </a:prstGeom>
          <a:solidFill>
            <a:srgbClr val="609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4"/>
          <p:cNvSpPr/>
          <p:nvPr/>
        </p:nvSpPr>
        <p:spPr>
          <a:xfrm>
            <a:off x="5230535" y="3799165"/>
            <a:ext cx="2468285" cy="308491"/>
          </a:xfrm>
          <a:prstGeom prst="rect">
            <a:avLst/>
          </a:prstGeom>
          <a:noFill/>
          <a:ln>
            <a:noFill/>
          </a:ln>
        </p:spPr>
        <p:txBody>
          <a:bodyPr spcFirstLastPara="1" wrap="square" lIns="0" tIns="0" rIns="0" bIns="0" anchor="t" anchorCtr="0">
            <a:noAutofit/>
          </a:bodyPr>
          <a:lstStyle/>
          <a:p>
            <a:pPr marL="0" marR="0" lvl="0" indent="0" algn="l" rtl="0">
              <a:lnSpc>
                <a:spcPct val="126315"/>
              </a:lnSpc>
              <a:spcBef>
                <a:spcPts val="0"/>
              </a:spcBef>
              <a:spcAft>
                <a:spcPts val="0"/>
              </a:spcAft>
              <a:buClr>
                <a:srgbClr val="E2E6E9"/>
              </a:buClr>
              <a:buSzPts val="1900"/>
              <a:buFont typeface="Merriweather"/>
              <a:buNone/>
            </a:pPr>
            <a:r>
              <a:rPr lang="en-US" sz="1900">
                <a:solidFill>
                  <a:srgbClr val="E2E6E9"/>
                </a:solidFill>
                <a:latin typeface="Merriweather"/>
                <a:ea typeface="Merriweather"/>
                <a:cs typeface="Merriweather"/>
                <a:sym typeface="Merriweather"/>
              </a:rPr>
              <a:t>Apply mutation</a:t>
            </a:r>
            <a:endParaRPr sz="1900">
              <a:solidFill>
                <a:schemeClr val="dk1"/>
              </a:solidFill>
              <a:latin typeface="Calibri"/>
              <a:ea typeface="Calibri"/>
              <a:cs typeface="Calibri"/>
              <a:sym typeface="Calibri"/>
            </a:endParaRPr>
          </a:p>
        </p:txBody>
      </p:sp>
      <p:sp>
        <p:nvSpPr>
          <p:cNvPr id="113" name="Google Shape;113;p4"/>
          <p:cNvSpPr/>
          <p:nvPr/>
        </p:nvSpPr>
        <p:spPr>
          <a:xfrm>
            <a:off x="5230535" y="4226123"/>
            <a:ext cx="4169331" cy="315992"/>
          </a:xfrm>
          <a:prstGeom prst="rect">
            <a:avLst/>
          </a:prstGeom>
          <a:noFill/>
          <a:ln>
            <a:noFill/>
          </a:ln>
        </p:spPr>
        <p:txBody>
          <a:bodyPr spcFirstLastPara="1" wrap="square" lIns="0" tIns="0" rIns="0" bIns="0" anchor="t" anchorCtr="0">
            <a:noAutofit/>
          </a:bodyPr>
          <a:lstStyle/>
          <a:p>
            <a:pPr marL="0" marR="0" lvl="0" indent="0" algn="l" rtl="0">
              <a:lnSpc>
                <a:spcPct val="158064"/>
              </a:lnSpc>
              <a:spcBef>
                <a:spcPts val="0"/>
              </a:spcBef>
              <a:spcAft>
                <a:spcPts val="0"/>
              </a:spcAft>
              <a:buClr>
                <a:srgbClr val="E2E6E9"/>
              </a:buClr>
              <a:buSzPts val="1550"/>
              <a:buFont typeface="Merriweather"/>
              <a:buNone/>
            </a:pPr>
            <a:r>
              <a:rPr lang="en-US" sz="1550">
                <a:solidFill>
                  <a:srgbClr val="E2E6E9"/>
                </a:solidFill>
                <a:latin typeface="Merriweather"/>
                <a:ea typeface="Merriweather"/>
                <a:cs typeface="Merriweather"/>
                <a:sym typeface="Merriweather"/>
              </a:rPr>
              <a:t>For diversity</a:t>
            </a:r>
            <a:endParaRPr sz="1550">
              <a:solidFill>
                <a:schemeClr val="dk1"/>
              </a:solidFill>
              <a:latin typeface="Calibri"/>
              <a:ea typeface="Calibri"/>
              <a:cs typeface="Calibri"/>
              <a:sym typeface="Calibri"/>
            </a:endParaRPr>
          </a:p>
        </p:txBody>
      </p:sp>
      <p:sp>
        <p:nvSpPr>
          <p:cNvPr id="114" name="Google Shape;114;p4"/>
          <p:cNvSpPr/>
          <p:nvPr/>
        </p:nvSpPr>
        <p:spPr>
          <a:xfrm>
            <a:off x="9597284" y="3342075"/>
            <a:ext cx="621600" cy="246900"/>
          </a:xfrm>
          <a:prstGeom prst="rect">
            <a:avLst/>
          </a:prstGeom>
          <a:noFill/>
          <a:ln>
            <a:noFill/>
          </a:ln>
        </p:spPr>
        <p:txBody>
          <a:bodyPr spcFirstLastPara="1" wrap="square" lIns="0" tIns="0" rIns="0" bIns="0" anchor="t" anchorCtr="0">
            <a:noAutofit/>
          </a:bodyPr>
          <a:lstStyle/>
          <a:p>
            <a:pPr marL="0" marR="0" lvl="0" indent="0" algn="l" rtl="0">
              <a:lnSpc>
                <a:spcPct val="158064"/>
              </a:lnSpc>
              <a:spcBef>
                <a:spcPts val="0"/>
              </a:spcBef>
              <a:spcAft>
                <a:spcPts val="0"/>
              </a:spcAft>
              <a:buClr>
                <a:srgbClr val="E2E6E9"/>
              </a:buClr>
              <a:buSzPts val="1550"/>
              <a:buFont typeface="Merriweather Light"/>
              <a:buNone/>
            </a:pPr>
            <a:r>
              <a:rPr lang="en-US" sz="1550">
                <a:solidFill>
                  <a:srgbClr val="E2E6E9"/>
                </a:solidFill>
                <a:latin typeface="Merriweather Light"/>
                <a:ea typeface="Merriweather Light"/>
                <a:cs typeface="Merriweather Light"/>
                <a:sym typeface="Merriweather Light"/>
              </a:rPr>
              <a:t>06</a:t>
            </a:r>
            <a:endParaRPr sz="1550">
              <a:solidFill>
                <a:schemeClr val="dk1"/>
              </a:solidFill>
              <a:latin typeface="Calibri"/>
              <a:ea typeface="Calibri"/>
              <a:cs typeface="Calibri"/>
              <a:sym typeface="Calibri"/>
            </a:endParaRPr>
          </a:p>
        </p:txBody>
      </p:sp>
      <p:sp>
        <p:nvSpPr>
          <p:cNvPr id="115" name="Google Shape;115;p4"/>
          <p:cNvSpPr/>
          <p:nvPr/>
        </p:nvSpPr>
        <p:spPr>
          <a:xfrm>
            <a:off x="9597271" y="3654743"/>
            <a:ext cx="4169331" cy="22860"/>
          </a:xfrm>
          <a:prstGeom prst="rect">
            <a:avLst/>
          </a:prstGeom>
          <a:solidFill>
            <a:srgbClr val="609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4"/>
          <p:cNvSpPr/>
          <p:nvPr/>
        </p:nvSpPr>
        <p:spPr>
          <a:xfrm>
            <a:off x="9597271" y="3799165"/>
            <a:ext cx="3220283" cy="308491"/>
          </a:xfrm>
          <a:prstGeom prst="rect">
            <a:avLst/>
          </a:prstGeom>
          <a:noFill/>
          <a:ln>
            <a:noFill/>
          </a:ln>
        </p:spPr>
        <p:txBody>
          <a:bodyPr spcFirstLastPara="1" wrap="square" lIns="0" tIns="0" rIns="0" bIns="0" anchor="t" anchorCtr="0">
            <a:noAutofit/>
          </a:bodyPr>
          <a:lstStyle/>
          <a:p>
            <a:pPr marL="0" marR="0" lvl="0" indent="0" algn="l" rtl="0">
              <a:lnSpc>
                <a:spcPct val="126315"/>
              </a:lnSpc>
              <a:spcBef>
                <a:spcPts val="0"/>
              </a:spcBef>
              <a:spcAft>
                <a:spcPts val="0"/>
              </a:spcAft>
              <a:buClr>
                <a:srgbClr val="E2E6E9"/>
              </a:buClr>
              <a:buSzPts val="1900"/>
              <a:buFont typeface="Merriweather"/>
              <a:buNone/>
            </a:pPr>
            <a:r>
              <a:rPr lang="en-US" sz="1900">
                <a:solidFill>
                  <a:srgbClr val="E2E6E9"/>
                </a:solidFill>
                <a:latin typeface="Merriweather"/>
                <a:ea typeface="Merriweather"/>
                <a:cs typeface="Merriweather"/>
                <a:sym typeface="Merriweather"/>
              </a:rPr>
              <a:t>Repeat until max iterations</a:t>
            </a:r>
            <a:endParaRPr sz="1900">
              <a:solidFill>
                <a:schemeClr val="dk1"/>
              </a:solidFill>
              <a:latin typeface="Calibri"/>
              <a:ea typeface="Calibri"/>
              <a:cs typeface="Calibri"/>
              <a:sym typeface="Calibri"/>
            </a:endParaRPr>
          </a:p>
        </p:txBody>
      </p:sp>
      <p:sp>
        <p:nvSpPr>
          <p:cNvPr id="117" name="Google Shape;117;p4"/>
          <p:cNvSpPr/>
          <p:nvPr/>
        </p:nvSpPr>
        <p:spPr>
          <a:xfrm>
            <a:off x="863806" y="4887525"/>
            <a:ext cx="832500" cy="246900"/>
          </a:xfrm>
          <a:prstGeom prst="rect">
            <a:avLst/>
          </a:prstGeom>
          <a:noFill/>
          <a:ln>
            <a:noFill/>
          </a:ln>
        </p:spPr>
        <p:txBody>
          <a:bodyPr spcFirstLastPara="1" wrap="square" lIns="0" tIns="0" rIns="0" bIns="0" anchor="t" anchorCtr="0">
            <a:noAutofit/>
          </a:bodyPr>
          <a:lstStyle/>
          <a:p>
            <a:pPr marL="0" marR="0" lvl="0" indent="0" algn="l" rtl="0">
              <a:lnSpc>
                <a:spcPct val="158064"/>
              </a:lnSpc>
              <a:spcBef>
                <a:spcPts val="0"/>
              </a:spcBef>
              <a:spcAft>
                <a:spcPts val="0"/>
              </a:spcAft>
              <a:buClr>
                <a:srgbClr val="E2E6E9"/>
              </a:buClr>
              <a:buSzPts val="1550"/>
              <a:buFont typeface="Merriweather Light"/>
              <a:buNone/>
            </a:pPr>
            <a:r>
              <a:rPr lang="en-US" sz="1550">
                <a:solidFill>
                  <a:srgbClr val="E2E6E9"/>
                </a:solidFill>
                <a:latin typeface="Merriweather Light"/>
                <a:ea typeface="Merriweather Light"/>
                <a:cs typeface="Merriweather Light"/>
                <a:sym typeface="Merriweather Light"/>
              </a:rPr>
              <a:t>07</a:t>
            </a:r>
            <a:endParaRPr sz="1550">
              <a:solidFill>
                <a:schemeClr val="dk1"/>
              </a:solidFill>
              <a:latin typeface="Calibri"/>
              <a:ea typeface="Calibri"/>
              <a:cs typeface="Calibri"/>
              <a:sym typeface="Calibri"/>
            </a:endParaRPr>
          </a:p>
        </p:txBody>
      </p:sp>
      <p:sp>
        <p:nvSpPr>
          <p:cNvPr id="118" name="Google Shape;118;p4"/>
          <p:cNvSpPr/>
          <p:nvPr/>
        </p:nvSpPr>
        <p:spPr>
          <a:xfrm>
            <a:off x="863798" y="5200174"/>
            <a:ext cx="12902803" cy="22860"/>
          </a:xfrm>
          <a:prstGeom prst="rect">
            <a:avLst/>
          </a:prstGeom>
          <a:solidFill>
            <a:srgbClr val="609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4"/>
          <p:cNvSpPr/>
          <p:nvPr/>
        </p:nvSpPr>
        <p:spPr>
          <a:xfrm>
            <a:off x="863798" y="5344597"/>
            <a:ext cx="2468285" cy="308491"/>
          </a:xfrm>
          <a:prstGeom prst="rect">
            <a:avLst/>
          </a:prstGeom>
          <a:noFill/>
          <a:ln>
            <a:noFill/>
          </a:ln>
        </p:spPr>
        <p:txBody>
          <a:bodyPr spcFirstLastPara="1" wrap="square" lIns="0" tIns="0" rIns="0" bIns="0" anchor="t" anchorCtr="0">
            <a:noAutofit/>
          </a:bodyPr>
          <a:lstStyle/>
          <a:p>
            <a:pPr marL="0" marR="0" lvl="0" indent="0" algn="l" rtl="0">
              <a:lnSpc>
                <a:spcPct val="126315"/>
              </a:lnSpc>
              <a:spcBef>
                <a:spcPts val="0"/>
              </a:spcBef>
              <a:spcAft>
                <a:spcPts val="0"/>
              </a:spcAft>
              <a:buClr>
                <a:srgbClr val="E2E6E9"/>
              </a:buClr>
              <a:buSzPts val="1900"/>
              <a:buFont typeface="Merriweather"/>
              <a:buNone/>
            </a:pPr>
            <a:r>
              <a:rPr lang="en-US" sz="1900">
                <a:solidFill>
                  <a:srgbClr val="E2E6E9"/>
                </a:solidFill>
                <a:latin typeface="Merriweather"/>
                <a:ea typeface="Merriweather"/>
                <a:cs typeface="Merriweather"/>
                <a:sym typeface="Merriweather"/>
              </a:rPr>
              <a:t>Best solution</a:t>
            </a:r>
            <a:endParaRPr sz="1900">
              <a:solidFill>
                <a:schemeClr val="dk1"/>
              </a:solidFill>
              <a:latin typeface="Calibri"/>
              <a:ea typeface="Calibri"/>
              <a:cs typeface="Calibri"/>
              <a:sym typeface="Calibri"/>
            </a:endParaRPr>
          </a:p>
        </p:txBody>
      </p:sp>
      <p:sp>
        <p:nvSpPr>
          <p:cNvPr id="120" name="Google Shape;120;p4"/>
          <p:cNvSpPr/>
          <p:nvPr/>
        </p:nvSpPr>
        <p:spPr>
          <a:xfrm>
            <a:off x="863798" y="5771555"/>
            <a:ext cx="12902803" cy="315992"/>
          </a:xfrm>
          <a:prstGeom prst="rect">
            <a:avLst/>
          </a:prstGeom>
          <a:noFill/>
          <a:ln>
            <a:noFill/>
          </a:ln>
        </p:spPr>
        <p:txBody>
          <a:bodyPr spcFirstLastPara="1" wrap="square" lIns="0" tIns="0" rIns="0" bIns="0" anchor="t" anchorCtr="0">
            <a:noAutofit/>
          </a:bodyPr>
          <a:lstStyle/>
          <a:p>
            <a:pPr marL="0" marR="0" lvl="0" indent="0" algn="l" rtl="0">
              <a:lnSpc>
                <a:spcPct val="158064"/>
              </a:lnSpc>
              <a:spcBef>
                <a:spcPts val="0"/>
              </a:spcBef>
              <a:spcAft>
                <a:spcPts val="0"/>
              </a:spcAft>
              <a:buClr>
                <a:srgbClr val="E2E6E9"/>
              </a:buClr>
              <a:buSzPts val="1550"/>
              <a:buFont typeface="Merriweather"/>
              <a:buNone/>
            </a:pPr>
            <a:r>
              <a:rPr lang="en-US" sz="1550">
                <a:solidFill>
                  <a:srgbClr val="E2E6E9"/>
                </a:solidFill>
                <a:latin typeface="Merriweather"/>
                <a:ea typeface="Merriweather"/>
                <a:cs typeface="Merriweather"/>
                <a:sym typeface="Merriweather"/>
              </a:rPr>
              <a:t>Optimized SVM parameters</a:t>
            </a:r>
            <a:endParaRPr sz="1550">
              <a:solidFill>
                <a:schemeClr val="dk1"/>
              </a:solidFill>
              <a:latin typeface="Calibri"/>
              <a:ea typeface="Calibri"/>
              <a:cs typeface="Calibri"/>
              <a:sym typeface="Calibri"/>
            </a:endParaRPr>
          </a:p>
        </p:txBody>
      </p:sp>
      <p:sp>
        <p:nvSpPr>
          <p:cNvPr id="121" name="Google Shape;121;p4"/>
          <p:cNvSpPr/>
          <p:nvPr/>
        </p:nvSpPr>
        <p:spPr>
          <a:xfrm>
            <a:off x="759854" y="6635234"/>
            <a:ext cx="4039080" cy="631984"/>
          </a:xfrm>
          <a:prstGeom prst="rect">
            <a:avLst/>
          </a:prstGeom>
          <a:noFill/>
          <a:ln>
            <a:noFill/>
          </a:ln>
        </p:spPr>
        <p:txBody>
          <a:bodyPr spcFirstLastPara="1" wrap="square" lIns="0" tIns="0" rIns="0" bIns="0" anchor="t" anchorCtr="0">
            <a:noAutofit/>
          </a:bodyPr>
          <a:lstStyle/>
          <a:p>
            <a:pPr marL="0" marR="0" lvl="0" indent="0" algn="ctr" rtl="0">
              <a:lnSpc>
                <a:spcPct val="153125"/>
              </a:lnSpc>
              <a:spcBef>
                <a:spcPts val="0"/>
              </a:spcBef>
              <a:spcAft>
                <a:spcPts val="0"/>
              </a:spcAft>
              <a:buNone/>
            </a:pPr>
            <a:r>
              <a:rPr lang="en-US" sz="1600" b="1">
                <a:solidFill>
                  <a:srgbClr val="E2E6E9"/>
                </a:solidFill>
                <a:latin typeface="Merriweather"/>
                <a:ea typeface="Merriweather"/>
                <a:cs typeface="Merriweather"/>
                <a:sym typeface="Merriweather"/>
              </a:rPr>
              <a:t>Wolves  represents </a:t>
            </a:r>
            <a:r>
              <a:rPr lang="en-US" sz="1600">
                <a:solidFill>
                  <a:srgbClr val="E2E6E9"/>
                </a:solidFill>
                <a:latin typeface="Merriweather"/>
                <a:ea typeface="Merriweather"/>
                <a:cs typeface="Merriweather"/>
                <a:sym typeface="Merriweather"/>
              </a:rPr>
              <a:t>feature subsets or parameter sets</a:t>
            </a:r>
            <a:endParaRPr sz="1600">
              <a:solidFill>
                <a:schemeClr val="dk1"/>
              </a:solidFill>
              <a:latin typeface="Calibri"/>
              <a:ea typeface="Calibri"/>
              <a:cs typeface="Calibri"/>
              <a:sym typeface="Calibri"/>
            </a:endParaRPr>
          </a:p>
          <a:p>
            <a:pPr marL="0" marR="0" lvl="0" indent="0" algn="ctr" rtl="0">
              <a:lnSpc>
                <a:spcPct val="153125"/>
              </a:lnSpc>
              <a:spcBef>
                <a:spcPts val="0"/>
              </a:spcBef>
              <a:spcAft>
                <a:spcPts val="0"/>
              </a:spcAft>
              <a:buClr>
                <a:schemeClr val="dk1"/>
              </a:buClr>
              <a:buSzPts val="1600"/>
              <a:buFont typeface="Calibri"/>
              <a:buNone/>
            </a:pPr>
            <a:endParaRPr sz="1600">
              <a:solidFill>
                <a:schemeClr val="dk1"/>
              </a:solidFill>
              <a:latin typeface="Calibri"/>
              <a:ea typeface="Calibri"/>
              <a:cs typeface="Calibri"/>
              <a:sym typeface="Calibri"/>
            </a:endParaRPr>
          </a:p>
        </p:txBody>
      </p:sp>
      <p:sp>
        <p:nvSpPr>
          <p:cNvPr id="122" name="Google Shape;122;p4"/>
          <p:cNvSpPr/>
          <p:nvPr/>
        </p:nvSpPr>
        <p:spPr>
          <a:xfrm>
            <a:off x="5288280" y="6635234"/>
            <a:ext cx="3935135" cy="631984"/>
          </a:xfrm>
          <a:prstGeom prst="rect">
            <a:avLst/>
          </a:prstGeom>
          <a:noFill/>
          <a:ln>
            <a:noFill/>
          </a:ln>
        </p:spPr>
        <p:txBody>
          <a:bodyPr spcFirstLastPara="1" wrap="square" lIns="0" tIns="0" rIns="0" bIns="0" anchor="t" anchorCtr="0">
            <a:noAutofit/>
          </a:bodyPr>
          <a:lstStyle/>
          <a:p>
            <a:pPr marL="0" marR="0" lvl="0" indent="0" algn="l" rtl="0">
              <a:lnSpc>
                <a:spcPct val="158064"/>
              </a:lnSpc>
              <a:spcBef>
                <a:spcPts val="0"/>
              </a:spcBef>
              <a:spcAft>
                <a:spcPts val="0"/>
              </a:spcAft>
              <a:buClr>
                <a:srgbClr val="E2E6E9"/>
              </a:buClr>
              <a:buSzPts val="1550"/>
              <a:buFont typeface="Merriweather"/>
              <a:buNone/>
            </a:pPr>
            <a:r>
              <a:rPr lang="en-US" sz="1550" b="1">
                <a:solidFill>
                  <a:srgbClr val="E2E6E9"/>
                </a:solidFill>
                <a:latin typeface="Merriweather"/>
                <a:ea typeface="Merriweather"/>
                <a:cs typeface="Merriweather"/>
                <a:sym typeface="Merriweather"/>
              </a:rPr>
              <a:t>Fitness =</a:t>
            </a:r>
            <a:r>
              <a:rPr lang="en-US" sz="1550">
                <a:solidFill>
                  <a:srgbClr val="E2E6E9"/>
                </a:solidFill>
                <a:latin typeface="Merriweather"/>
                <a:ea typeface="Merriweather"/>
                <a:cs typeface="Merriweather"/>
                <a:sym typeface="Merriweather"/>
              </a:rPr>
              <a:t> Accuracy - penalty (for too many features)</a:t>
            </a:r>
            <a:endParaRPr sz="1550">
              <a:solidFill>
                <a:schemeClr val="dk1"/>
              </a:solidFill>
              <a:latin typeface="Calibri"/>
              <a:ea typeface="Calibri"/>
              <a:cs typeface="Calibri"/>
              <a:sym typeface="Calibri"/>
            </a:endParaRPr>
          </a:p>
        </p:txBody>
      </p:sp>
      <p:sp>
        <p:nvSpPr>
          <p:cNvPr id="123" name="Google Shape;123;p4"/>
          <p:cNvSpPr/>
          <p:nvPr/>
        </p:nvSpPr>
        <p:spPr>
          <a:xfrm>
            <a:off x="9712762" y="6635234"/>
            <a:ext cx="4068961" cy="631984"/>
          </a:xfrm>
          <a:prstGeom prst="rect">
            <a:avLst/>
          </a:prstGeom>
          <a:noFill/>
          <a:ln>
            <a:noFill/>
          </a:ln>
        </p:spPr>
        <p:txBody>
          <a:bodyPr spcFirstLastPara="1" wrap="square" lIns="0" tIns="0" rIns="0" bIns="0" anchor="t" anchorCtr="0">
            <a:noAutofit/>
          </a:bodyPr>
          <a:lstStyle/>
          <a:p>
            <a:pPr marL="0" marR="0" lvl="0" indent="0" algn="l" rtl="0">
              <a:lnSpc>
                <a:spcPct val="158064"/>
              </a:lnSpc>
              <a:spcBef>
                <a:spcPts val="0"/>
              </a:spcBef>
              <a:spcAft>
                <a:spcPts val="0"/>
              </a:spcAft>
              <a:buClr>
                <a:srgbClr val="E2E6E9"/>
              </a:buClr>
              <a:buSzPts val="1550"/>
              <a:buFont typeface="Merriweather"/>
              <a:buNone/>
            </a:pPr>
            <a:r>
              <a:rPr lang="en-US" sz="1550" b="1">
                <a:solidFill>
                  <a:srgbClr val="E2E6E9"/>
                </a:solidFill>
                <a:latin typeface="Merriweather"/>
                <a:ea typeface="Merriweather"/>
                <a:cs typeface="Merriweather"/>
                <a:sym typeface="Merriweather"/>
              </a:rPr>
              <a:t>Quantum mechanism</a:t>
            </a:r>
            <a:r>
              <a:rPr lang="en-US" sz="1550">
                <a:solidFill>
                  <a:srgbClr val="E2E6E9"/>
                </a:solidFill>
                <a:latin typeface="Merriweather"/>
                <a:ea typeface="Merriweather"/>
                <a:cs typeface="Merriweather"/>
                <a:sym typeface="Merriweather"/>
              </a:rPr>
              <a:t> ensures global exploration, mutation maintains diversity</a:t>
            </a:r>
            <a:endParaRPr sz="1550">
              <a:solidFill>
                <a:schemeClr val="dk1"/>
              </a:solidFill>
              <a:latin typeface="Calibri"/>
              <a:ea typeface="Calibri"/>
              <a:cs typeface="Calibri"/>
              <a:sym typeface="Calibri"/>
            </a:endParaRPr>
          </a:p>
        </p:txBody>
      </p:sp>
      <p:pic>
        <p:nvPicPr>
          <p:cNvPr id="124" name="Google Shape;124;p4"/>
          <p:cNvPicPr preferRelativeResize="0"/>
          <p:nvPr/>
        </p:nvPicPr>
        <p:blipFill rotWithShape="1">
          <a:blip r:embed="rId3">
            <a:alphaModFix/>
          </a:blip>
          <a:srcRect/>
          <a:stretch/>
        </p:blipFill>
        <p:spPr>
          <a:xfrm>
            <a:off x="12817554" y="7745706"/>
            <a:ext cx="1721502" cy="43495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5"/>
          <p:cNvSpPr/>
          <p:nvPr/>
        </p:nvSpPr>
        <p:spPr>
          <a:xfrm>
            <a:off x="1020167" y="1050131"/>
            <a:ext cx="12902803" cy="1156811"/>
          </a:xfrm>
          <a:prstGeom prst="rect">
            <a:avLst/>
          </a:prstGeom>
          <a:noFill/>
          <a:ln>
            <a:noFill/>
          </a:ln>
        </p:spPr>
        <p:txBody>
          <a:bodyPr spcFirstLastPara="1" wrap="square" lIns="0" tIns="0" rIns="0" bIns="0" anchor="t" anchorCtr="0">
            <a:noAutofit/>
          </a:bodyPr>
          <a:lstStyle/>
          <a:p>
            <a:pPr marL="0" marR="0" lvl="0" indent="0" algn="ctr" rtl="0">
              <a:lnSpc>
                <a:spcPct val="126388"/>
              </a:lnSpc>
              <a:spcBef>
                <a:spcPts val="0"/>
              </a:spcBef>
              <a:spcAft>
                <a:spcPts val="0"/>
              </a:spcAft>
              <a:buClr>
                <a:srgbClr val="F5F0F0"/>
              </a:buClr>
              <a:buSzPts val="3600"/>
              <a:buFont typeface="Merriweather"/>
              <a:buNone/>
            </a:pPr>
            <a:r>
              <a:rPr lang="en-US" sz="3600">
                <a:solidFill>
                  <a:srgbClr val="F5F0F0"/>
                </a:solidFill>
                <a:latin typeface="Merriweather"/>
                <a:ea typeface="Merriweather"/>
                <a:cs typeface="Merriweather"/>
                <a:sym typeface="Merriweather"/>
              </a:rPr>
              <a:t>Extending the Research Paper — Multi-Dataset Application</a:t>
            </a:r>
            <a:endParaRPr sz="3600">
              <a:solidFill>
                <a:schemeClr val="dk1"/>
              </a:solidFill>
              <a:latin typeface="Calibri"/>
              <a:ea typeface="Calibri"/>
              <a:cs typeface="Calibri"/>
              <a:sym typeface="Calibri"/>
            </a:endParaRPr>
          </a:p>
        </p:txBody>
      </p:sp>
      <p:sp>
        <p:nvSpPr>
          <p:cNvPr id="131" name="Google Shape;131;p5"/>
          <p:cNvSpPr/>
          <p:nvPr/>
        </p:nvSpPr>
        <p:spPr>
          <a:xfrm>
            <a:off x="59461" y="3103834"/>
            <a:ext cx="13502585" cy="347067"/>
          </a:xfrm>
          <a:prstGeom prst="rect">
            <a:avLst/>
          </a:prstGeom>
          <a:noFill/>
          <a:ln>
            <a:noFill/>
          </a:ln>
        </p:spPr>
        <p:txBody>
          <a:bodyPr spcFirstLastPara="1" wrap="square" lIns="0" tIns="0" rIns="0" bIns="0" anchor="t" anchorCtr="0">
            <a:noAutofit/>
          </a:bodyPr>
          <a:lstStyle/>
          <a:p>
            <a:pPr marL="0" marR="0" lvl="0" indent="0" algn="ctr" rtl="0">
              <a:lnSpc>
                <a:spcPct val="112500"/>
              </a:lnSpc>
              <a:spcBef>
                <a:spcPts val="0"/>
              </a:spcBef>
              <a:spcAft>
                <a:spcPts val="0"/>
              </a:spcAft>
              <a:buNone/>
            </a:pPr>
            <a:r>
              <a:rPr lang="en-US" sz="2150">
                <a:solidFill>
                  <a:srgbClr val="F5F0F0"/>
                </a:solidFill>
                <a:latin typeface="Merriweather"/>
                <a:ea typeface="Merriweather"/>
                <a:cs typeface="Merriweather"/>
                <a:sym typeface="Merriweather"/>
              </a:rPr>
              <a:t>Original Paper - </a:t>
            </a:r>
            <a:r>
              <a:rPr lang="en-US" sz="2400">
                <a:solidFill>
                  <a:srgbClr val="E2E6E9"/>
                </a:solidFill>
                <a:latin typeface="Merriweather"/>
                <a:ea typeface="Merriweather"/>
                <a:cs typeface="Merriweather"/>
                <a:sym typeface="Merriweather"/>
              </a:rPr>
              <a:t>Focused only on </a:t>
            </a:r>
            <a:r>
              <a:rPr lang="en-US" sz="2400" i="1">
                <a:solidFill>
                  <a:srgbClr val="E2E6E9"/>
                </a:solidFill>
                <a:latin typeface="Merriweather"/>
                <a:ea typeface="Merriweather"/>
                <a:cs typeface="Merriweather"/>
                <a:sym typeface="Merriweather"/>
              </a:rPr>
              <a:t>Breast Cancer Dataset</a:t>
            </a:r>
            <a:endParaRPr sz="2400">
              <a:solidFill>
                <a:schemeClr val="dk1"/>
              </a:solidFill>
              <a:latin typeface="Calibri"/>
              <a:ea typeface="Calibri"/>
              <a:cs typeface="Calibri"/>
              <a:sym typeface="Calibri"/>
            </a:endParaRPr>
          </a:p>
          <a:p>
            <a:pPr marL="0" marR="0" lvl="0" indent="0" algn="ctr" rtl="0">
              <a:lnSpc>
                <a:spcPct val="125581"/>
              </a:lnSpc>
              <a:spcBef>
                <a:spcPts val="0"/>
              </a:spcBef>
              <a:spcAft>
                <a:spcPts val="0"/>
              </a:spcAft>
              <a:buClr>
                <a:schemeClr val="dk1"/>
              </a:buClr>
              <a:buSzPts val="2150"/>
              <a:buFont typeface="Calibri"/>
              <a:buNone/>
            </a:pPr>
            <a:endParaRPr sz="2150">
              <a:solidFill>
                <a:schemeClr val="dk1"/>
              </a:solidFill>
              <a:latin typeface="Calibri"/>
              <a:ea typeface="Calibri"/>
              <a:cs typeface="Calibri"/>
              <a:sym typeface="Calibri"/>
            </a:endParaRPr>
          </a:p>
        </p:txBody>
      </p:sp>
      <p:sp>
        <p:nvSpPr>
          <p:cNvPr id="132" name="Google Shape;132;p5"/>
          <p:cNvSpPr/>
          <p:nvPr/>
        </p:nvSpPr>
        <p:spPr>
          <a:xfrm>
            <a:off x="4329123" y="4062700"/>
            <a:ext cx="4963262" cy="347067"/>
          </a:xfrm>
          <a:prstGeom prst="rect">
            <a:avLst/>
          </a:prstGeom>
          <a:noFill/>
          <a:ln>
            <a:noFill/>
          </a:ln>
        </p:spPr>
        <p:txBody>
          <a:bodyPr spcFirstLastPara="1" wrap="square" lIns="0" tIns="0" rIns="0" bIns="0" anchor="t" anchorCtr="0">
            <a:noAutofit/>
          </a:bodyPr>
          <a:lstStyle/>
          <a:p>
            <a:pPr marL="0" marR="0" lvl="0" indent="0" algn="ctr" rtl="0">
              <a:lnSpc>
                <a:spcPct val="125581"/>
              </a:lnSpc>
              <a:spcBef>
                <a:spcPts val="0"/>
              </a:spcBef>
              <a:spcAft>
                <a:spcPts val="0"/>
              </a:spcAft>
              <a:buClr>
                <a:srgbClr val="F5F0F0"/>
              </a:buClr>
              <a:buSzPts val="2150"/>
              <a:buFont typeface="Merriweather"/>
              <a:buNone/>
            </a:pPr>
            <a:r>
              <a:rPr lang="en-US" sz="2150">
                <a:solidFill>
                  <a:srgbClr val="F5F0F0"/>
                </a:solidFill>
                <a:latin typeface="Merriweather"/>
                <a:ea typeface="Merriweather"/>
                <a:cs typeface="Merriweather"/>
                <a:sym typeface="Merriweather"/>
              </a:rPr>
              <a:t>OUR Implementation</a:t>
            </a:r>
            <a:endParaRPr sz="2150">
              <a:solidFill>
                <a:schemeClr val="dk1"/>
              </a:solidFill>
              <a:latin typeface="Calibri"/>
              <a:ea typeface="Calibri"/>
              <a:cs typeface="Calibri"/>
              <a:sym typeface="Calibri"/>
            </a:endParaRPr>
          </a:p>
        </p:txBody>
      </p:sp>
      <p:sp>
        <p:nvSpPr>
          <p:cNvPr id="133" name="Google Shape;133;p5"/>
          <p:cNvSpPr/>
          <p:nvPr/>
        </p:nvSpPr>
        <p:spPr>
          <a:xfrm>
            <a:off x="4411013" y="4603202"/>
            <a:ext cx="6225659" cy="296228"/>
          </a:xfrm>
          <a:prstGeom prst="rect">
            <a:avLst/>
          </a:prstGeom>
          <a:noFill/>
          <a:ln>
            <a:noFill/>
          </a:ln>
        </p:spPr>
        <p:txBody>
          <a:bodyPr spcFirstLastPara="1" wrap="square" lIns="0" tIns="0" rIns="0" bIns="0" anchor="t" anchorCtr="0">
            <a:noAutofit/>
          </a:bodyPr>
          <a:lstStyle/>
          <a:p>
            <a:pPr marL="0" marR="0" lvl="0" indent="0" algn="l" rtl="0">
              <a:lnSpc>
                <a:spcPct val="127777"/>
              </a:lnSpc>
              <a:spcBef>
                <a:spcPts val="0"/>
              </a:spcBef>
              <a:spcAft>
                <a:spcPts val="0"/>
              </a:spcAft>
              <a:buNone/>
            </a:pPr>
            <a:r>
              <a:rPr lang="en-US" sz="1800">
                <a:solidFill>
                  <a:schemeClr val="lt1"/>
                </a:solidFill>
                <a:latin typeface="Calibri"/>
                <a:ea typeface="Calibri"/>
                <a:cs typeface="Calibri"/>
                <a:sym typeface="Calibri"/>
              </a:rPr>
              <a:t>Generalizes the algorithm for any image-based dataset</a:t>
            </a:r>
            <a:endParaRPr/>
          </a:p>
        </p:txBody>
      </p:sp>
      <p:sp>
        <p:nvSpPr>
          <p:cNvPr id="134" name="Google Shape;134;p5"/>
          <p:cNvSpPr/>
          <p:nvPr/>
        </p:nvSpPr>
        <p:spPr>
          <a:xfrm>
            <a:off x="655916" y="5286299"/>
            <a:ext cx="4177546" cy="1408509"/>
          </a:xfrm>
          <a:prstGeom prst="roundRect">
            <a:avLst>
              <a:gd name="adj" fmla="val 5520"/>
            </a:avLst>
          </a:prstGeom>
          <a:solidFill>
            <a:srgbClr val="09151A">
              <a:alpha val="94901"/>
            </a:srgbClr>
          </a:solidFill>
          <a:ln w="22850" cap="flat" cmpd="sng">
            <a:solidFill>
              <a:srgbClr val="194A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5"/>
          <p:cNvSpPr/>
          <p:nvPr/>
        </p:nvSpPr>
        <p:spPr>
          <a:xfrm>
            <a:off x="863798" y="5559987"/>
            <a:ext cx="2313980" cy="289322"/>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E2E6E9"/>
              </a:buClr>
              <a:buSzPts val="1800"/>
              <a:buFont typeface="Merriweather"/>
              <a:buNone/>
            </a:pPr>
            <a:r>
              <a:rPr lang="en-US" sz="1800">
                <a:solidFill>
                  <a:srgbClr val="E2E6E9"/>
                </a:solidFill>
                <a:latin typeface="Merriweather"/>
                <a:ea typeface="Merriweather"/>
                <a:cs typeface="Merriweather"/>
                <a:sym typeface="Merriweather"/>
              </a:rPr>
              <a:t>Robust Evaluation</a:t>
            </a:r>
            <a:endParaRPr sz="1800">
              <a:solidFill>
                <a:schemeClr val="dk1"/>
              </a:solidFill>
              <a:latin typeface="Calibri"/>
              <a:ea typeface="Calibri"/>
              <a:cs typeface="Calibri"/>
              <a:sym typeface="Calibri"/>
            </a:endParaRPr>
          </a:p>
        </p:txBody>
      </p:sp>
      <p:sp>
        <p:nvSpPr>
          <p:cNvPr id="136" name="Google Shape;136;p5"/>
          <p:cNvSpPr/>
          <p:nvPr/>
        </p:nvSpPr>
        <p:spPr>
          <a:xfrm>
            <a:off x="1071682" y="6587014"/>
            <a:ext cx="3761780" cy="296228"/>
          </a:xfrm>
          <a:prstGeom prst="rect">
            <a:avLst/>
          </a:prstGeom>
          <a:noFill/>
          <a:ln>
            <a:noFill/>
          </a:ln>
        </p:spPr>
        <p:txBody>
          <a:bodyPr spcFirstLastPara="1" wrap="square" lIns="0" tIns="0" rIns="0" bIns="0" anchor="t" anchorCtr="0">
            <a:noAutofit/>
          </a:bodyPr>
          <a:lstStyle/>
          <a:p>
            <a:pPr marL="0" marR="0" lvl="0" indent="0" algn="l" rtl="0">
              <a:lnSpc>
                <a:spcPct val="158620"/>
              </a:lnSpc>
              <a:spcBef>
                <a:spcPts val="0"/>
              </a:spcBef>
              <a:spcAft>
                <a:spcPts val="0"/>
              </a:spcAft>
              <a:buClr>
                <a:schemeClr val="dk1"/>
              </a:buClr>
              <a:buSzPts val="1450"/>
              <a:buFont typeface="Calibri"/>
              <a:buNone/>
            </a:pPr>
            <a:endParaRPr sz="1450">
              <a:solidFill>
                <a:schemeClr val="dk1"/>
              </a:solidFill>
              <a:latin typeface="Calibri"/>
              <a:ea typeface="Calibri"/>
              <a:cs typeface="Calibri"/>
              <a:sym typeface="Calibri"/>
            </a:endParaRPr>
          </a:p>
        </p:txBody>
      </p:sp>
      <p:sp>
        <p:nvSpPr>
          <p:cNvPr id="137" name="Google Shape;137;p5"/>
          <p:cNvSpPr/>
          <p:nvPr/>
        </p:nvSpPr>
        <p:spPr>
          <a:xfrm>
            <a:off x="5105203" y="5364628"/>
            <a:ext cx="4177546" cy="1408509"/>
          </a:xfrm>
          <a:prstGeom prst="roundRect">
            <a:avLst>
              <a:gd name="adj" fmla="val 5520"/>
            </a:avLst>
          </a:prstGeom>
          <a:solidFill>
            <a:srgbClr val="09151A">
              <a:alpha val="94901"/>
            </a:srgbClr>
          </a:solidFill>
          <a:ln w="22850" cap="flat" cmpd="sng">
            <a:solidFill>
              <a:srgbClr val="194A9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8" name="Google Shape;138;p5"/>
          <p:cNvSpPr/>
          <p:nvPr/>
        </p:nvSpPr>
        <p:spPr>
          <a:xfrm>
            <a:off x="5350538" y="5415326"/>
            <a:ext cx="3656984" cy="452772"/>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E2E6E9"/>
              </a:buClr>
              <a:buSzPts val="1800"/>
              <a:buFont typeface="Merriweather"/>
              <a:buNone/>
            </a:pPr>
            <a:r>
              <a:rPr lang="en-US" sz="1800" dirty="0">
                <a:solidFill>
                  <a:srgbClr val="E2E6E9"/>
                </a:solidFill>
                <a:latin typeface="Merriweather"/>
                <a:ea typeface="Merriweather"/>
                <a:cs typeface="Merriweather"/>
                <a:sym typeface="Merriweather"/>
              </a:rPr>
              <a:t>Comparative Benchmarking</a:t>
            </a:r>
            <a:endParaRPr sz="1800" dirty="0">
              <a:solidFill>
                <a:schemeClr val="dk1"/>
              </a:solidFill>
              <a:latin typeface="Calibri"/>
              <a:ea typeface="Calibri"/>
              <a:cs typeface="Calibri"/>
              <a:sym typeface="Calibri"/>
            </a:endParaRPr>
          </a:p>
        </p:txBody>
      </p:sp>
      <p:sp>
        <p:nvSpPr>
          <p:cNvPr id="139" name="Google Shape;139;p5"/>
          <p:cNvSpPr/>
          <p:nvPr/>
        </p:nvSpPr>
        <p:spPr>
          <a:xfrm>
            <a:off x="5391930" y="5868098"/>
            <a:ext cx="3761780" cy="592455"/>
          </a:xfrm>
          <a:prstGeom prst="rect">
            <a:avLst/>
          </a:prstGeom>
          <a:noFill/>
          <a:ln>
            <a:noFill/>
          </a:ln>
        </p:spPr>
        <p:txBody>
          <a:bodyPr spcFirstLastPara="1" wrap="square" lIns="0" tIns="0" rIns="0" bIns="0" anchor="t" anchorCtr="0">
            <a:noAutofit/>
          </a:bodyPr>
          <a:lstStyle/>
          <a:p>
            <a:pPr marL="0" marR="0" lvl="0" indent="0" algn="l" rtl="0">
              <a:lnSpc>
                <a:spcPct val="158620"/>
              </a:lnSpc>
              <a:spcBef>
                <a:spcPts val="0"/>
              </a:spcBef>
              <a:spcAft>
                <a:spcPts val="0"/>
              </a:spcAft>
              <a:buNone/>
            </a:pPr>
            <a:r>
              <a:rPr lang="en-US" sz="1450">
                <a:solidFill>
                  <a:srgbClr val="E2E6E9"/>
                </a:solidFill>
                <a:latin typeface="Merriweather"/>
                <a:ea typeface="Merriweather"/>
                <a:cs typeface="Merriweather"/>
                <a:sym typeface="Merriweather"/>
              </a:rPr>
              <a:t>Uses Random Forest as a secondary classifier after feature selection</a:t>
            </a:r>
            <a:endParaRPr sz="1450">
              <a:solidFill>
                <a:schemeClr val="dk1"/>
              </a:solidFill>
              <a:latin typeface="Calibri"/>
              <a:ea typeface="Calibri"/>
              <a:cs typeface="Calibri"/>
              <a:sym typeface="Calibri"/>
            </a:endParaRPr>
          </a:p>
        </p:txBody>
      </p:sp>
      <p:sp>
        <p:nvSpPr>
          <p:cNvPr id="140" name="Google Shape;140;p5"/>
          <p:cNvSpPr/>
          <p:nvPr/>
        </p:nvSpPr>
        <p:spPr>
          <a:xfrm>
            <a:off x="9528084" y="5370747"/>
            <a:ext cx="4177546" cy="1408509"/>
          </a:xfrm>
          <a:prstGeom prst="roundRect">
            <a:avLst>
              <a:gd name="adj" fmla="val 5520"/>
            </a:avLst>
          </a:prstGeom>
          <a:solidFill>
            <a:srgbClr val="09151A">
              <a:alpha val="94901"/>
            </a:srgbClr>
          </a:solidFill>
          <a:ln w="22850" cap="flat" cmpd="sng">
            <a:solidFill>
              <a:srgbClr val="194A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5"/>
          <p:cNvSpPr/>
          <p:nvPr/>
        </p:nvSpPr>
        <p:spPr>
          <a:xfrm>
            <a:off x="9693789" y="5474978"/>
            <a:ext cx="3414885" cy="515574"/>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E2E6E9"/>
              </a:buClr>
              <a:buSzPts val="1800"/>
              <a:buFont typeface="Merriweather"/>
              <a:buNone/>
            </a:pPr>
            <a:r>
              <a:rPr lang="en-US" sz="1800" dirty="0">
                <a:solidFill>
                  <a:srgbClr val="E2E6E9"/>
                </a:solidFill>
                <a:latin typeface="Merriweather"/>
                <a:ea typeface="Merriweather"/>
                <a:cs typeface="Merriweather"/>
                <a:sym typeface="Merriweather"/>
              </a:rPr>
              <a:t>Modular Configuration</a:t>
            </a:r>
            <a:endParaRPr sz="1800" dirty="0">
              <a:solidFill>
                <a:schemeClr val="dk1"/>
              </a:solidFill>
              <a:latin typeface="Calibri"/>
              <a:ea typeface="Calibri"/>
              <a:cs typeface="Calibri"/>
              <a:sym typeface="Calibri"/>
            </a:endParaRPr>
          </a:p>
        </p:txBody>
      </p:sp>
      <p:sp>
        <p:nvSpPr>
          <p:cNvPr id="142" name="Google Shape;142;p5"/>
          <p:cNvSpPr/>
          <p:nvPr/>
        </p:nvSpPr>
        <p:spPr>
          <a:xfrm>
            <a:off x="9693789" y="5990553"/>
            <a:ext cx="3947147" cy="515574"/>
          </a:xfrm>
          <a:prstGeom prst="rect">
            <a:avLst/>
          </a:prstGeom>
          <a:noFill/>
          <a:ln>
            <a:noFill/>
          </a:ln>
        </p:spPr>
        <p:txBody>
          <a:bodyPr spcFirstLastPara="1" wrap="square" lIns="0" tIns="0" rIns="0" bIns="0" anchor="t" anchorCtr="0">
            <a:noAutofit/>
          </a:bodyPr>
          <a:lstStyle/>
          <a:p>
            <a:pPr marL="0" marR="0" lvl="0" indent="0" algn="l" rtl="0">
              <a:lnSpc>
                <a:spcPct val="158620"/>
              </a:lnSpc>
              <a:spcBef>
                <a:spcPts val="0"/>
              </a:spcBef>
              <a:spcAft>
                <a:spcPts val="0"/>
              </a:spcAft>
              <a:buClr>
                <a:srgbClr val="E2E6E9"/>
              </a:buClr>
              <a:buSzPts val="1450"/>
              <a:buFont typeface="Merriweather"/>
              <a:buNone/>
            </a:pPr>
            <a:r>
              <a:rPr lang="en-US" sz="1450" dirty="0">
                <a:solidFill>
                  <a:srgbClr val="E2E6E9"/>
                </a:solidFill>
                <a:latin typeface="Merriweather"/>
                <a:ea typeface="Merriweather"/>
                <a:cs typeface="Merriweather"/>
                <a:sym typeface="Merriweather"/>
              </a:rPr>
              <a:t>Introduces CONFIG dictionary for flexibility</a:t>
            </a:r>
            <a:endParaRPr sz="1450" dirty="0">
              <a:solidFill>
                <a:schemeClr val="dk1"/>
              </a:solidFill>
              <a:latin typeface="Calibri"/>
              <a:ea typeface="Calibri"/>
              <a:cs typeface="Calibri"/>
              <a:sym typeface="Calibri"/>
            </a:endParaRPr>
          </a:p>
        </p:txBody>
      </p:sp>
      <p:sp>
        <p:nvSpPr>
          <p:cNvPr id="143" name="Google Shape;143;p5"/>
          <p:cNvSpPr txBox="1"/>
          <p:nvPr/>
        </p:nvSpPr>
        <p:spPr>
          <a:xfrm>
            <a:off x="756150" y="6075002"/>
            <a:ext cx="365486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lt1"/>
                </a:solidFill>
                <a:latin typeface="Calibri"/>
                <a:ea typeface="Calibri"/>
                <a:cs typeface="Calibri"/>
                <a:sym typeface="Calibri"/>
              </a:rPr>
              <a:t>Supports train/validation/test splits</a:t>
            </a:r>
            <a:endParaRPr/>
          </a:p>
        </p:txBody>
      </p:sp>
      <p:pic>
        <p:nvPicPr>
          <p:cNvPr id="144" name="Google Shape;144;p5"/>
          <p:cNvPicPr preferRelativeResize="0"/>
          <p:nvPr/>
        </p:nvPicPr>
        <p:blipFill rotWithShape="1">
          <a:blip r:embed="rId3">
            <a:alphaModFix/>
          </a:blip>
          <a:srcRect/>
          <a:stretch/>
        </p:blipFill>
        <p:spPr>
          <a:xfrm>
            <a:off x="12692131" y="6987717"/>
            <a:ext cx="1834046" cy="117281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6"/>
          <p:cNvSpPr/>
          <p:nvPr/>
        </p:nvSpPr>
        <p:spPr>
          <a:xfrm>
            <a:off x="681990" y="536972"/>
            <a:ext cx="6690124" cy="395883"/>
          </a:xfrm>
          <a:prstGeom prst="rect">
            <a:avLst/>
          </a:prstGeom>
          <a:noFill/>
          <a:ln>
            <a:noFill/>
          </a:ln>
        </p:spPr>
        <p:txBody>
          <a:bodyPr spcFirstLastPara="1" wrap="square" lIns="0" tIns="0" rIns="0" bIns="0" anchor="t" anchorCtr="0">
            <a:noAutofit/>
          </a:bodyPr>
          <a:lstStyle/>
          <a:p>
            <a:pPr marL="0" marR="0" lvl="0" indent="0" algn="l" rtl="0">
              <a:lnSpc>
                <a:spcPct val="126530"/>
              </a:lnSpc>
              <a:spcBef>
                <a:spcPts val="0"/>
              </a:spcBef>
              <a:spcAft>
                <a:spcPts val="0"/>
              </a:spcAft>
              <a:buClr>
                <a:srgbClr val="F5F0F0"/>
              </a:buClr>
              <a:buSzPts val="2450"/>
              <a:buFont typeface="Merriweather"/>
              <a:buNone/>
            </a:pPr>
            <a:r>
              <a:rPr lang="en-US" sz="2450" dirty="0">
                <a:solidFill>
                  <a:srgbClr val="F5F0F0"/>
                </a:solidFill>
                <a:latin typeface="Merriweather"/>
                <a:ea typeface="Merriweather"/>
                <a:cs typeface="Merriweather"/>
                <a:sym typeface="Merriweather"/>
              </a:rPr>
              <a:t>Flow of Your IQI-GWO Implementation</a:t>
            </a:r>
            <a:endParaRPr sz="2450" dirty="0">
              <a:solidFill>
                <a:schemeClr val="dk1"/>
              </a:solidFill>
              <a:latin typeface="Calibri"/>
              <a:ea typeface="Calibri"/>
              <a:cs typeface="Calibri"/>
              <a:sym typeface="Calibri"/>
            </a:endParaRPr>
          </a:p>
        </p:txBody>
      </p:sp>
      <p:pic>
        <p:nvPicPr>
          <p:cNvPr id="151" name="Google Shape;151;p6" descr="preencoded.png"/>
          <p:cNvPicPr preferRelativeResize="0"/>
          <p:nvPr/>
        </p:nvPicPr>
        <p:blipFill rotWithShape="1">
          <a:blip r:embed="rId3">
            <a:alphaModFix/>
          </a:blip>
          <a:srcRect/>
          <a:stretch/>
        </p:blipFill>
        <p:spPr>
          <a:xfrm>
            <a:off x="681990" y="1186101"/>
            <a:ext cx="379928" cy="1143000"/>
          </a:xfrm>
          <a:prstGeom prst="rect">
            <a:avLst/>
          </a:prstGeom>
          <a:noFill/>
          <a:ln>
            <a:noFill/>
          </a:ln>
        </p:spPr>
      </p:pic>
      <p:sp>
        <p:nvSpPr>
          <p:cNvPr id="152" name="Google Shape;152;p6"/>
          <p:cNvSpPr/>
          <p:nvPr/>
        </p:nvSpPr>
        <p:spPr>
          <a:xfrm>
            <a:off x="1188482" y="1312664"/>
            <a:ext cx="1583293" cy="197882"/>
          </a:xfrm>
          <a:prstGeom prst="rect">
            <a:avLst/>
          </a:prstGeom>
          <a:noFill/>
          <a:ln>
            <a:noFill/>
          </a:ln>
        </p:spPr>
        <p:txBody>
          <a:bodyPr spcFirstLastPara="1" wrap="square" lIns="0" tIns="0" rIns="0" bIns="0" anchor="t" anchorCtr="0">
            <a:noAutofit/>
          </a:bodyPr>
          <a:lstStyle/>
          <a:p>
            <a:pPr marL="0" marR="0" lvl="0" indent="0" algn="l" rtl="0">
              <a:lnSpc>
                <a:spcPct val="129166"/>
              </a:lnSpc>
              <a:spcBef>
                <a:spcPts val="0"/>
              </a:spcBef>
              <a:spcAft>
                <a:spcPts val="0"/>
              </a:spcAft>
              <a:buClr>
                <a:srgbClr val="E2E6E9"/>
              </a:buClr>
              <a:buSzPts val="1200"/>
              <a:buFont typeface="Merriweather"/>
              <a:buNone/>
            </a:pPr>
            <a:r>
              <a:rPr lang="en-US" sz="1200">
                <a:solidFill>
                  <a:srgbClr val="E2E6E9"/>
                </a:solidFill>
                <a:latin typeface="Merriweather"/>
                <a:ea typeface="Merriweather"/>
                <a:cs typeface="Merriweather"/>
                <a:sym typeface="Merriweather"/>
              </a:rPr>
              <a:t>Dataset Loading</a:t>
            </a:r>
            <a:endParaRPr sz="1200">
              <a:solidFill>
                <a:schemeClr val="dk1"/>
              </a:solidFill>
              <a:latin typeface="Calibri"/>
              <a:ea typeface="Calibri"/>
              <a:cs typeface="Calibri"/>
              <a:sym typeface="Calibri"/>
            </a:endParaRPr>
          </a:p>
        </p:txBody>
      </p:sp>
      <p:sp>
        <p:nvSpPr>
          <p:cNvPr id="153" name="Google Shape;153;p6"/>
          <p:cNvSpPr/>
          <p:nvPr/>
        </p:nvSpPr>
        <p:spPr>
          <a:xfrm>
            <a:off x="1188482" y="1586508"/>
            <a:ext cx="12759928" cy="202644"/>
          </a:xfrm>
          <a:prstGeom prst="rect">
            <a:avLst/>
          </a:prstGeom>
          <a:noFill/>
          <a:ln>
            <a:noFill/>
          </a:ln>
        </p:spPr>
        <p:txBody>
          <a:bodyPr spcFirstLastPara="1" wrap="square" lIns="0" tIns="0" rIns="0" bIns="0" anchor="t" anchorCtr="0">
            <a:noAutofit/>
          </a:bodyPr>
          <a:lstStyle/>
          <a:p>
            <a:pPr marL="0" marR="0" lvl="0" indent="0" algn="l" rtl="0">
              <a:lnSpc>
                <a:spcPct val="163157"/>
              </a:lnSpc>
              <a:spcBef>
                <a:spcPts val="0"/>
              </a:spcBef>
              <a:spcAft>
                <a:spcPts val="0"/>
              </a:spcAft>
              <a:buClr>
                <a:srgbClr val="E2E6E9"/>
              </a:buClr>
              <a:buSzPts val="950"/>
              <a:buFont typeface="Merriweather"/>
              <a:buNone/>
            </a:pPr>
            <a:r>
              <a:rPr lang="en-US" sz="950">
                <a:solidFill>
                  <a:srgbClr val="E2E6E9"/>
                </a:solidFill>
                <a:latin typeface="Merriweather"/>
                <a:ea typeface="Merriweather"/>
                <a:cs typeface="Merriweather"/>
                <a:sym typeface="Merriweather"/>
              </a:rPr>
              <a:t>Train/Val/Test</a:t>
            </a:r>
            <a:endParaRPr sz="950">
              <a:solidFill>
                <a:schemeClr val="dk1"/>
              </a:solidFill>
              <a:latin typeface="Calibri"/>
              <a:ea typeface="Calibri"/>
              <a:cs typeface="Calibri"/>
              <a:sym typeface="Calibri"/>
            </a:endParaRPr>
          </a:p>
        </p:txBody>
      </p:sp>
      <p:pic>
        <p:nvPicPr>
          <p:cNvPr id="154" name="Google Shape;154;p6" descr="preencoded.png"/>
          <p:cNvPicPr preferRelativeResize="0"/>
          <p:nvPr/>
        </p:nvPicPr>
        <p:blipFill rotWithShape="1">
          <a:blip r:embed="rId3">
            <a:alphaModFix/>
          </a:blip>
          <a:srcRect/>
          <a:stretch/>
        </p:blipFill>
        <p:spPr>
          <a:xfrm>
            <a:off x="871895" y="2072640"/>
            <a:ext cx="379928" cy="1143000"/>
          </a:xfrm>
          <a:prstGeom prst="rect">
            <a:avLst/>
          </a:prstGeom>
          <a:noFill/>
          <a:ln>
            <a:noFill/>
          </a:ln>
        </p:spPr>
      </p:pic>
      <p:sp>
        <p:nvSpPr>
          <p:cNvPr id="155" name="Google Shape;155;p6"/>
          <p:cNvSpPr/>
          <p:nvPr/>
        </p:nvSpPr>
        <p:spPr>
          <a:xfrm>
            <a:off x="1378387" y="2199203"/>
            <a:ext cx="1583293" cy="197882"/>
          </a:xfrm>
          <a:prstGeom prst="rect">
            <a:avLst/>
          </a:prstGeom>
          <a:noFill/>
          <a:ln>
            <a:noFill/>
          </a:ln>
        </p:spPr>
        <p:txBody>
          <a:bodyPr spcFirstLastPara="1" wrap="square" lIns="0" tIns="0" rIns="0" bIns="0" anchor="t" anchorCtr="0">
            <a:noAutofit/>
          </a:bodyPr>
          <a:lstStyle/>
          <a:p>
            <a:pPr marL="0" marR="0" lvl="0" indent="0" algn="l" rtl="0">
              <a:lnSpc>
                <a:spcPct val="129166"/>
              </a:lnSpc>
              <a:spcBef>
                <a:spcPts val="0"/>
              </a:spcBef>
              <a:spcAft>
                <a:spcPts val="0"/>
              </a:spcAft>
              <a:buClr>
                <a:srgbClr val="E2E6E9"/>
              </a:buClr>
              <a:buSzPts val="1200"/>
              <a:buFont typeface="Merriweather"/>
              <a:buNone/>
            </a:pPr>
            <a:r>
              <a:rPr lang="en-US" sz="1200">
                <a:solidFill>
                  <a:srgbClr val="E2E6E9"/>
                </a:solidFill>
                <a:latin typeface="Merriweather"/>
                <a:ea typeface="Merriweather"/>
                <a:cs typeface="Merriweather"/>
                <a:sym typeface="Merriweather"/>
              </a:rPr>
              <a:t>Feature Extraction</a:t>
            </a:r>
            <a:endParaRPr sz="1200">
              <a:solidFill>
                <a:schemeClr val="dk1"/>
              </a:solidFill>
              <a:latin typeface="Calibri"/>
              <a:ea typeface="Calibri"/>
              <a:cs typeface="Calibri"/>
              <a:sym typeface="Calibri"/>
            </a:endParaRPr>
          </a:p>
        </p:txBody>
      </p:sp>
      <p:sp>
        <p:nvSpPr>
          <p:cNvPr id="156" name="Google Shape;156;p6"/>
          <p:cNvSpPr/>
          <p:nvPr/>
        </p:nvSpPr>
        <p:spPr>
          <a:xfrm>
            <a:off x="1378387" y="2473047"/>
            <a:ext cx="12570023" cy="202644"/>
          </a:xfrm>
          <a:prstGeom prst="rect">
            <a:avLst/>
          </a:prstGeom>
          <a:noFill/>
          <a:ln>
            <a:noFill/>
          </a:ln>
        </p:spPr>
        <p:txBody>
          <a:bodyPr spcFirstLastPara="1" wrap="square" lIns="0" tIns="0" rIns="0" bIns="0" anchor="t" anchorCtr="0">
            <a:noAutofit/>
          </a:bodyPr>
          <a:lstStyle/>
          <a:p>
            <a:pPr marL="0" marR="0" lvl="0" indent="0" algn="l" rtl="0">
              <a:lnSpc>
                <a:spcPct val="163157"/>
              </a:lnSpc>
              <a:spcBef>
                <a:spcPts val="0"/>
              </a:spcBef>
              <a:spcAft>
                <a:spcPts val="0"/>
              </a:spcAft>
              <a:buClr>
                <a:srgbClr val="E2E6E9"/>
              </a:buClr>
              <a:buSzPts val="950"/>
              <a:buFont typeface="Merriweather"/>
              <a:buNone/>
            </a:pPr>
            <a:r>
              <a:rPr lang="en-US" sz="950">
                <a:solidFill>
                  <a:srgbClr val="E2E6E9"/>
                </a:solidFill>
                <a:latin typeface="Merriweather"/>
                <a:ea typeface="Merriweather"/>
                <a:cs typeface="Merriweather"/>
                <a:sym typeface="Merriweather"/>
              </a:rPr>
              <a:t>Colour Histograms</a:t>
            </a:r>
            <a:endParaRPr sz="950">
              <a:solidFill>
                <a:schemeClr val="dk1"/>
              </a:solidFill>
              <a:latin typeface="Calibri"/>
              <a:ea typeface="Calibri"/>
              <a:cs typeface="Calibri"/>
              <a:sym typeface="Calibri"/>
            </a:endParaRPr>
          </a:p>
        </p:txBody>
      </p:sp>
      <p:pic>
        <p:nvPicPr>
          <p:cNvPr id="157" name="Google Shape;157;p6" descr="preencoded.png"/>
          <p:cNvPicPr preferRelativeResize="0"/>
          <p:nvPr/>
        </p:nvPicPr>
        <p:blipFill rotWithShape="1">
          <a:blip r:embed="rId3">
            <a:alphaModFix/>
          </a:blip>
          <a:srcRect/>
          <a:stretch/>
        </p:blipFill>
        <p:spPr>
          <a:xfrm>
            <a:off x="1061918" y="2959179"/>
            <a:ext cx="379928" cy="1143000"/>
          </a:xfrm>
          <a:prstGeom prst="rect">
            <a:avLst/>
          </a:prstGeom>
          <a:noFill/>
          <a:ln>
            <a:noFill/>
          </a:ln>
        </p:spPr>
      </p:pic>
      <p:sp>
        <p:nvSpPr>
          <p:cNvPr id="158" name="Google Shape;158;p6"/>
          <p:cNvSpPr/>
          <p:nvPr/>
        </p:nvSpPr>
        <p:spPr>
          <a:xfrm>
            <a:off x="1568410" y="3085743"/>
            <a:ext cx="1583293" cy="197882"/>
          </a:xfrm>
          <a:prstGeom prst="rect">
            <a:avLst/>
          </a:prstGeom>
          <a:noFill/>
          <a:ln>
            <a:noFill/>
          </a:ln>
        </p:spPr>
        <p:txBody>
          <a:bodyPr spcFirstLastPara="1" wrap="square" lIns="0" tIns="0" rIns="0" bIns="0" anchor="t" anchorCtr="0">
            <a:noAutofit/>
          </a:bodyPr>
          <a:lstStyle/>
          <a:p>
            <a:pPr marL="0" marR="0" lvl="0" indent="0" algn="l" rtl="0">
              <a:lnSpc>
                <a:spcPct val="129166"/>
              </a:lnSpc>
              <a:spcBef>
                <a:spcPts val="0"/>
              </a:spcBef>
              <a:spcAft>
                <a:spcPts val="0"/>
              </a:spcAft>
              <a:buClr>
                <a:srgbClr val="E2E6E9"/>
              </a:buClr>
              <a:buSzPts val="1200"/>
              <a:buFont typeface="Merriweather"/>
              <a:buNone/>
            </a:pPr>
            <a:r>
              <a:rPr lang="en-US" sz="1200">
                <a:solidFill>
                  <a:srgbClr val="E2E6E9"/>
                </a:solidFill>
                <a:latin typeface="Merriweather"/>
                <a:ea typeface="Merriweather"/>
                <a:cs typeface="Merriweather"/>
                <a:sym typeface="Merriweather"/>
              </a:rPr>
              <a:t>Baseline Model</a:t>
            </a:r>
            <a:endParaRPr sz="1200">
              <a:solidFill>
                <a:schemeClr val="dk1"/>
              </a:solidFill>
              <a:latin typeface="Calibri"/>
              <a:ea typeface="Calibri"/>
              <a:cs typeface="Calibri"/>
              <a:sym typeface="Calibri"/>
            </a:endParaRPr>
          </a:p>
        </p:txBody>
      </p:sp>
      <p:sp>
        <p:nvSpPr>
          <p:cNvPr id="159" name="Google Shape;159;p6"/>
          <p:cNvSpPr/>
          <p:nvPr/>
        </p:nvSpPr>
        <p:spPr>
          <a:xfrm>
            <a:off x="1800325" y="3362039"/>
            <a:ext cx="12380100" cy="202500"/>
          </a:xfrm>
          <a:prstGeom prst="rect">
            <a:avLst/>
          </a:prstGeom>
          <a:noFill/>
          <a:ln>
            <a:noFill/>
          </a:ln>
        </p:spPr>
        <p:txBody>
          <a:bodyPr spcFirstLastPara="1" wrap="square" lIns="0" tIns="0" rIns="0" bIns="0" anchor="t" anchorCtr="0">
            <a:noAutofit/>
          </a:bodyPr>
          <a:lstStyle/>
          <a:p>
            <a:pPr marL="0" marR="0" lvl="0" indent="0" algn="l" rtl="0">
              <a:lnSpc>
                <a:spcPct val="163157"/>
              </a:lnSpc>
              <a:spcBef>
                <a:spcPts val="0"/>
              </a:spcBef>
              <a:spcAft>
                <a:spcPts val="0"/>
              </a:spcAft>
              <a:buClr>
                <a:srgbClr val="E2E6E9"/>
              </a:buClr>
              <a:buSzPts val="950"/>
              <a:buFont typeface="Merriweather"/>
              <a:buNone/>
            </a:pPr>
            <a:r>
              <a:rPr lang="en-US" sz="950" dirty="0">
                <a:solidFill>
                  <a:srgbClr val="E2E6E9"/>
                </a:solidFill>
                <a:latin typeface="Merriweather"/>
                <a:ea typeface="Merriweather"/>
                <a:cs typeface="Merriweather"/>
                <a:sym typeface="Merriweather"/>
              </a:rPr>
              <a:t>SVM</a:t>
            </a:r>
            <a:endParaRPr sz="950" dirty="0">
              <a:solidFill>
                <a:schemeClr val="dk1"/>
              </a:solidFill>
              <a:latin typeface="Calibri"/>
              <a:ea typeface="Calibri"/>
              <a:cs typeface="Calibri"/>
              <a:sym typeface="Calibri"/>
            </a:endParaRPr>
          </a:p>
        </p:txBody>
      </p:sp>
      <p:pic>
        <p:nvPicPr>
          <p:cNvPr id="160" name="Google Shape;160;p6" descr="preencoded.png"/>
          <p:cNvPicPr preferRelativeResize="0"/>
          <p:nvPr/>
        </p:nvPicPr>
        <p:blipFill rotWithShape="1">
          <a:blip r:embed="rId3">
            <a:alphaModFix/>
          </a:blip>
          <a:srcRect/>
          <a:stretch/>
        </p:blipFill>
        <p:spPr>
          <a:xfrm>
            <a:off x="1251942" y="3845719"/>
            <a:ext cx="379928" cy="1143000"/>
          </a:xfrm>
          <a:prstGeom prst="rect">
            <a:avLst/>
          </a:prstGeom>
          <a:noFill/>
          <a:ln>
            <a:noFill/>
          </a:ln>
        </p:spPr>
      </p:pic>
      <p:sp>
        <p:nvSpPr>
          <p:cNvPr id="161" name="Google Shape;161;p6"/>
          <p:cNvSpPr/>
          <p:nvPr/>
        </p:nvSpPr>
        <p:spPr>
          <a:xfrm>
            <a:off x="1758434" y="3972282"/>
            <a:ext cx="1740932" cy="197882"/>
          </a:xfrm>
          <a:prstGeom prst="rect">
            <a:avLst/>
          </a:prstGeom>
          <a:noFill/>
          <a:ln>
            <a:noFill/>
          </a:ln>
        </p:spPr>
        <p:txBody>
          <a:bodyPr spcFirstLastPara="1" wrap="square" lIns="0" tIns="0" rIns="0" bIns="0" anchor="t" anchorCtr="0">
            <a:noAutofit/>
          </a:bodyPr>
          <a:lstStyle/>
          <a:p>
            <a:pPr marL="0" marR="0" lvl="0" indent="0" algn="l" rtl="0">
              <a:lnSpc>
                <a:spcPct val="129166"/>
              </a:lnSpc>
              <a:spcBef>
                <a:spcPts val="0"/>
              </a:spcBef>
              <a:spcAft>
                <a:spcPts val="0"/>
              </a:spcAft>
              <a:buClr>
                <a:srgbClr val="E2E6E9"/>
              </a:buClr>
              <a:buSzPts val="1200"/>
              <a:buFont typeface="Merriweather"/>
              <a:buNone/>
            </a:pPr>
            <a:r>
              <a:rPr lang="en-US" sz="1200">
                <a:solidFill>
                  <a:srgbClr val="E2E6E9"/>
                </a:solidFill>
                <a:latin typeface="Merriweather"/>
                <a:ea typeface="Merriweather"/>
                <a:cs typeface="Merriweather"/>
                <a:sym typeface="Merriweather"/>
              </a:rPr>
              <a:t>IQI-GWO Optimization</a:t>
            </a:r>
            <a:endParaRPr sz="1200">
              <a:solidFill>
                <a:schemeClr val="dk1"/>
              </a:solidFill>
              <a:latin typeface="Calibri"/>
              <a:ea typeface="Calibri"/>
              <a:cs typeface="Calibri"/>
              <a:sym typeface="Calibri"/>
            </a:endParaRPr>
          </a:p>
        </p:txBody>
      </p:sp>
      <p:sp>
        <p:nvSpPr>
          <p:cNvPr id="162" name="Google Shape;162;p6"/>
          <p:cNvSpPr/>
          <p:nvPr/>
        </p:nvSpPr>
        <p:spPr>
          <a:xfrm>
            <a:off x="1758434" y="4246126"/>
            <a:ext cx="12189976" cy="202644"/>
          </a:xfrm>
          <a:prstGeom prst="rect">
            <a:avLst/>
          </a:prstGeom>
          <a:noFill/>
          <a:ln>
            <a:noFill/>
          </a:ln>
        </p:spPr>
        <p:txBody>
          <a:bodyPr spcFirstLastPara="1" wrap="square" lIns="0" tIns="0" rIns="0" bIns="0" anchor="t" anchorCtr="0">
            <a:noAutofit/>
          </a:bodyPr>
          <a:lstStyle/>
          <a:p>
            <a:pPr marL="0" marR="0" lvl="0" indent="0" algn="l" rtl="0">
              <a:lnSpc>
                <a:spcPct val="163157"/>
              </a:lnSpc>
              <a:spcBef>
                <a:spcPts val="0"/>
              </a:spcBef>
              <a:spcAft>
                <a:spcPts val="0"/>
              </a:spcAft>
              <a:buClr>
                <a:srgbClr val="E2E6E9"/>
              </a:buClr>
              <a:buSzPts val="950"/>
              <a:buFont typeface="Merriweather"/>
              <a:buNone/>
            </a:pPr>
            <a:r>
              <a:rPr lang="en-US" sz="950">
                <a:solidFill>
                  <a:srgbClr val="E2E6E9"/>
                </a:solidFill>
                <a:latin typeface="Merriweather"/>
                <a:ea typeface="Merriweather"/>
                <a:cs typeface="Merriweather"/>
                <a:sym typeface="Merriweather"/>
              </a:rPr>
              <a:t>Feature Selection</a:t>
            </a:r>
            <a:endParaRPr sz="950">
              <a:solidFill>
                <a:schemeClr val="dk1"/>
              </a:solidFill>
              <a:latin typeface="Calibri"/>
              <a:ea typeface="Calibri"/>
              <a:cs typeface="Calibri"/>
              <a:sym typeface="Calibri"/>
            </a:endParaRPr>
          </a:p>
        </p:txBody>
      </p:sp>
      <p:pic>
        <p:nvPicPr>
          <p:cNvPr id="163" name="Google Shape;163;p6" descr="preencoded.png"/>
          <p:cNvPicPr preferRelativeResize="0"/>
          <p:nvPr/>
        </p:nvPicPr>
        <p:blipFill rotWithShape="1">
          <a:blip r:embed="rId3">
            <a:alphaModFix/>
          </a:blip>
          <a:srcRect/>
          <a:stretch/>
        </p:blipFill>
        <p:spPr>
          <a:xfrm>
            <a:off x="1061918" y="4732258"/>
            <a:ext cx="379928" cy="1143000"/>
          </a:xfrm>
          <a:prstGeom prst="rect">
            <a:avLst/>
          </a:prstGeom>
          <a:noFill/>
          <a:ln>
            <a:noFill/>
          </a:ln>
        </p:spPr>
      </p:pic>
      <p:sp>
        <p:nvSpPr>
          <p:cNvPr id="164" name="Google Shape;164;p6"/>
          <p:cNvSpPr/>
          <p:nvPr/>
        </p:nvSpPr>
        <p:spPr>
          <a:xfrm>
            <a:off x="1568410" y="4858822"/>
            <a:ext cx="1583293" cy="197882"/>
          </a:xfrm>
          <a:prstGeom prst="rect">
            <a:avLst/>
          </a:prstGeom>
          <a:noFill/>
          <a:ln>
            <a:noFill/>
          </a:ln>
        </p:spPr>
        <p:txBody>
          <a:bodyPr spcFirstLastPara="1" wrap="square" lIns="0" tIns="0" rIns="0" bIns="0" anchor="t" anchorCtr="0">
            <a:noAutofit/>
          </a:bodyPr>
          <a:lstStyle/>
          <a:p>
            <a:pPr marL="0" marR="0" lvl="0" indent="0" algn="l" rtl="0">
              <a:lnSpc>
                <a:spcPct val="129166"/>
              </a:lnSpc>
              <a:spcBef>
                <a:spcPts val="0"/>
              </a:spcBef>
              <a:spcAft>
                <a:spcPts val="0"/>
              </a:spcAft>
              <a:buClr>
                <a:srgbClr val="E2E6E9"/>
              </a:buClr>
              <a:buSzPts val="1200"/>
              <a:buFont typeface="Merriweather"/>
              <a:buNone/>
            </a:pPr>
            <a:r>
              <a:rPr lang="en-US" sz="1200">
                <a:solidFill>
                  <a:srgbClr val="E2E6E9"/>
                </a:solidFill>
                <a:latin typeface="Merriweather"/>
                <a:ea typeface="Merriweather"/>
                <a:cs typeface="Merriweather"/>
                <a:sym typeface="Merriweather"/>
              </a:rPr>
              <a:t>Re-train Classifier</a:t>
            </a:r>
            <a:endParaRPr sz="1200">
              <a:solidFill>
                <a:schemeClr val="dk1"/>
              </a:solidFill>
              <a:latin typeface="Calibri"/>
              <a:ea typeface="Calibri"/>
              <a:cs typeface="Calibri"/>
              <a:sym typeface="Calibri"/>
            </a:endParaRPr>
          </a:p>
        </p:txBody>
      </p:sp>
      <p:sp>
        <p:nvSpPr>
          <p:cNvPr id="165" name="Google Shape;165;p6"/>
          <p:cNvSpPr/>
          <p:nvPr/>
        </p:nvSpPr>
        <p:spPr>
          <a:xfrm>
            <a:off x="1574849" y="5132665"/>
            <a:ext cx="12380000" cy="202644"/>
          </a:xfrm>
          <a:prstGeom prst="rect">
            <a:avLst/>
          </a:prstGeom>
          <a:noFill/>
          <a:ln>
            <a:noFill/>
          </a:ln>
        </p:spPr>
        <p:txBody>
          <a:bodyPr spcFirstLastPara="1" wrap="square" lIns="0" tIns="0" rIns="0" bIns="0" anchor="t" anchorCtr="0">
            <a:noAutofit/>
          </a:bodyPr>
          <a:lstStyle/>
          <a:p>
            <a:pPr marL="0" marR="0" lvl="0" indent="0" algn="l" rtl="0">
              <a:lnSpc>
                <a:spcPct val="163157"/>
              </a:lnSpc>
              <a:spcBef>
                <a:spcPts val="0"/>
              </a:spcBef>
              <a:spcAft>
                <a:spcPts val="0"/>
              </a:spcAft>
              <a:buClr>
                <a:srgbClr val="E2E6E9"/>
              </a:buClr>
              <a:buSzPts val="950"/>
              <a:buFont typeface="Merriweather"/>
              <a:buNone/>
            </a:pPr>
            <a:r>
              <a:rPr lang="en-US" sz="950">
                <a:solidFill>
                  <a:srgbClr val="E2E6E9"/>
                </a:solidFill>
                <a:latin typeface="Merriweather"/>
                <a:ea typeface="Merriweather"/>
                <a:cs typeface="Merriweather"/>
                <a:sym typeface="Merriweather"/>
              </a:rPr>
              <a:t>Random Forest / SVM</a:t>
            </a:r>
            <a:endParaRPr sz="950">
              <a:solidFill>
                <a:schemeClr val="dk1"/>
              </a:solidFill>
              <a:latin typeface="Calibri"/>
              <a:ea typeface="Calibri"/>
              <a:cs typeface="Calibri"/>
              <a:sym typeface="Calibri"/>
            </a:endParaRPr>
          </a:p>
        </p:txBody>
      </p:sp>
      <p:pic>
        <p:nvPicPr>
          <p:cNvPr id="166" name="Google Shape;166;p6" descr="preencoded.png"/>
          <p:cNvPicPr preferRelativeResize="0"/>
          <p:nvPr/>
        </p:nvPicPr>
        <p:blipFill rotWithShape="1">
          <a:blip r:embed="rId3">
            <a:alphaModFix/>
          </a:blip>
          <a:srcRect/>
          <a:stretch/>
        </p:blipFill>
        <p:spPr>
          <a:xfrm>
            <a:off x="871895" y="5618798"/>
            <a:ext cx="379928" cy="1143000"/>
          </a:xfrm>
          <a:prstGeom prst="rect">
            <a:avLst/>
          </a:prstGeom>
          <a:noFill/>
          <a:ln>
            <a:noFill/>
          </a:ln>
        </p:spPr>
      </p:pic>
      <p:sp>
        <p:nvSpPr>
          <p:cNvPr id="167" name="Google Shape;167;p6"/>
          <p:cNvSpPr/>
          <p:nvPr/>
        </p:nvSpPr>
        <p:spPr>
          <a:xfrm>
            <a:off x="1378387" y="5745361"/>
            <a:ext cx="1583293" cy="197882"/>
          </a:xfrm>
          <a:prstGeom prst="rect">
            <a:avLst/>
          </a:prstGeom>
          <a:noFill/>
          <a:ln>
            <a:noFill/>
          </a:ln>
        </p:spPr>
        <p:txBody>
          <a:bodyPr spcFirstLastPara="1" wrap="square" lIns="0" tIns="0" rIns="0" bIns="0" anchor="t" anchorCtr="0">
            <a:noAutofit/>
          </a:bodyPr>
          <a:lstStyle/>
          <a:p>
            <a:pPr marL="0" marR="0" lvl="0" indent="0" algn="l" rtl="0">
              <a:lnSpc>
                <a:spcPct val="129166"/>
              </a:lnSpc>
              <a:spcBef>
                <a:spcPts val="0"/>
              </a:spcBef>
              <a:spcAft>
                <a:spcPts val="0"/>
              </a:spcAft>
              <a:buClr>
                <a:srgbClr val="E2E6E9"/>
              </a:buClr>
              <a:buSzPts val="1200"/>
              <a:buFont typeface="Merriweather"/>
              <a:buNone/>
            </a:pPr>
            <a:r>
              <a:rPr lang="en-US" sz="1200">
                <a:solidFill>
                  <a:srgbClr val="E2E6E9"/>
                </a:solidFill>
                <a:latin typeface="Merriweather"/>
                <a:ea typeface="Merriweather"/>
                <a:cs typeface="Merriweather"/>
                <a:sym typeface="Merriweather"/>
              </a:rPr>
              <a:t>Evaluation</a:t>
            </a:r>
            <a:endParaRPr sz="1200">
              <a:solidFill>
                <a:schemeClr val="dk1"/>
              </a:solidFill>
              <a:latin typeface="Calibri"/>
              <a:ea typeface="Calibri"/>
              <a:cs typeface="Calibri"/>
              <a:sym typeface="Calibri"/>
            </a:endParaRPr>
          </a:p>
        </p:txBody>
      </p:sp>
      <p:sp>
        <p:nvSpPr>
          <p:cNvPr id="168" name="Google Shape;168;p6"/>
          <p:cNvSpPr/>
          <p:nvPr/>
        </p:nvSpPr>
        <p:spPr>
          <a:xfrm>
            <a:off x="1378387" y="6019205"/>
            <a:ext cx="12570023" cy="202644"/>
          </a:xfrm>
          <a:prstGeom prst="rect">
            <a:avLst/>
          </a:prstGeom>
          <a:noFill/>
          <a:ln>
            <a:noFill/>
          </a:ln>
        </p:spPr>
        <p:txBody>
          <a:bodyPr spcFirstLastPara="1" wrap="square" lIns="0" tIns="0" rIns="0" bIns="0" anchor="t" anchorCtr="0">
            <a:noAutofit/>
          </a:bodyPr>
          <a:lstStyle/>
          <a:p>
            <a:pPr marL="0" marR="0" lvl="0" indent="0" algn="l" rtl="0">
              <a:lnSpc>
                <a:spcPct val="163157"/>
              </a:lnSpc>
              <a:spcBef>
                <a:spcPts val="0"/>
              </a:spcBef>
              <a:spcAft>
                <a:spcPts val="0"/>
              </a:spcAft>
              <a:buClr>
                <a:srgbClr val="E2E6E9"/>
              </a:buClr>
              <a:buSzPts val="950"/>
              <a:buFont typeface="Merriweather"/>
              <a:buNone/>
            </a:pPr>
            <a:r>
              <a:rPr lang="en-US" sz="950">
                <a:solidFill>
                  <a:srgbClr val="E2E6E9"/>
                </a:solidFill>
                <a:latin typeface="Merriweather"/>
                <a:ea typeface="Merriweather"/>
                <a:cs typeface="Merriweather"/>
                <a:sym typeface="Merriweather"/>
              </a:rPr>
              <a:t>Accuracy, F1, Confusion Matrix</a:t>
            </a:r>
            <a:endParaRPr sz="950">
              <a:solidFill>
                <a:schemeClr val="dk1"/>
              </a:solidFill>
              <a:latin typeface="Calibri"/>
              <a:ea typeface="Calibri"/>
              <a:cs typeface="Calibri"/>
              <a:sym typeface="Calibri"/>
            </a:endParaRPr>
          </a:p>
        </p:txBody>
      </p:sp>
      <p:sp>
        <p:nvSpPr>
          <p:cNvPr id="169" name="Google Shape;169;p6"/>
          <p:cNvSpPr/>
          <p:nvPr/>
        </p:nvSpPr>
        <p:spPr>
          <a:xfrm>
            <a:off x="681990" y="6568678"/>
            <a:ext cx="2496979" cy="237530"/>
          </a:xfrm>
          <a:prstGeom prst="rect">
            <a:avLst/>
          </a:prstGeom>
          <a:noFill/>
          <a:ln>
            <a:noFill/>
          </a:ln>
        </p:spPr>
        <p:txBody>
          <a:bodyPr spcFirstLastPara="1" wrap="square" lIns="0" tIns="0" rIns="0" bIns="0" anchor="t" anchorCtr="0">
            <a:noAutofit/>
          </a:bodyPr>
          <a:lstStyle/>
          <a:p>
            <a:pPr marL="0" marR="0" lvl="0" indent="0" algn="l" rtl="0">
              <a:lnSpc>
                <a:spcPct val="127586"/>
              </a:lnSpc>
              <a:spcBef>
                <a:spcPts val="0"/>
              </a:spcBef>
              <a:spcAft>
                <a:spcPts val="0"/>
              </a:spcAft>
              <a:buClr>
                <a:srgbClr val="F5F0F0"/>
              </a:buClr>
              <a:buSzPts val="1450"/>
              <a:buFont typeface="Merriweather"/>
              <a:buNone/>
            </a:pPr>
            <a:r>
              <a:rPr lang="en-US" sz="1450">
                <a:solidFill>
                  <a:srgbClr val="F5F0F0"/>
                </a:solidFill>
                <a:latin typeface="Merriweather"/>
                <a:ea typeface="Merriweather"/>
                <a:cs typeface="Merriweather"/>
                <a:sym typeface="Merriweather"/>
              </a:rPr>
              <a:t>Key Differences from Paper</a:t>
            </a:r>
            <a:endParaRPr sz="1450">
              <a:solidFill>
                <a:schemeClr val="dk1"/>
              </a:solidFill>
              <a:latin typeface="Calibri"/>
              <a:ea typeface="Calibri"/>
              <a:cs typeface="Calibri"/>
              <a:sym typeface="Calibri"/>
            </a:endParaRPr>
          </a:p>
        </p:txBody>
      </p:sp>
      <p:sp>
        <p:nvSpPr>
          <p:cNvPr id="170" name="Google Shape;170;p6"/>
          <p:cNvSpPr/>
          <p:nvPr/>
        </p:nvSpPr>
        <p:spPr>
          <a:xfrm>
            <a:off x="681990" y="6996113"/>
            <a:ext cx="13266420" cy="202644"/>
          </a:xfrm>
          <a:prstGeom prst="rect">
            <a:avLst/>
          </a:prstGeom>
          <a:noFill/>
          <a:ln>
            <a:noFill/>
          </a:ln>
        </p:spPr>
        <p:txBody>
          <a:bodyPr spcFirstLastPara="1" wrap="square" lIns="0" tIns="0" rIns="0" bIns="0" anchor="t" anchorCtr="0">
            <a:noAutofit/>
          </a:bodyPr>
          <a:lstStyle/>
          <a:p>
            <a:pPr marL="342900" marR="0" lvl="0" indent="-342900" algn="l" rtl="0">
              <a:lnSpc>
                <a:spcPct val="163157"/>
              </a:lnSpc>
              <a:spcBef>
                <a:spcPts val="0"/>
              </a:spcBef>
              <a:spcAft>
                <a:spcPts val="0"/>
              </a:spcAft>
              <a:buClr>
                <a:srgbClr val="E2E6E9"/>
              </a:buClr>
              <a:buSzPts val="950"/>
              <a:buFont typeface="Merriweather"/>
              <a:buChar char="•"/>
            </a:pPr>
            <a:r>
              <a:rPr lang="en-US" sz="950">
                <a:solidFill>
                  <a:srgbClr val="E2E6E9"/>
                </a:solidFill>
                <a:latin typeface="Merriweather"/>
                <a:ea typeface="Merriweather"/>
                <a:cs typeface="Merriweather"/>
                <a:sym typeface="Merriweather"/>
              </a:rPr>
              <a:t>Uses </a:t>
            </a:r>
            <a:r>
              <a:rPr lang="en-US" sz="950" i="1">
                <a:solidFill>
                  <a:srgbClr val="E2E6E9"/>
                </a:solidFill>
                <a:latin typeface="Merriweather"/>
                <a:ea typeface="Merriweather"/>
                <a:cs typeface="Merriweather"/>
                <a:sym typeface="Merriweather"/>
              </a:rPr>
              <a:t>image histograms</a:t>
            </a:r>
            <a:r>
              <a:rPr lang="en-US" sz="950">
                <a:solidFill>
                  <a:srgbClr val="E2E6E9"/>
                </a:solidFill>
                <a:latin typeface="Merriweather"/>
                <a:ea typeface="Merriweather"/>
                <a:cs typeface="Merriweather"/>
                <a:sym typeface="Merriweather"/>
              </a:rPr>
              <a:t> instead of tabular biomedical features</a:t>
            </a:r>
            <a:endParaRPr sz="950">
              <a:solidFill>
                <a:schemeClr val="dk1"/>
              </a:solidFill>
              <a:latin typeface="Calibri"/>
              <a:ea typeface="Calibri"/>
              <a:cs typeface="Calibri"/>
              <a:sym typeface="Calibri"/>
            </a:endParaRPr>
          </a:p>
        </p:txBody>
      </p:sp>
      <p:sp>
        <p:nvSpPr>
          <p:cNvPr id="171" name="Google Shape;171;p6"/>
          <p:cNvSpPr/>
          <p:nvPr/>
        </p:nvSpPr>
        <p:spPr>
          <a:xfrm>
            <a:off x="681990" y="7243048"/>
            <a:ext cx="13266420" cy="202644"/>
          </a:xfrm>
          <a:prstGeom prst="rect">
            <a:avLst/>
          </a:prstGeom>
          <a:noFill/>
          <a:ln>
            <a:noFill/>
          </a:ln>
        </p:spPr>
        <p:txBody>
          <a:bodyPr spcFirstLastPara="1" wrap="square" lIns="0" tIns="0" rIns="0" bIns="0" anchor="t" anchorCtr="0">
            <a:noAutofit/>
          </a:bodyPr>
          <a:lstStyle/>
          <a:p>
            <a:pPr marL="342900" marR="0" lvl="0" indent="-342900" algn="l" rtl="0">
              <a:lnSpc>
                <a:spcPct val="163157"/>
              </a:lnSpc>
              <a:spcBef>
                <a:spcPts val="0"/>
              </a:spcBef>
              <a:spcAft>
                <a:spcPts val="0"/>
              </a:spcAft>
              <a:buClr>
                <a:srgbClr val="E2E6E9"/>
              </a:buClr>
              <a:buSzPts val="950"/>
              <a:buFont typeface="Merriweather"/>
              <a:buChar char="•"/>
            </a:pPr>
            <a:r>
              <a:rPr lang="en-US" sz="950">
                <a:solidFill>
                  <a:srgbClr val="E2E6E9"/>
                </a:solidFill>
                <a:latin typeface="Merriweather"/>
                <a:ea typeface="Merriweather"/>
                <a:cs typeface="Merriweather"/>
                <a:sym typeface="Merriweather"/>
              </a:rPr>
              <a:t>Validates feature selection via explicit validation set (not cross-validation)</a:t>
            </a:r>
            <a:endParaRPr sz="950">
              <a:solidFill>
                <a:schemeClr val="dk1"/>
              </a:solidFill>
              <a:latin typeface="Calibri"/>
              <a:ea typeface="Calibri"/>
              <a:cs typeface="Calibri"/>
              <a:sym typeface="Calibri"/>
            </a:endParaRPr>
          </a:p>
        </p:txBody>
      </p:sp>
      <p:sp>
        <p:nvSpPr>
          <p:cNvPr id="172" name="Google Shape;172;p6"/>
          <p:cNvSpPr/>
          <p:nvPr/>
        </p:nvSpPr>
        <p:spPr>
          <a:xfrm>
            <a:off x="681990" y="7489984"/>
            <a:ext cx="13266420" cy="202644"/>
          </a:xfrm>
          <a:prstGeom prst="rect">
            <a:avLst/>
          </a:prstGeom>
          <a:noFill/>
          <a:ln>
            <a:noFill/>
          </a:ln>
        </p:spPr>
        <p:txBody>
          <a:bodyPr spcFirstLastPara="1" wrap="square" lIns="0" tIns="0" rIns="0" bIns="0" anchor="t" anchorCtr="0">
            <a:noAutofit/>
          </a:bodyPr>
          <a:lstStyle/>
          <a:p>
            <a:pPr marL="342900" marR="0" lvl="0" indent="-342900" algn="l" rtl="0">
              <a:lnSpc>
                <a:spcPct val="163157"/>
              </a:lnSpc>
              <a:spcBef>
                <a:spcPts val="0"/>
              </a:spcBef>
              <a:spcAft>
                <a:spcPts val="0"/>
              </a:spcAft>
              <a:buClr>
                <a:srgbClr val="E2E6E9"/>
              </a:buClr>
              <a:buSzPts val="950"/>
              <a:buFont typeface="Merriweather"/>
              <a:buChar char="•"/>
            </a:pPr>
            <a:r>
              <a:rPr lang="en-US" sz="950">
                <a:solidFill>
                  <a:srgbClr val="E2E6E9"/>
                </a:solidFill>
                <a:latin typeface="Merriweather"/>
                <a:ea typeface="Merriweather"/>
                <a:cs typeface="Merriweather"/>
                <a:sym typeface="Merriweather"/>
              </a:rPr>
              <a:t>Can easily adapt to 3 additional datasets beyond breast cancer</a:t>
            </a:r>
            <a:endParaRPr sz="950">
              <a:solidFill>
                <a:schemeClr val="dk1"/>
              </a:solidFill>
              <a:latin typeface="Calibri"/>
              <a:ea typeface="Calibri"/>
              <a:cs typeface="Calibri"/>
              <a:sym typeface="Calibri"/>
            </a:endParaRPr>
          </a:p>
        </p:txBody>
      </p:sp>
      <p:pic>
        <p:nvPicPr>
          <p:cNvPr id="173" name="Google Shape;173;p6"/>
          <p:cNvPicPr preferRelativeResize="0"/>
          <p:nvPr/>
        </p:nvPicPr>
        <p:blipFill rotWithShape="1">
          <a:blip r:embed="rId4">
            <a:alphaModFix/>
          </a:blip>
          <a:srcRect/>
          <a:stretch/>
        </p:blipFill>
        <p:spPr>
          <a:xfrm>
            <a:off x="12705008" y="7489984"/>
            <a:ext cx="1840486" cy="678151"/>
          </a:xfrm>
          <a:prstGeom prst="rect">
            <a:avLst/>
          </a:prstGeom>
          <a:noFill/>
          <a:ln>
            <a:noFill/>
          </a:ln>
        </p:spPr>
      </p:pic>
      <p:pic>
        <p:nvPicPr>
          <p:cNvPr id="174" name="Google Shape;174;p6"/>
          <p:cNvPicPr preferRelativeResize="0"/>
          <p:nvPr/>
        </p:nvPicPr>
        <p:blipFill>
          <a:blip r:embed="rId5">
            <a:alphaModFix/>
          </a:blip>
          <a:stretch>
            <a:fillRect/>
          </a:stretch>
        </p:blipFill>
        <p:spPr>
          <a:xfrm>
            <a:off x="8947277" y="161886"/>
            <a:ext cx="1583300" cy="565464"/>
          </a:xfrm>
          <a:prstGeom prst="rect">
            <a:avLst/>
          </a:prstGeom>
          <a:noFill/>
          <a:ln>
            <a:noFill/>
          </a:ln>
        </p:spPr>
      </p:pic>
      <p:pic>
        <p:nvPicPr>
          <p:cNvPr id="175" name="Google Shape;175;p6"/>
          <p:cNvPicPr preferRelativeResize="0"/>
          <p:nvPr/>
        </p:nvPicPr>
        <p:blipFill>
          <a:blip r:embed="rId6">
            <a:alphaModFix/>
          </a:blip>
          <a:stretch>
            <a:fillRect/>
          </a:stretch>
        </p:blipFill>
        <p:spPr>
          <a:xfrm>
            <a:off x="7990375" y="853524"/>
            <a:ext cx="3666142" cy="1143000"/>
          </a:xfrm>
          <a:prstGeom prst="rect">
            <a:avLst/>
          </a:prstGeom>
          <a:noFill/>
          <a:ln>
            <a:noFill/>
          </a:ln>
        </p:spPr>
      </p:pic>
      <p:pic>
        <p:nvPicPr>
          <p:cNvPr id="176" name="Google Shape;176;p6"/>
          <p:cNvPicPr preferRelativeResize="0"/>
          <p:nvPr/>
        </p:nvPicPr>
        <p:blipFill>
          <a:blip r:embed="rId7">
            <a:alphaModFix/>
          </a:blip>
          <a:stretch>
            <a:fillRect/>
          </a:stretch>
        </p:blipFill>
        <p:spPr>
          <a:xfrm>
            <a:off x="7990375" y="2212136"/>
            <a:ext cx="3666150" cy="1170251"/>
          </a:xfrm>
          <a:prstGeom prst="rect">
            <a:avLst/>
          </a:prstGeom>
          <a:noFill/>
          <a:ln>
            <a:noFill/>
          </a:ln>
        </p:spPr>
      </p:pic>
      <p:pic>
        <p:nvPicPr>
          <p:cNvPr id="177" name="Google Shape;177;p6"/>
          <p:cNvPicPr preferRelativeResize="0"/>
          <p:nvPr/>
        </p:nvPicPr>
        <p:blipFill>
          <a:blip r:embed="rId8">
            <a:alphaModFix/>
          </a:blip>
          <a:stretch>
            <a:fillRect/>
          </a:stretch>
        </p:blipFill>
        <p:spPr>
          <a:xfrm>
            <a:off x="7990375" y="3506050"/>
            <a:ext cx="3666150" cy="1352000"/>
          </a:xfrm>
          <a:prstGeom prst="rect">
            <a:avLst/>
          </a:prstGeom>
          <a:noFill/>
          <a:ln>
            <a:noFill/>
          </a:ln>
        </p:spPr>
      </p:pic>
      <p:pic>
        <p:nvPicPr>
          <p:cNvPr id="178" name="Google Shape;178;p6"/>
          <p:cNvPicPr preferRelativeResize="0"/>
          <p:nvPr/>
        </p:nvPicPr>
        <p:blipFill>
          <a:blip r:embed="rId9">
            <a:alphaModFix/>
          </a:blip>
          <a:stretch>
            <a:fillRect/>
          </a:stretch>
        </p:blipFill>
        <p:spPr>
          <a:xfrm>
            <a:off x="7979894" y="4874237"/>
            <a:ext cx="3666150" cy="1726363"/>
          </a:xfrm>
          <a:prstGeom prst="rect">
            <a:avLst/>
          </a:prstGeom>
          <a:noFill/>
          <a:ln>
            <a:noFill/>
          </a:ln>
        </p:spPr>
      </p:pic>
      <p:cxnSp>
        <p:nvCxnSpPr>
          <p:cNvPr id="179" name="Google Shape;179;p6"/>
          <p:cNvCxnSpPr/>
          <p:nvPr/>
        </p:nvCxnSpPr>
        <p:spPr>
          <a:xfrm>
            <a:off x="9738926" y="601400"/>
            <a:ext cx="1500" cy="267900"/>
          </a:xfrm>
          <a:prstGeom prst="straightConnector1">
            <a:avLst/>
          </a:prstGeom>
          <a:noFill/>
          <a:ln w="9525" cap="flat" cmpd="sng">
            <a:solidFill>
              <a:schemeClr val="lt1"/>
            </a:solidFill>
            <a:prstDash val="solid"/>
            <a:round/>
            <a:headEnd type="none" w="med" len="med"/>
            <a:tailEnd type="triangle" w="med" len="med"/>
          </a:ln>
        </p:spPr>
      </p:cxnSp>
      <p:cxnSp>
        <p:nvCxnSpPr>
          <p:cNvPr id="180" name="Google Shape;180;p6"/>
          <p:cNvCxnSpPr/>
          <p:nvPr/>
        </p:nvCxnSpPr>
        <p:spPr>
          <a:xfrm flipH="1">
            <a:off x="9812825" y="1939275"/>
            <a:ext cx="6000" cy="299700"/>
          </a:xfrm>
          <a:prstGeom prst="straightConnector1">
            <a:avLst/>
          </a:prstGeom>
          <a:noFill/>
          <a:ln w="9525" cap="flat" cmpd="sng">
            <a:solidFill>
              <a:schemeClr val="lt1"/>
            </a:solidFill>
            <a:prstDash val="solid"/>
            <a:round/>
            <a:headEnd type="none" w="med" len="med"/>
            <a:tailEnd type="triangle" w="med" len="med"/>
          </a:ln>
        </p:spPr>
      </p:cxnSp>
      <p:cxnSp>
        <p:nvCxnSpPr>
          <p:cNvPr id="181" name="Google Shape;181;p6"/>
          <p:cNvCxnSpPr/>
          <p:nvPr/>
        </p:nvCxnSpPr>
        <p:spPr>
          <a:xfrm>
            <a:off x="9820600" y="3327263"/>
            <a:ext cx="5700" cy="267300"/>
          </a:xfrm>
          <a:prstGeom prst="straightConnector1">
            <a:avLst/>
          </a:prstGeom>
          <a:noFill/>
          <a:ln w="9525" cap="flat" cmpd="sng">
            <a:solidFill>
              <a:schemeClr val="lt1"/>
            </a:solidFill>
            <a:prstDash val="solid"/>
            <a:round/>
            <a:headEnd type="none" w="med" len="med"/>
            <a:tailEnd type="triangle" w="med" len="med"/>
          </a:ln>
        </p:spPr>
      </p:cxnSp>
      <p:cxnSp>
        <p:nvCxnSpPr>
          <p:cNvPr id="182" name="Google Shape;182;p6"/>
          <p:cNvCxnSpPr/>
          <p:nvPr/>
        </p:nvCxnSpPr>
        <p:spPr>
          <a:xfrm>
            <a:off x="9823450" y="4711875"/>
            <a:ext cx="0" cy="261300"/>
          </a:xfrm>
          <a:prstGeom prst="straightConnector1">
            <a:avLst/>
          </a:prstGeom>
          <a:noFill/>
          <a:ln w="9525" cap="flat" cmpd="sng">
            <a:solidFill>
              <a:schemeClr val="lt1"/>
            </a:solidFill>
            <a:prstDash val="solid"/>
            <a:round/>
            <a:headEnd type="none" w="med" len="med"/>
            <a:tailEnd type="triangle" w="med" len="med"/>
          </a:ln>
        </p:spPr>
      </p:cxnSp>
      <p:cxnSp>
        <p:nvCxnSpPr>
          <p:cNvPr id="183" name="Google Shape;183;p6"/>
          <p:cNvCxnSpPr/>
          <p:nvPr/>
        </p:nvCxnSpPr>
        <p:spPr>
          <a:xfrm flipH="1">
            <a:off x="9739775" y="6436975"/>
            <a:ext cx="2700" cy="198000"/>
          </a:xfrm>
          <a:prstGeom prst="straightConnector1">
            <a:avLst/>
          </a:prstGeom>
          <a:noFill/>
          <a:ln w="9525" cap="flat" cmpd="sng">
            <a:solidFill>
              <a:schemeClr val="lt1"/>
            </a:solidFill>
            <a:prstDash val="solid"/>
            <a:round/>
            <a:headEnd type="none" w="med" len="med"/>
            <a:tailEnd type="triangle" w="med" len="med"/>
          </a:ln>
        </p:spPr>
      </p:cxnSp>
      <p:pic>
        <p:nvPicPr>
          <p:cNvPr id="184" name="Google Shape;184;p6"/>
          <p:cNvPicPr preferRelativeResize="0"/>
          <p:nvPr/>
        </p:nvPicPr>
        <p:blipFill>
          <a:blip r:embed="rId10">
            <a:alphaModFix/>
          </a:blip>
          <a:stretch>
            <a:fillRect/>
          </a:stretch>
        </p:blipFill>
        <p:spPr>
          <a:xfrm>
            <a:off x="8101225" y="6616775"/>
            <a:ext cx="3544825" cy="1352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7"/>
          <p:cNvSpPr/>
          <p:nvPr/>
        </p:nvSpPr>
        <p:spPr>
          <a:xfrm>
            <a:off x="1199322" y="828054"/>
            <a:ext cx="12788347" cy="876776"/>
          </a:xfrm>
          <a:prstGeom prst="rect">
            <a:avLst/>
          </a:prstGeom>
          <a:noFill/>
          <a:ln>
            <a:noFill/>
          </a:ln>
        </p:spPr>
        <p:txBody>
          <a:bodyPr spcFirstLastPara="1" wrap="square" lIns="0" tIns="0" rIns="0" bIns="0" anchor="t" anchorCtr="0">
            <a:noAutofit/>
          </a:bodyPr>
          <a:lstStyle/>
          <a:p>
            <a:pPr marL="0" marR="0" lvl="0" indent="0" algn="l" rtl="0">
              <a:lnSpc>
                <a:spcPct val="86250"/>
              </a:lnSpc>
              <a:spcBef>
                <a:spcPts val="0"/>
              </a:spcBef>
              <a:spcAft>
                <a:spcPts val="0"/>
              </a:spcAft>
              <a:buClr>
                <a:srgbClr val="F5F0F0"/>
              </a:buClr>
              <a:buSzPts val="4000"/>
              <a:buFont typeface="Merriweather"/>
              <a:buNone/>
            </a:pPr>
            <a:r>
              <a:rPr lang="en-US" sz="4000" u="sng" dirty="0">
                <a:solidFill>
                  <a:srgbClr val="F5F0F0"/>
                </a:solidFill>
                <a:latin typeface="Merriweather"/>
                <a:ea typeface="Merriweather"/>
                <a:cs typeface="Merriweather"/>
                <a:sym typeface="Merriweather"/>
              </a:rPr>
              <a:t>Applying Research Paper to Extended Problem</a:t>
            </a:r>
            <a:endParaRPr sz="4000" u="sng" dirty="0">
              <a:solidFill>
                <a:schemeClr val="dk1"/>
              </a:solidFill>
              <a:latin typeface="Calibri"/>
              <a:ea typeface="Calibri"/>
              <a:cs typeface="Calibri"/>
              <a:sym typeface="Calibri"/>
            </a:endParaRPr>
          </a:p>
        </p:txBody>
      </p:sp>
      <p:sp>
        <p:nvSpPr>
          <p:cNvPr id="191" name="Google Shape;191;p7"/>
          <p:cNvSpPr/>
          <p:nvPr/>
        </p:nvSpPr>
        <p:spPr>
          <a:xfrm>
            <a:off x="6389608" y="2014657"/>
            <a:ext cx="1753672" cy="594240"/>
          </a:xfrm>
          <a:prstGeom prst="rect">
            <a:avLst/>
          </a:prstGeom>
          <a:noFill/>
          <a:ln>
            <a:noFill/>
          </a:ln>
        </p:spPr>
        <p:txBody>
          <a:bodyPr spcFirstLastPara="1" wrap="square" lIns="0" tIns="0" rIns="0" bIns="0" anchor="t" anchorCtr="0">
            <a:noAutofit/>
          </a:bodyPr>
          <a:lstStyle/>
          <a:p>
            <a:pPr marL="0" marR="0" lvl="0" indent="0" algn="l" rtl="0">
              <a:lnSpc>
                <a:spcPct val="125925"/>
              </a:lnSpc>
              <a:spcBef>
                <a:spcPts val="0"/>
              </a:spcBef>
              <a:spcAft>
                <a:spcPts val="0"/>
              </a:spcAft>
              <a:buClr>
                <a:schemeClr val="dk1"/>
              </a:buClr>
              <a:buSzPts val="1350"/>
              <a:buFont typeface="Calibri"/>
              <a:buNone/>
            </a:pPr>
            <a:endParaRPr sz="1350">
              <a:solidFill>
                <a:schemeClr val="dk1"/>
              </a:solidFill>
              <a:latin typeface="Calibri"/>
              <a:ea typeface="Calibri"/>
              <a:cs typeface="Calibri"/>
              <a:sym typeface="Calibri"/>
            </a:endParaRPr>
          </a:p>
        </p:txBody>
      </p:sp>
      <p:sp>
        <p:nvSpPr>
          <p:cNvPr id="192" name="Google Shape;192;p7"/>
          <p:cNvSpPr/>
          <p:nvPr/>
        </p:nvSpPr>
        <p:spPr>
          <a:xfrm>
            <a:off x="3253409" y="2511206"/>
            <a:ext cx="7497218" cy="520099"/>
          </a:xfrm>
          <a:prstGeom prst="rect">
            <a:avLst/>
          </a:prstGeom>
          <a:noFill/>
          <a:ln>
            <a:noFill/>
          </a:ln>
        </p:spPr>
        <p:txBody>
          <a:bodyPr spcFirstLastPara="1" wrap="square" lIns="0" tIns="0" rIns="0" bIns="0" anchor="t" anchorCtr="0">
            <a:noAutofit/>
          </a:bodyPr>
          <a:lstStyle/>
          <a:p>
            <a:pPr marL="0" marR="0" lvl="0" indent="0" algn="l" rtl="0">
              <a:lnSpc>
                <a:spcPct val="145833"/>
              </a:lnSpc>
              <a:spcBef>
                <a:spcPts val="0"/>
              </a:spcBef>
              <a:spcAft>
                <a:spcPts val="0"/>
              </a:spcAft>
              <a:buClr>
                <a:schemeClr val="dk1"/>
              </a:buClr>
              <a:buSzPts val="1200"/>
              <a:buFont typeface="Calibri"/>
              <a:buNone/>
            </a:pPr>
            <a:endParaRPr sz="1200">
              <a:solidFill>
                <a:schemeClr val="dk1"/>
              </a:solidFill>
              <a:latin typeface="Calibri"/>
              <a:ea typeface="Calibri"/>
              <a:cs typeface="Calibri"/>
              <a:sym typeface="Calibri"/>
            </a:endParaRPr>
          </a:p>
        </p:txBody>
      </p:sp>
      <p:pic>
        <p:nvPicPr>
          <p:cNvPr id="193" name="Google Shape;193;p7" descr="preencoded.png"/>
          <p:cNvPicPr preferRelativeResize="0"/>
          <p:nvPr/>
        </p:nvPicPr>
        <p:blipFill rotWithShape="1">
          <a:blip r:embed="rId3">
            <a:alphaModFix/>
          </a:blip>
          <a:srcRect/>
          <a:stretch/>
        </p:blipFill>
        <p:spPr>
          <a:xfrm>
            <a:off x="6505337" y="3469124"/>
            <a:ext cx="189309" cy="189309"/>
          </a:xfrm>
          <a:prstGeom prst="rect">
            <a:avLst/>
          </a:prstGeom>
          <a:noFill/>
          <a:ln>
            <a:noFill/>
          </a:ln>
        </p:spPr>
      </p:pic>
      <p:sp>
        <p:nvSpPr>
          <p:cNvPr id="194" name="Google Shape;194;p7"/>
          <p:cNvSpPr/>
          <p:nvPr/>
        </p:nvSpPr>
        <p:spPr>
          <a:xfrm>
            <a:off x="6389608" y="4217908"/>
            <a:ext cx="7337584" cy="224314"/>
          </a:xfrm>
          <a:prstGeom prst="rect">
            <a:avLst/>
          </a:prstGeom>
          <a:noFill/>
          <a:ln>
            <a:noFill/>
          </a:ln>
        </p:spPr>
        <p:txBody>
          <a:bodyPr spcFirstLastPara="1" wrap="square" lIns="0" tIns="0" rIns="0" bIns="0" anchor="t" anchorCtr="0">
            <a:noAutofit/>
          </a:bodyPr>
          <a:lstStyle/>
          <a:p>
            <a:pPr marL="0" marR="0" lvl="0" indent="0" algn="l" rtl="0">
              <a:lnSpc>
                <a:spcPct val="159090"/>
              </a:lnSpc>
              <a:spcBef>
                <a:spcPts val="0"/>
              </a:spcBef>
              <a:spcAft>
                <a:spcPts val="0"/>
              </a:spcAft>
              <a:buClr>
                <a:schemeClr val="dk1"/>
              </a:buClr>
              <a:buSzPts val="1100"/>
              <a:buFont typeface="Calibri"/>
              <a:buNone/>
            </a:pPr>
            <a:endParaRPr sz="1100">
              <a:solidFill>
                <a:schemeClr val="dk1"/>
              </a:solidFill>
              <a:latin typeface="Calibri"/>
              <a:ea typeface="Calibri"/>
              <a:cs typeface="Calibri"/>
              <a:sym typeface="Calibri"/>
            </a:endParaRPr>
          </a:p>
        </p:txBody>
      </p:sp>
      <p:pic>
        <p:nvPicPr>
          <p:cNvPr id="195" name="Google Shape;195;p7" descr="preencoded.png"/>
          <p:cNvPicPr preferRelativeResize="0"/>
          <p:nvPr/>
        </p:nvPicPr>
        <p:blipFill rotWithShape="1">
          <a:blip r:embed="rId4">
            <a:alphaModFix/>
          </a:blip>
          <a:srcRect/>
          <a:stretch/>
        </p:blipFill>
        <p:spPr>
          <a:xfrm>
            <a:off x="6505337" y="4993958"/>
            <a:ext cx="189309" cy="189309"/>
          </a:xfrm>
          <a:prstGeom prst="rect">
            <a:avLst/>
          </a:prstGeom>
          <a:noFill/>
          <a:ln>
            <a:noFill/>
          </a:ln>
        </p:spPr>
      </p:pic>
      <p:sp>
        <p:nvSpPr>
          <p:cNvPr id="196" name="Google Shape;196;p7"/>
          <p:cNvSpPr/>
          <p:nvPr/>
        </p:nvSpPr>
        <p:spPr>
          <a:xfrm>
            <a:off x="6389608" y="5742742"/>
            <a:ext cx="7337584" cy="224314"/>
          </a:xfrm>
          <a:prstGeom prst="rect">
            <a:avLst/>
          </a:prstGeom>
          <a:noFill/>
          <a:ln>
            <a:noFill/>
          </a:ln>
        </p:spPr>
        <p:txBody>
          <a:bodyPr spcFirstLastPara="1" wrap="square" lIns="0" tIns="0" rIns="0" bIns="0" anchor="t" anchorCtr="0">
            <a:noAutofit/>
          </a:bodyPr>
          <a:lstStyle/>
          <a:p>
            <a:pPr marL="0" marR="0" lvl="0" indent="0" algn="l" rtl="0">
              <a:lnSpc>
                <a:spcPct val="159090"/>
              </a:lnSpc>
              <a:spcBef>
                <a:spcPts val="0"/>
              </a:spcBef>
              <a:spcAft>
                <a:spcPts val="0"/>
              </a:spcAft>
              <a:buClr>
                <a:schemeClr val="dk1"/>
              </a:buClr>
              <a:buSzPts val="1100"/>
              <a:buFont typeface="Calibri"/>
              <a:buNone/>
            </a:pPr>
            <a:endParaRPr sz="1100">
              <a:solidFill>
                <a:schemeClr val="dk1"/>
              </a:solidFill>
              <a:latin typeface="Calibri"/>
              <a:ea typeface="Calibri"/>
              <a:cs typeface="Calibri"/>
              <a:sym typeface="Calibri"/>
            </a:endParaRPr>
          </a:p>
        </p:txBody>
      </p:sp>
      <p:pic>
        <p:nvPicPr>
          <p:cNvPr id="197" name="Google Shape;197;p7" descr="preencoded.png"/>
          <p:cNvPicPr preferRelativeResize="0"/>
          <p:nvPr/>
        </p:nvPicPr>
        <p:blipFill rotWithShape="1">
          <a:blip r:embed="rId5">
            <a:alphaModFix/>
          </a:blip>
          <a:srcRect/>
          <a:stretch/>
        </p:blipFill>
        <p:spPr>
          <a:xfrm>
            <a:off x="6505337" y="6518791"/>
            <a:ext cx="189309" cy="189309"/>
          </a:xfrm>
          <a:prstGeom prst="rect">
            <a:avLst/>
          </a:prstGeom>
          <a:noFill/>
          <a:ln>
            <a:noFill/>
          </a:ln>
        </p:spPr>
      </p:pic>
      <p:sp>
        <p:nvSpPr>
          <p:cNvPr id="198" name="Google Shape;198;p7"/>
          <p:cNvSpPr txBox="1"/>
          <p:nvPr/>
        </p:nvSpPr>
        <p:spPr>
          <a:xfrm>
            <a:off x="999070" y="2511206"/>
            <a:ext cx="12988599" cy="4031833"/>
          </a:xfrm>
          <a:prstGeom prst="rect">
            <a:avLst/>
          </a:prstGeom>
          <a:noFill/>
          <a:ln>
            <a:noFill/>
          </a:ln>
        </p:spPr>
        <p:txBody>
          <a:bodyPr spcFirstLastPara="1" wrap="square" lIns="91425" tIns="45700" rIns="91425" bIns="45700" anchor="t" anchorCtr="0">
            <a:spAutoFit/>
          </a:bodyPr>
          <a:lstStyle/>
          <a:p>
            <a:pPr marL="571500" marR="0" lvl="0" indent="-571500" algn="l" rtl="0">
              <a:spcBef>
                <a:spcPts val="0"/>
              </a:spcBef>
              <a:spcAft>
                <a:spcPts val="0"/>
              </a:spcAft>
              <a:buClr>
                <a:schemeClr val="lt1"/>
              </a:buClr>
              <a:buSzPts val="3600"/>
              <a:buFont typeface="Arial"/>
              <a:buChar char="•"/>
            </a:pPr>
            <a:r>
              <a:rPr lang="en-US" sz="3200" dirty="0">
                <a:solidFill>
                  <a:schemeClr val="lt1"/>
                </a:solidFill>
                <a:latin typeface="Merriweather" panose="00000500000000000000" pitchFamily="2" charset="0"/>
                <a:ea typeface="Calibri"/>
                <a:cs typeface="Calibri"/>
                <a:sym typeface="Calibri"/>
              </a:rPr>
              <a:t>Used the IQI-GWO algorithm as the core feature selection and  optimization engine</a:t>
            </a:r>
            <a:endParaRPr sz="3200" dirty="0">
              <a:latin typeface="Merriweather" panose="00000500000000000000" pitchFamily="2" charset="0"/>
            </a:endParaRPr>
          </a:p>
          <a:p>
            <a:pPr marL="571500" marR="0" lvl="0" indent="-571500" algn="l" rtl="0">
              <a:spcBef>
                <a:spcPts val="0"/>
              </a:spcBef>
              <a:spcAft>
                <a:spcPts val="0"/>
              </a:spcAft>
              <a:buClr>
                <a:schemeClr val="lt1"/>
              </a:buClr>
              <a:buSzPts val="3600"/>
              <a:buFont typeface="Arial"/>
              <a:buChar char="•"/>
            </a:pPr>
            <a:r>
              <a:rPr lang="en-US" sz="3200" dirty="0">
                <a:solidFill>
                  <a:schemeClr val="lt1"/>
                </a:solidFill>
                <a:latin typeface="Merriweather" panose="00000500000000000000" pitchFamily="2" charset="0"/>
                <a:ea typeface="Calibri"/>
                <a:cs typeface="Calibri"/>
                <a:sym typeface="Calibri"/>
              </a:rPr>
              <a:t>Extended its scope beyond medical datasets to general image classification tasks</a:t>
            </a:r>
            <a:endParaRPr sz="3200" dirty="0">
              <a:latin typeface="Merriweather" panose="00000500000000000000" pitchFamily="2" charset="0"/>
            </a:endParaRPr>
          </a:p>
          <a:p>
            <a:pPr marL="571500" marR="0" lvl="0" indent="-571500" algn="l" rtl="0">
              <a:spcBef>
                <a:spcPts val="0"/>
              </a:spcBef>
              <a:spcAft>
                <a:spcPts val="0"/>
              </a:spcAft>
              <a:buClr>
                <a:schemeClr val="lt1"/>
              </a:buClr>
              <a:buSzPts val="3600"/>
              <a:buFont typeface="Arial"/>
              <a:buChar char="•"/>
            </a:pPr>
            <a:r>
              <a:rPr lang="en-US" sz="3200" dirty="0">
                <a:solidFill>
                  <a:schemeClr val="lt1"/>
                </a:solidFill>
                <a:latin typeface="Merriweather" panose="00000500000000000000" pitchFamily="2" charset="0"/>
                <a:ea typeface="Calibri"/>
                <a:cs typeface="Calibri"/>
                <a:sym typeface="Calibri"/>
              </a:rPr>
              <a:t>Evaluated using new datasets to test the robustness and generalization of the proposed approach</a:t>
            </a:r>
            <a:endParaRPr sz="3200" dirty="0">
              <a:latin typeface="Merriweather" panose="00000500000000000000" pitchFamily="2" charset="0"/>
            </a:endParaRPr>
          </a:p>
          <a:p>
            <a:pPr marL="571500" marR="0" lvl="0" indent="-571500" algn="l" rtl="0">
              <a:spcBef>
                <a:spcPts val="0"/>
              </a:spcBef>
              <a:spcAft>
                <a:spcPts val="0"/>
              </a:spcAft>
              <a:buClr>
                <a:schemeClr val="lt1"/>
              </a:buClr>
              <a:buSzPts val="3600"/>
              <a:buFont typeface="Arial"/>
              <a:buChar char="•"/>
            </a:pPr>
            <a:r>
              <a:rPr lang="en-US" sz="3200" dirty="0">
                <a:solidFill>
                  <a:schemeClr val="lt1"/>
                </a:solidFill>
                <a:latin typeface="Merriweather" panose="00000500000000000000" pitchFamily="2" charset="0"/>
                <a:ea typeface="Calibri"/>
                <a:cs typeface="Calibri"/>
                <a:sym typeface="Calibri"/>
              </a:rPr>
              <a:t>Results compared pre- and post-optimization (baseline SVM vs. IQI-GWO) </a:t>
            </a:r>
            <a:endParaRPr sz="3200" dirty="0">
              <a:solidFill>
                <a:schemeClr val="lt1"/>
              </a:solidFill>
              <a:latin typeface="Merriweather" panose="00000500000000000000" pitchFamily="2" charset="0"/>
              <a:ea typeface="Calibri"/>
              <a:cs typeface="Calibri"/>
              <a:sym typeface="Calibri"/>
            </a:endParaRPr>
          </a:p>
        </p:txBody>
      </p:sp>
      <p:pic>
        <p:nvPicPr>
          <p:cNvPr id="199" name="Google Shape;199;p7"/>
          <p:cNvPicPr preferRelativeResize="0"/>
          <p:nvPr/>
        </p:nvPicPr>
        <p:blipFill rotWithShape="1">
          <a:blip r:embed="rId6">
            <a:alphaModFix/>
          </a:blip>
          <a:srcRect/>
          <a:stretch/>
        </p:blipFill>
        <p:spPr>
          <a:xfrm>
            <a:off x="12138339" y="6661502"/>
            <a:ext cx="2387838" cy="152694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8"/>
          <p:cNvSpPr/>
          <p:nvPr/>
        </p:nvSpPr>
        <p:spPr>
          <a:xfrm>
            <a:off x="863798" y="730568"/>
            <a:ext cx="12246895" cy="1850946"/>
          </a:xfrm>
          <a:prstGeom prst="rect">
            <a:avLst/>
          </a:prstGeom>
          <a:noFill/>
          <a:ln>
            <a:noFill/>
          </a:ln>
        </p:spPr>
        <p:txBody>
          <a:bodyPr spcFirstLastPara="1" wrap="square" lIns="0" tIns="0" rIns="0" bIns="0" anchor="t" anchorCtr="0">
            <a:noAutofit/>
          </a:bodyPr>
          <a:lstStyle/>
          <a:p>
            <a:pPr marL="0" marR="0" lvl="0" indent="0" algn="ctr" rtl="0">
              <a:lnSpc>
                <a:spcPct val="125974"/>
              </a:lnSpc>
              <a:spcBef>
                <a:spcPts val="0"/>
              </a:spcBef>
              <a:spcAft>
                <a:spcPts val="0"/>
              </a:spcAft>
              <a:buClr>
                <a:srgbClr val="F5F0F0"/>
              </a:buClr>
              <a:buSzPts val="3850"/>
              <a:buFont typeface="Merriweather"/>
              <a:buNone/>
            </a:pPr>
            <a:r>
              <a:rPr lang="en-US" sz="3850">
                <a:solidFill>
                  <a:srgbClr val="F5F0F0"/>
                </a:solidFill>
                <a:latin typeface="Merriweather"/>
                <a:ea typeface="Merriweather"/>
                <a:cs typeface="Merriweather"/>
                <a:sym typeface="Merriweather"/>
              </a:rPr>
              <a:t>Literature Review on Breast Cancer Diagnosis and Optimisation</a:t>
            </a:r>
            <a:endParaRPr sz="3850">
              <a:solidFill>
                <a:schemeClr val="dk1"/>
              </a:solidFill>
              <a:latin typeface="Calibri"/>
              <a:ea typeface="Calibri"/>
              <a:cs typeface="Calibri"/>
              <a:sym typeface="Calibri"/>
            </a:endParaRPr>
          </a:p>
        </p:txBody>
      </p:sp>
      <p:sp>
        <p:nvSpPr>
          <p:cNvPr id="206" name="Google Shape;206;p8"/>
          <p:cNvSpPr/>
          <p:nvPr/>
        </p:nvSpPr>
        <p:spPr>
          <a:xfrm>
            <a:off x="863798" y="2322494"/>
            <a:ext cx="13045385" cy="928092"/>
          </a:xfrm>
          <a:prstGeom prst="rect">
            <a:avLst/>
          </a:prstGeom>
          <a:noFill/>
          <a:ln>
            <a:noFill/>
          </a:ln>
        </p:spPr>
        <p:txBody>
          <a:bodyPr spcFirstLastPara="1" wrap="square" lIns="0" tIns="0" rIns="0" bIns="0" anchor="t" anchorCtr="0">
            <a:noAutofit/>
          </a:bodyPr>
          <a:lstStyle/>
          <a:p>
            <a:pPr marL="0" marR="0" lvl="0" indent="0" algn="ctr" rtl="0">
              <a:lnSpc>
                <a:spcPct val="87500"/>
              </a:lnSpc>
              <a:spcBef>
                <a:spcPts val="0"/>
              </a:spcBef>
              <a:spcAft>
                <a:spcPts val="0"/>
              </a:spcAft>
              <a:buNone/>
            </a:pPr>
            <a:r>
              <a:rPr lang="en-US" sz="2800">
                <a:solidFill>
                  <a:schemeClr val="lt1"/>
                </a:solidFill>
                <a:latin typeface="Calibri"/>
                <a:ea typeface="Calibri"/>
                <a:cs typeface="Calibri"/>
                <a:sym typeface="Calibri"/>
              </a:rPr>
              <a:t>Extensive research focuses on improving accuracy of Breast Cancer classification using machine learning techniques. </a:t>
            </a:r>
            <a:endParaRPr/>
          </a:p>
        </p:txBody>
      </p:sp>
      <p:sp>
        <p:nvSpPr>
          <p:cNvPr id="207" name="Google Shape;207;p8"/>
          <p:cNvSpPr/>
          <p:nvPr/>
        </p:nvSpPr>
        <p:spPr>
          <a:xfrm>
            <a:off x="2995232" y="3731657"/>
            <a:ext cx="3609499" cy="2100977"/>
          </a:xfrm>
          <a:prstGeom prst="roundRect">
            <a:avLst>
              <a:gd name="adj" fmla="val 3947"/>
            </a:avLst>
          </a:prstGeom>
          <a:solidFill>
            <a:srgbClr val="003180"/>
          </a:solidFill>
          <a:ln w="9525" cap="flat" cmpd="sng">
            <a:solidFill>
              <a:srgbClr val="194A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8"/>
          <p:cNvSpPr/>
          <p:nvPr/>
        </p:nvSpPr>
        <p:spPr>
          <a:xfrm>
            <a:off x="3200258" y="3936683"/>
            <a:ext cx="3199447" cy="616982"/>
          </a:xfrm>
          <a:prstGeom prst="rect">
            <a:avLst/>
          </a:prstGeom>
          <a:noFill/>
          <a:ln>
            <a:noFill/>
          </a:ln>
        </p:spPr>
        <p:txBody>
          <a:bodyPr spcFirstLastPara="1" wrap="square" lIns="0" tIns="0" rIns="0" bIns="0" anchor="t" anchorCtr="0">
            <a:noAutofit/>
          </a:bodyPr>
          <a:lstStyle/>
          <a:p>
            <a:pPr marL="0" marR="0" lvl="0" indent="0" algn="l" rtl="0">
              <a:lnSpc>
                <a:spcPct val="126315"/>
              </a:lnSpc>
              <a:spcBef>
                <a:spcPts val="0"/>
              </a:spcBef>
              <a:spcAft>
                <a:spcPts val="0"/>
              </a:spcAft>
              <a:buClr>
                <a:srgbClr val="E2E6E9"/>
              </a:buClr>
              <a:buSzPts val="1900"/>
              <a:buFont typeface="Merriweather"/>
              <a:buNone/>
            </a:pPr>
            <a:r>
              <a:rPr lang="en-US" sz="1900">
                <a:solidFill>
                  <a:srgbClr val="E2E6E9"/>
                </a:solidFill>
                <a:latin typeface="Merriweather"/>
                <a:ea typeface="Merriweather"/>
                <a:cs typeface="Merriweather"/>
                <a:sym typeface="Merriweather"/>
              </a:rPr>
              <a:t>Support Vector Machine (SVM)</a:t>
            </a:r>
            <a:endParaRPr sz="1900">
              <a:solidFill>
                <a:schemeClr val="dk1"/>
              </a:solidFill>
              <a:latin typeface="Calibri"/>
              <a:ea typeface="Calibri"/>
              <a:cs typeface="Calibri"/>
              <a:sym typeface="Calibri"/>
            </a:endParaRPr>
          </a:p>
        </p:txBody>
      </p:sp>
      <p:sp>
        <p:nvSpPr>
          <p:cNvPr id="209" name="Google Shape;209;p8"/>
          <p:cNvSpPr/>
          <p:nvPr/>
        </p:nvSpPr>
        <p:spPr>
          <a:xfrm>
            <a:off x="3200258" y="4672132"/>
            <a:ext cx="3199447" cy="947976"/>
          </a:xfrm>
          <a:prstGeom prst="rect">
            <a:avLst/>
          </a:prstGeom>
          <a:noFill/>
          <a:ln>
            <a:noFill/>
          </a:ln>
        </p:spPr>
        <p:txBody>
          <a:bodyPr spcFirstLastPara="1" wrap="square" lIns="0" tIns="0" rIns="0" bIns="0" anchor="t" anchorCtr="0">
            <a:noAutofit/>
          </a:bodyPr>
          <a:lstStyle/>
          <a:p>
            <a:pPr marL="0" marR="0" lvl="0" indent="0" algn="l" rtl="0">
              <a:lnSpc>
                <a:spcPct val="158064"/>
              </a:lnSpc>
              <a:spcBef>
                <a:spcPts val="0"/>
              </a:spcBef>
              <a:spcAft>
                <a:spcPts val="0"/>
              </a:spcAft>
              <a:buClr>
                <a:srgbClr val="E2E6E9"/>
              </a:buClr>
              <a:buSzPts val="1550"/>
              <a:buFont typeface="Merriweather"/>
              <a:buNone/>
            </a:pPr>
            <a:r>
              <a:rPr lang="en-US" sz="1550">
                <a:solidFill>
                  <a:srgbClr val="E2E6E9"/>
                </a:solidFill>
                <a:latin typeface="Merriweather"/>
                <a:ea typeface="Merriweather"/>
                <a:cs typeface="Merriweather"/>
                <a:sym typeface="Merriweather"/>
              </a:rPr>
              <a:t>Widely adopted for binary classification (Benign vs Malignant)</a:t>
            </a:r>
            <a:endParaRPr sz="1550">
              <a:solidFill>
                <a:schemeClr val="dk1"/>
              </a:solidFill>
              <a:latin typeface="Calibri"/>
              <a:ea typeface="Calibri"/>
              <a:cs typeface="Calibri"/>
              <a:sym typeface="Calibri"/>
            </a:endParaRPr>
          </a:p>
        </p:txBody>
      </p:sp>
      <p:sp>
        <p:nvSpPr>
          <p:cNvPr id="210" name="Google Shape;210;p8"/>
          <p:cNvSpPr/>
          <p:nvPr/>
        </p:nvSpPr>
        <p:spPr>
          <a:xfrm>
            <a:off x="6728257" y="3731657"/>
            <a:ext cx="3609499" cy="2100977"/>
          </a:xfrm>
          <a:prstGeom prst="roundRect">
            <a:avLst>
              <a:gd name="adj" fmla="val 3947"/>
            </a:avLst>
          </a:prstGeom>
          <a:solidFill>
            <a:srgbClr val="003180"/>
          </a:solidFill>
          <a:ln w="9525" cap="flat" cmpd="sng">
            <a:solidFill>
              <a:srgbClr val="194A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8"/>
          <p:cNvSpPr/>
          <p:nvPr/>
        </p:nvSpPr>
        <p:spPr>
          <a:xfrm>
            <a:off x="6987245" y="3878318"/>
            <a:ext cx="2986683" cy="308491"/>
          </a:xfrm>
          <a:prstGeom prst="rect">
            <a:avLst/>
          </a:prstGeom>
          <a:noFill/>
          <a:ln>
            <a:noFill/>
          </a:ln>
        </p:spPr>
        <p:txBody>
          <a:bodyPr spcFirstLastPara="1" wrap="square" lIns="0" tIns="0" rIns="0" bIns="0" anchor="t" anchorCtr="0">
            <a:noAutofit/>
          </a:bodyPr>
          <a:lstStyle/>
          <a:p>
            <a:pPr marL="0" marR="0" lvl="0" indent="0" algn="l" rtl="0">
              <a:lnSpc>
                <a:spcPct val="126315"/>
              </a:lnSpc>
              <a:spcBef>
                <a:spcPts val="0"/>
              </a:spcBef>
              <a:spcAft>
                <a:spcPts val="0"/>
              </a:spcAft>
              <a:buClr>
                <a:srgbClr val="E2E6E9"/>
              </a:buClr>
              <a:buSzPts val="1900"/>
              <a:buFont typeface="Merriweather"/>
              <a:buNone/>
            </a:pPr>
            <a:r>
              <a:rPr lang="en-US" sz="1900">
                <a:solidFill>
                  <a:srgbClr val="E2E6E9"/>
                </a:solidFill>
                <a:latin typeface="Merriweather"/>
                <a:ea typeface="Merriweather"/>
                <a:cs typeface="Merriweather"/>
                <a:sym typeface="Merriweather"/>
              </a:rPr>
              <a:t>Optimisation Algorithms</a:t>
            </a:r>
            <a:endParaRPr sz="1900">
              <a:solidFill>
                <a:schemeClr val="dk1"/>
              </a:solidFill>
              <a:latin typeface="Calibri"/>
              <a:ea typeface="Calibri"/>
              <a:cs typeface="Calibri"/>
              <a:sym typeface="Calibri"/>
            </a:endParaRPr>
          </a:p>
        </p:txBody>
      </p:sp>
      <p:sp>
        <p:nvSpPr>
          <p:cNvPr id="212" name="Google Shape;212;p8"/>
          <p:cNvSpPr/>
          <p:nvPr/>
        </p:nvSpPr>
        <p:spPr>
          <a:xfrm>
            <a:off x="7007610" y="4292807"/>
            <a:ext cx="3199447" cy="1263968"/>
          </a:xfrm>
          <a:prstGeom prst="rect">
            <a:avLst/>
          </a:prstGeom>
          <a:noFill/>
          <a:ln>
            <a:noFill/>
          </a:ln>
        </p:spPr>
        <p:txBody>
          <a:bodyPr spcFirstLastPara="1" wrap="square" lIns="0" tIns="0" rIns="0" bIns="0" anchor="t" anchorCtr="0">
            <a:noAutofit/>
          </a:bodyPr>
          <a:lstStyle/>
          <a:p>
            <a:pPr marL="0" marR="0" lvl="0" indent="0" algn="l" rtl="0">
              <a:lnSpc>
                <a:spcPct val="158064"/>
              </a:lnSpc>
              <a:spcBef>
                <a:spcPts val="0"/>
              </a:spcBef>
              <a:spcAft>
                <a:spcPts val="0"/>
              </a:spcAft>
              <a:buClr>
                <a:srgbClr val="E2E6E9"/>
              </a:buClr>
              <a:buSzPts val="1550"/>
              <a:buFont typeface="Merriweather"/>
              <a:buNone/>
            </a:pPr>
            <a:r>
              <a:rPr lang="en-US" sz="1550">
                <a:solidFill>
                  <a:srgbClr val="E2E6E9"/>
                </a:solidFill>
                <a:latin typeface="Merriweather"/>
                <a:ea typeface="Merriweather"/>
                <a:cs typeface="Merriweather"/>
                <a:sym typeface="Merriweather"/>
              </a:rPr>
              <a:t>Grey Wolf Optimiser (GWO), Genetic Algorithm (GA), and Particle Swarm Optimisation (PSO) enhance SVM performance</a:t>
            </a:r>
            <a:endParaRPr sz="1550">
              <a:solidFill>
                <a:schemeClr val="dk1"/>
              </a:solidFill>
              <a:latin typeface="Calibri"/>
              <a:ea typeface="Calibri"/>
              <a:cs typeface="Calibri"/>
              <a:sym typeface="Calibri"/>
            </a:endParaRPr>
          </a:p>
        </p:txBody>
      </p:sp>
      <p:sp>
        <p:nvSpPr>
          <p:cNvPr id="213" name="Google Shape;213;p8"/>
          <p:cNvSpPr/>
          <p:nvPr/>
        </p:nvSpPr>
        <p:spPr>
          <a:xfrm>
            <a:off x="2995232" y="6030039"/>
            <a:ext cx="7416403" cy="1468993"/>
          </a:xfrm>
          <a:prstGeom prst="roundRect">
            <a:avLst>
              <a:gd name="adj" fmla="val 5646"/>
            </a:avLst>
          </a:prstGeom>
          <a:solidFill>
            <a:srgbClr val="003180"/>
          </a:solidFill>
          <a:ln w="9525" cap="flat" cmpd="sng">
            <a:solidFill>
              <a:srgbClr val="194A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8"/>
          <p:cNvSpPr/>
          <p:nvPr/>
        </p:nvSpPr>
        <p:spPr>
          <a:xfrm>
            <a:off x="3200258" y="6235065"/>
            <a:ext cx="2468285" cy="308491"/>
          </a:xfrm>
          <a:prstGeom prst="rect">
            <a:avLst/>
          </a:prstGeom>
          <a:noFill/>
          <a:ln>
            <a:noFill/>
          </a:ln>
        </p:spPr>
        <p:txBody>
          <a:bodyPr spcFirstLastPara="1" wrap="square" lIns="0" tIns="0" rIns="0" bIns="0" anchor="t" anchorCtr="0">
            <a:noAutofit/>
          </a:bodyPr>
          <a:lstStyle/>
          <a:p>
            <a:pPr marL="0" marR="0" lvl="0" indent="0" algn="l" rtl="0">
              <a:lnSpc>
                <a:spcPct val="126315"/>
              </a:lnSpc>
              <a:spcBef>
                <a:spcPts val="0"/>
              </a:spcBef>
              <a:spcAft>
                <a:spcPts val="0"/>
              </a:spcAft>
              <a:buClr>
                <a:srgbClr val="E2E6E9"/>
              </a:buClr>
              <a:buSzPts val="1900"/>
              <a:buFont typeface="Merriweather"/>
              <a:buNone/>
            </a:pPr>
            <a:r>
              <a:rPr lang="en-US" sz="1900">
                <a:solidFill>
                  <a:srgbClr val="E2E6E9"/>
                </a:solidFill>
                <a:latin typeface="Merriweather"/>
                <a:ea typeface="Merriweather"/>
                <a:cs typeface="Merriweather"/>
                <a:sym typeface="Merriweather"/>
              </a:rPr>
              <a:t>Recent Advances</a:t>
            </a:r>
            <a:endParaRPr sz="1900">
              <a:solidFill>
                <a:schemeClr val="dk1"/>
              </a:solidFill>
              <a:latin typeface="Calibri"/>
              <a:ea typeface="Calibri"/>
              <a:cs typeface="Calibri"/>
              <a:sym typeface="Calibri"/>
            </a:endParaRPr>
          </a:p>
        </p:txBody>
      </p:sp>
      <p:sp>
        <p:nvSpPr>
          <p:cNvPr id="215" name="Google Shape;215;p8"/>
          <p:cNvSpPr/>
          <p:nvPr/>
        </p:nvSpPr>
        <p:spPr>
          <a:xfrm>
            <a:off x="3200258" y="6662023"/>
            <a:ext cx="7006352" cy="631984"/>
          </a:xfrm>
          <a:prstGeom prst="rect">
            <a:avLst/>
          </a:prstGeom>
          <a:noFill/>
          <a:ln>
            <a:noFill/>
          </a:ln>
        </p:spPr>
        <p:txBody>
          <a:bodyPr spcFirstLastPara="1" wrap="square" lIns="0" tIns="0" rIns="0" bIns="0" anchor="t" anchorCtr="0">
            <a:noAutofit/>
          </a:bodyPr>
          <a:lstStyle/>
          <a:p>
            <a:pPr marL="0" marR="0" lvl="0" indent="0" algn="l" rtl="0">
              <a:lnSpc>
                <a:spcPct val="158064"/>
              </a:lnSpc>
              <a:spcBef>
                <a:spcPts val="0"/>
              </a:spcBef>
              <a:spcAft>
                <a:spcPts val="0"/>
              </a:spcAft>
              <a:buClr>
                <a:srgbClr val="E2E6E9"/>
              </a:buClr>
              <a:buSzPts val="1550"/>
              <a:buFont typeface="Merriweather"/>
              <a:buNone/>
            </a:pPr>
            <a:r>
              <a:rPr lang="en-US" sz="1550">
                <a:solidFill>
                  <a:srgbClr val="E2E6E9"/>
                </a:solidFill>
                <a:latin typeface="Merriweather"/>
                <a:ea typeface="Merriweather"/>
                <a:cs typeface="Merriweather"/>
                <a:sym typeface="Merriweather"/>
              </a:rPr>
              <a:t>Quantum-Inspired and Hybrid metaheuristics combine classical and quantum computation to improve convergence speed and accuracy</a:t>
            </a:r>
            <a:endParaRPr sz="1550">
              <a:solidFill>
                <a:schemeClr val="dk1"/>
              </a:solidFill>
              <a:latin typeface="Calibri"/>
              <a:ea typeface="Calibri"/>
              <a:cs typeface="Calibri"/>
              <a:sym typeface="Calibri"/>
            </a:endParaRPr>
          </a:p>
        </p:txBody>
      </p:sp>
      <p:pic>
        <p:nvPicPr>
          <p:cNvPr id="216" name="Google Shape;216;p8"/>
          <p:cNvPicPr preferRelativeResize="0"/>
          <p:nvPr/>
        </p:nvPicPr>
        <p:blipFill rotWithShape="1">
          <a:blip r:embed="rId3">
            <a:alphaModFix/>
          </a:blip>
          <a:srcRect/>
          <a:stretch/>
        </p:blipFill>
        <p:spPr>
          <a:xfrm>
            <a:off x="12865994" y="7101318"/>
            <a:ext cx="1764406" cy="112828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graphicFrame>
        <p:nvGraphicFramePr>
          <p:cNvPr id="221" name="Google Shape;221;p9"/>
          <p:cNvGraphicFramePr/>
          <p:nvPr/>
        </p:nvGraphicFramePr>
        <p:xfrm>
          <a:off x="961400" y="1487510"/>
          <a:ext cx="12617425" cy="5013225"/>
        </p:xfrm>
        <a:graphic>
          <a:graphicData uri="http://schemas.openxmlformats.org/drawingml/2006/table">
            <a:tbl>
              <a:tblPr>
                <a:noFill/>
                <a:tableStyleId>{5276DB2A-A49B-4E71-99EA-B9CB79705D1E}</a:tableStyleId>
              </a:tblPr>
              <a:tblGrid>
                <a:gridCol w="1124975">
                  <a:extLst>
                    <a:ext uri="{9D8B030D-6E8A-4147-A177-3AD203B41FA5}">
                      <a16:colId xmlns:a16="http://schemas.microsoft.com/office/drawing/2014/main" val="20000"/>
                    </a:ext>
                  </a:extLst>
                </a:gridCol>
                <a:gridCol w="3103800">
                  <a:extLst>
                    <a:ext uri="{9D8B030D-6E8A-4147-A177-3AD203B41FA5}">
                      <a16:colId xmlns:a16="http://schemas.microsoft.com/office/drawing/2014/main" val="20001"/>
                    </a:ext>
                  </a:extLst>
                </a:gridCol>
                <a:gridCol w="4687900">
                  <a:extLst>
                    <a:ext uri="{9D8B030D-6E8A-4147-A177-3AD203B41FA5}">
                      <a16:colId xmlns:a16="http://schemas.microsoft.com/office/drawing/2014/main" val="20002"/>
                    </a:ext>
                  </a:extLst>
                </a:gridCol>
                <a:gridCol w="3700750">
                  <a:extLst>
                    <a:ext uri="{9D8B030D-6E8A-4147-A177-3AD203B41FA5}">
                      <a16:colId xmlns:a16="http://schemas.microsoft.com/office/drawing/2014/main" val="20003"/>
                    </a:ext>
                  </a:extLst>
                </a:gridCol>
              </a:tblGrid>
              <a:tr h="482750">
                <a:tc>
                  <a:txBody>
                    <a:bodyPr/>
                    <a:lstStyle/>
                    <a:p>
                      <a:pPr marL="0" marR="0" lvl="0" indent="0" algn="l" rtl="0">
                        <a:spcBef>
                          <a:spcPts val="0"/>
                        </a:spcBef>
                        <a:spcAft>
                          <a:spcPts val="0"/>
                        </a:spcAft>
                        <a:buClr>
                          <a:schemeClr val="lt1"/>
                        </a:buClr>
                        <a:buSzPts val="2000"/>
                        <a:buFont typeface="Calibri"/>
                        <a:buNone/>
                      </a:pPr>
                      <a:r>
                        <a:rPr lang="en-US" sz="2000" b="1" u="none" strike="noStrike" cap="none">
                          <a:solidFill>
                            <a:schemeClr val="lt1"/>
                          </a:solidFill>
                        </a:rPr>
                        <a:t>Year</a:t>
                      </a:r>
                      <a:endParaRPr sz="2000" u="none" strike="noStrike" cap="none">
                        <a:solidFill>
                          <a:schemeClr val="lt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lt1"/>
                        </a:buClr>
                        <a:buSzPts val="2000"/>
                        <a:buFont typeface="Calibri"/>
                        <a:buNone/>
                      </a:pPr>
                      <a:r>
                        <a:rPr lang="en-US" sz="2000" b="1" u="none" strike="noStrike" cap="none">
                          <a:solidFill>
                            <a:schemeClr val="lt1"/>
                          </a:solidFill>
                        </a:rPr>
                        <a:t>Authors / Paper</a:t>
                      </a:r>
                      <a:endParaRPr sz="2000" u="none" strike="noStrike" cap="none">
                        <a:solidFill>
                          <a:schemeClr val="lt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lt1"/>
                        </a:buClr>
                        <a:buSzPts val="2000"/>
                        <a:buFont typeface="Calibri"/>
                        <a:buNone/>
                      </a:pPr>
                      <a:r>
                        <a:rPr lang="en-US" sz="2000" b="1" u="none" strike="noStrike" cap="none">
                          <a:solidFill>
                            <a:schemeClr val="lt1"/>
                          </a:solidFill>
                        </a:rPr>
                        <a:t>Methodology</a:t>
                      </a:r>
                      <a:endParaRPr sz="2000" u="none" strike="noStrike" cap="none">
                        <a:solidFill>
                          <a:schemeClr val="lt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lt1"/>
                        </a:buClr>
                        <a:buSzPts val="2000"/>
                        <a:buFont typeface="Calibri"/>
                        <a:buNone/>
                      </a:pPr>
                      <a:r>
                        <a:rPr lang="en-US" sz="2000" b="1" u="none" strike="noStrike" cap="none">
                          <a:solidFill>
                            <a:schemeClr val="lt1"/>
                          </a:solidFill>
                        </a:rPr>
                        <a:t>Key Outcome</a:t>
                      </a:r>
                      <a:endParaRPr sz="2000" u="none" strike="noStrike" cap="none">
                        <a:solidFill>
                          <a:schemeClr val="lt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1596825">
                <a:tc>
                  <a:txBody>
                    <a:bodyPr/>
                    <a:lstStyle/>
                    <a:p>
                      <a:pPr marL="0" marR="0" lvl="0" indent="0" algn="l" rtl="0">
                        <a:spcBef>
                          <a:spcPts val="0"/>
                        </a:spcBef>
                        <a:spcAft>
                          <a:spcPts val="0"/>
                        </a:spcAft>
                        <a:buClr>
                          <a:schemeClr val="lt1"/>
                        </a:buClr>
                        <a:buSzPts val="2000"/>
                        <a:buFont typeface="Calibri"/>
                        <a:buNone/>
                      </a:pPr>
                      <a:r>
                        <a:rPr lang="en-US" sz="2000" u="none" strike="noStrike" cap="none">
                          <a:solidFill>
                            <a:schemeClr val="lt1"/>
                          </a:solidFill>
                        </a:rPr>
                        <a:t>2016</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lt1"/>
                        </a:buClr>
                        <a:buSzPts val="2000"/>
                        <a:buFont typeface="Calibri"/>
                        <a:buNone/>
                      </a:pPr>
                      <a:r>
                        <a:rPr lang="en-US" sz="2000" u="none" strike="noStrike" cap="none">
                          <a:solidFill>
                            <a:schemeClr val="lt1"/>
                          </a:solidFill>
                        </a:rPr>
                        <a:t>Mirjalili et al.</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lt1"/>
                        </a:buClr>
                        <a:buSzPts val="2000"/>
                        <a:buFont typeface="Calibri"/>
                        <a:buNone/>
                      </a:pPr>
                      <a:r>
                        <a:rPr lang="en-US" sz="2000" u="none" strike="noStrike" cap="none">
                          <a:solidFill>
                            <a:schemeClr val="lt1"/>
                          </a:solidFill>
                        </a:rPr>
                        <a:t>Introduced </a:t>
                      </a:r>
                      <a:r>
                        <a:rPr lang="en-US" sz="2000" b="1" u="none" strike="noStrike" cap="none">
                          <a:solidFill>
                            <a:schemeClr val="lt1"/>
                          </a:solidFill>
                        </a:rPr>
                        <a:t>Grey Wolf Optimizer</a:t>
                      </a:r>
                      <a:r>
                        <a:rPr lang="en-US" sz="2000" u="none" strike="noStrike" cap="none">
                          <a:solidFill>
                            <a:schemeClr val="lt1"/>
                          </a:solidFill>
                        </a:rPr>
                        <a:t> (GWO) inspired by wolf hierarchy and hunting behavior</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lt1"/>
                        </a:buClr>
                        <a:buSzPts val="2000"/>
                        <a:buFont typeface="Calibri"/>
                        <a:buNone/>
                      </a:pPr>
                      <a:r>
                        <a:rPr lang="en-US" sz="2000" u="none" strike="noStrike" cap="none">
                          <a:solidFill>
                            <a:schemeClr val="lt1"/>
                          </a:solidFill>
                        </a:rPr>
                        <a:t>Simple yet powerful global search algorithm</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854100">
                <a:tc>
                  <a:txBody>
                    <a:bodyPr/>
                    <a:lstStyle/>
                    <a:p>
                      <a:pPr marL="0" marR="0" lvl="0" indent="0" algn="l" rtl="0">
                        <a:spcBef>
                          <a:spcPts val="0"/>
                        </a:spcBef>
                        <a:spcAft>
                          <a:spcPts val="0"/>
                        </a:spcAft>
                        <a:buClr>
                          <a:schemeClr val="lt1"/>
                        </a:buClr>
                        <a:buSzPts val="2000"/>
                        <a:buFont typeface="Calibri"/>
                        <a:buNone/>
                      </a:pPr>
                      <a:r>
                        <a:rPr lang="en-US" sz="2000" u="none" strike="noStrike" cap="none">
                          <a:solidFill>
                            <a:schemeClr val="lt1"/>
                          </a:solidFill>
                        </a:rPr>
                        <a:t>2019</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lt1"/>
                        </a:buClr>
                        <a:buSzPts val="2000"/>
                        <a:buFont typeface="Calibri"/>
                        <a:buNone/>
                      </a:pPr>
                      <a:r>
                        <a:rPr lang="en-US" sz="2000" u="none" strike="noStrike" cap="none">
                          <a:solidFill>
                            <a:schemeClr val="lt1"/>
                          </a:solidFill>
                        </a:rPr>
                        <a:t>Saha et al.</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lt1"/>
                        </a:buClr>
                        <a:buSzPts val="2000"/>
                        <a:buFont typeface="Calibri"/>
                        <a:buNone/>
                      </a:pPr>
                      <a:r>
                        <a:rPr lang="en-US" sz="2000" u="none" strike="noStrike" cap="none">
                          <a:solidFill>
                            <a:schemeClr val="lt1"/>
                          </a:solidFill>
                        </a:rPr>
                        <a:t>SVM + PSO for Breast Cancer Diagnosis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lt1"/>
                        </a:buClr>
                        <a:buSzPts val="2000"/>
                        <a:buFont typeface="Calibri"/>
                        <a:buNone/>
                      </a:pPr>
                      <a:r>
                        <a:rPr lang="en-US" sz="2000" u="none" strike="noStrike" cap="none">
                          <a:solidFill>
                            <a:schemeClr val="lt1"/>
                          </a:solidFill>
                        </a:rPr>
                        <a:t>Improved accuracy but slower convergence</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854100">
                <a:tc>
                  <a:txBody>
                    <a:bodyPr/>
                    <a:lstStyle/>
                    <a:p>
                      <a:pPr marL="0" marR="0" lvl="0" indent="0" algn="l" rtl="0">
                        <a:spcBef>
                          <a:spcPts val="0"/>
                        </a:spcBef>
                        <a:spcAft>
                          <a:spcPts val="0"/>
                        </a:spcAft>
                        <a:buClr>
                          <a:schemeClr val="lt1"/>
                        </a:buClr>
                        <a:buSzPts val="2000"/>
                        <a:buFont typeface="Calibri"/>
                        <a:buNone/>
                      </a:pPr>
                      <a:r>
                        <a:rPr lang="en-US" sz="2000" u="none" strike="noStrike" cap="none">
                          <a:solidFill>
                            <a:schemeClr val="lt1"/>
                          </a:solidFill>
                        </a:rPr>
                        <a:t>2021</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lt1"/>
                        </a:buClr>
                        <a:buSzPts val="2000"/>
                        <a:buFont typeface="Calibri"/>
                        <a:buNone/>
                      </a:pPr>
                      <a:r>
                        <a:rPr lang="en-US" sz="2000" u="none" strike="noStrike" cap="none">
                          <a:solidFill>
                            <a:schemeClr val="lt1"/>
                          </a:solidFill>
                        </a:rPr>
                        <a:t>Zhang et al.</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lt1"/>
                        </a:buClr>
                        <a:buSzPts val="2000"/>
                        <a:buFont typeface="Calibri"/>
                        <a:buNone/>
                      </a:pPr>
                      <a:r>
                        <a:rPr lang="en-US" sz="2000" u="none" strike="noStrike" cap="none">
                          <a:solidFill>
                            <a:schemeClr val="lt1"/>
                          </a:solidFill>
                        </a:rPr>
                        <a:t>Quantum-Inspired PSO (QPSO) for medical imaging</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lt1"/>
                        </a:buClr>
                        <a:buSzPts val="2000"/>
                        <a:buFont typeface="Calibri"/>
                        <a:buNone/>
                      </a:pPr>
                      <a:r>
                        <a:rPr lang="en-US" sz="2000" u="none" strike="noStrike" cap="none">
                          <a:solidFill>
                            <a:schemeClr val="lt1"/>
                          </a:solidFill>
                        </a:rPr>
                        <a:t>Enhanced exploration capability</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1225450">
                <a:tc>
                  <a:txBody>
                    <a:bodyPr/>
                    <a:lstStyle/>
                    <a:p>
                      <a:pPr marL="0" marR="0" lvl="0" indent="0" algn="l" rtl="0">
                        <a:spcBef>
                          <a:spcPts val="0"/>
                        </a:spcBef>
                        <a:spcAft>
                          <a:spcPts val="0"/>
                        </a:spcAft>
                        <a:buClr>
                          <a:schemeClr val="lt1"/>
                        </a:buClr>
                        <a:buSzPts val="2000"/>
                        <a:buFont typeface="Calibri"/>
                        <a:buNone/>
                      </a:pPr>
                      <a:r>
                        <a:rPr lang="en-US" sz="2000" u="none" strike="noStrike" cap="none">
                          <a:solidFill>
                            <a:schemeClr val="lt1"/>
                          </a:solidFill>
                        </a:rPr>
                        <a:t>2023</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lt1"/>
                        </a:buClr>
                        <a:buSzPts val="2000"/>
                        <a:buFont typeface="Calibri"/>
                        <a:buNone/>
                      </a:pPr>
                      <a:r>
                        <a:rPr lang="en-US" sz="2000" u="none" strike="noStrike" cap="none">
                          <a:solidFill>
                            <a:schemeClr val="lt1"/>
                          </a:solidFill>
                        </a:rPr>
                        <a:t>Thirumurugan et al. </a:t>
                      </a:r>
                      <a:r>
                        <a:rPr lang="en-US" sz="2000" i="1" u="none" strike="noStrike" cap="none">
                          <a:solidFill>
                            <a:schemeClr val="lt1"/>
                          </a:solidFill>
                        </a:rPr>
                        <a:t>(Base Paper)</a:t>
                      </a:r>
                      <a:endParaRPr sz="2000" u="none" strike="noStrike" cap="none">
                        <a:solidFill>
                          <a:schemeClr val="lt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lt1"/>
                        </a:buClr>
                        <a:buSzPts val="2000"/>
                        <a:buFont typeface="Calibri"/>
                        <a:buNone/>
                      </a:pPr>
                      <a:r>
                        <a:rPr lang="en-US" sz="2000" b="1" u="none" strike="noStrike" cap="none">
                          <a:solidFill>
                            <a:schemeClr val="lt1"/>
                          </a:solidFill>
                        </a:rPr>
                        <a:t>IQI-GWO optimized SVM</a:t>
                      </a:r>
                      <a:r>
                        <a:rPr lang="en-US" sz="2000" u="none" strike="noStrike" cap="none">
                          <a:solidFill>
                            <a:schemeClr val="lt1"/>
                          </a:solidFill>
                        </a:rPr>
                        <a:t> for Breast Cancer Dataset</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lt1"/>
                        </a:buClr>
                        <a:buSzPts val="2000"/>
                        <a:buFont typeface="Calibri"/>
                        <a:buNone/>
                      </a:pPr>
                      <a:r>
                        <a:rPr lang="en-US" sz="2000" u="none" strike="noStrike" cap="none">
                          <a:solidFill>
                            <a:schemeClr val="lt1"/>
                          </a:solidFill>
                        </a:rPr>
                        <a:t>Achieved &gt; 97% accuracy with faster convergence and fewer features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pic>
        <p:nvPicPr>
          <p:cNvPr id="222" name="Google Shape;222;p9"/>
          <p:cNvPicPr preferRelativeResize="0"/>
          <p:nvPr/>
        </p:nvPicPr>
        <p:blipFill rotWithShape="1">
          <a:blip r:embed="rId3">
            <a:alphaModFix/>
          </a:blip>
          <a:srcRect/>
          <a:stretch/>
        </p:blipFill>
        <p:spPr>
          <a:xfrm>
            <a:off x="12281332" y="7120251"/>
            <a:ext cx="2349068" cy="110934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10"/>
          <p:cNvSpPr/>
          <p:nvPr/>
        </p:nvSpPr>
        <p:spPr>
          <a:xfrm>
            <a:off x="863798" y="689848"/>
            <a:ext cx="11787677" cy="771287"/>
          </a:xfrm>
          <a:prstGeom prst="rect">
            <a:avLst/>
          </a:prstGeom>
          <a:noFill/>
          <a:ln>
            <a:noFill/>
          </a:ln>
        </p:spPr>
        <p:txBody>
          <a:bodyPr spcFirstLastPara="1" wrap="square" lIns="0" tIns="0" rIns="0" bIns="0" anchor="t" anchorCtr="0">
            <a:noAutofit/>
          </a:bodyPr>
          <a:lstStyle/>
          <a:p>
            <a:pPr marL="0" marR="0" lvl="0" indent="0" algn="l" rtl="0">
              <a:lnSpc>
                <a:spcPct val="124742"/>
              </a:lnSpc>
              <a:spcBef>
                <a:spcPts val="0"/>
              </a:spcBef>
              <a:spcAft>
                <a:spcPts val="0"/>
              </a:spcAft>
              <a:buClr>
                <a:srgbClr val="F5F0F0"/>
              </a:buClr>
              <a:buSzPts val="4850"/>
              <a:buFont typeface="Merriweather"/>
              <a:buNone/>
            </a:pPr>
            <a:r>
              <a:rPr lang="en-US" sz="4850" dirty="0">
                <a:solidFill>
                  <a:srgbClr val="F5F0F0"/>
                </a:solidFill>
                <a:latin typeface="Merriweather"/>
                <a:ea typeface="Merriweather"/>
                <a:cs typeface="Merriweather"/>
                <a:sym typeface="Merriweather"/>
              </a:rPr>
              <a:t>Contribution Beyond Existing Work</a:t>
            </a:r>
            <a:endParaRPr sz="4850" dirty="0">
              <a:solidFill>
                <a:schemeClr val="dk1"/>
              </a:solidFill>
              <a:latin typeface="Calibri"/>
              <a:ea typeface="Calibri"/>
              <a:cs typeface="Calibri"/>
              <a:sym typeface="Calibri"/>
            </a:endParaRPr>
          </a:p>
        </p:txBody>
      </p:sp>
      <p:sp>
        <p:nvSpPr>
          <p:cNvPr id="229" name="Google Shape;229;p10"/>
          <p:cNvSpPr/>
          <p:nvPr/>
        </p:nvSpPr>
        <p:spPr>
          <a:xfrm>
            <a:off x="863803" y="1954775"/>
            <a:ext cx="602100" cy="308400"/>
          </a:xfrm>
          <a:prstGeom prst="rect">
            <a:avLst/>
          </a:prstGeom>
          <a:noFill/>
          <a:ln>
            <a:noFill/>
          </a:ln>
        </p:spPr>
        <p:txBody>
          <a:bodyPr spcFirstLastPara="1" wrap="square" lIns="0" tIns="0" rIns="0" bIns="0" anchor="t" anchorCtr="0">
            <a:noAutofit/>
          </a:bodyPr>
          <a:lstStyle/>
          <a:p>
            <a:pPr marL="0" marR="0" lvl="0" indent="0" algn="l" rtl="0">
              <a:lnSpc>
                <a:spcPct val="163157"/>
              </a:lnSpc>
              <a:spcBef>
                <a:spcPts val="0"/>
              </a:spcBef>
              <a:spcAft>
                <a:spcPts val="0"/>
              </a:spcAft>
              <a:buClr>
                <a:srgbClr val="E2E6E9"/>
              </a:buClr>
              <a:buSzPts val="1900"/>
              <a:buFont typeface="Merriweather Light"/>
              <a:buNone/>
            </a:pPr>
            <a:r>
              <a:rPr lang="en-US" sz="1900">
                <a:solidFill>
                  <a:srgbClr val="E2E6E9"/>
                </a:solidFill>
                <a:latin typeface="Merriweather Light"/>
                <a:ea typeface="Merriweather Light"/>
                <a:cs typeface="Merriweather Light"/>
                <a:sym typeface="Merriweather Light"/>
              </a:rPr>
              <a:t>01</a:t>
            </a:r>
            <a:endParaRPr sz="1900">
              <a:solidFill>
                <a:schemeClr val="dk1"/>
              </a:solidFill>
              <a:latin typeface="Calibri"/>
              <a:ea typeface="Calibri"/>
              <a:cs typeface="Calibri"/>
              <a:sym typeface="Calibri"/>
            </a:endParaRPr>
          </a:p>
        </p:txBody>
      </p:sp>
      <p:sp>
        <p:nvSpPr>
          <p:cNvPr id="230" name="Google Shape;230;p10"/>
          <p:cNvSpPr/>
          <p:nvPr/>
        </p:nvSpPr>
        <p:spPr>
          <a:xfrm>
            <a:off x="863798" y="2343745"/>
            <a:ext cx="4136350" cy="30480"/>
          </a:xfrm>
          <a:prstGeom prst="rect">
            <a:avLst/>
          </a:prstGeom>
          <a:solidFill>
            <a:srgbClr val="609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0"/>
          <p:cNvSpPr/>
          <p:nvPr/>
        </p:nvSpPr>
        <p:spPr>
          <a:xfrm>
            <a:off x="863798" y="2528054"/>
            <a:ext cx="3776424" cy="385524"/>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E2E6E9"/>
              </a:buClr>
              <a:buSzPts val="2400"/>
              <a:buFont typeface="Merriweather"/>
              <a:buNone/>
            </a:pPr>
            <a:r>
              <a:rPr lang="en-US" sz="2400">
                <a:solidFill>
                  <a:srgbClr val="E2E6E9"/>
                </a:solidFill>
                <a:latin typeface="Merriweather"/>
                <a:ea typeface="Merriweather"/>
                <a:cs typeface="Merriweather"/>
                <a:sym typeface="Merriweather"/>
              </a:rPr>
              <a:t>Multi-Dataset Adaptation</a:t>
            </a:r>
            <a:endParaRPr sz="2400">
              <a:solidFill>
                <a:schemeClr val="dk1"/>
              </a:solidFill>
              <a:latin typeface="Calibri"/>
              <a:ea typeface="Calibri"/>
              <a:cs typeface="Calibri"/>
              <a:sym typeface="Calibri"/>
            </a:endParaRPr>
          </a:p>
        </p:txBody>
      </p:sp>
      <p:sp>
        <p:nvSpPr>
          <p:cNvPr id="232" name="Google Shape;232;p10"/>
          <p:cNvSpPr/>
          <p:nvPr/>
        </p:nvSpPr>
        <p:spPr>
          <a:xfrm>
            <a:off x="863798" y="3061573"/>
            <a:ext cx="4136350" cy="1184434"/>
          </a:xfrm>
          <a:prstGeom prst="rect">
            <a:avLst/>
          </a:prstGeom>
          <a:noFill/>
          <a:ln>
            <a:noFill/>
          </a:ln>
        </p:spPr>
        <p:txBody>
          <a:bodyPr spcFirstLastPara="1" wrap="square" lIns="0" tIns="0" rIns="0" bIns="0" anchor="t" anchorCtr="0">
            <a:noAutofit/>
          </a:bodyPr>
          <a:lstStyle/>
          <a:p>
            <a:pPr marL="0" marR="0" lvl="0" indent="0" algn="l" rtl="0">
              <a:lnSpc>
                <a:spcPct val="163157"/>
              </a:lnSpc>
              <a:spcBef>
                <a:spcPts val="0"/>
              </a:spcBef>
              <a:spcAft>
                <a:spcPts val="0"/>
              </a:spcAft>
              <a:buClr>
                <a:schemeClr val="dk1"/>
              </a:buClr>
              <a:buSzPts val="1900"/>
              <a:buFont typeface="Calibri"/>
              <a:buNone/>
            </a:pPr>
            <a:endParaRPr sz="1900">
              <a:solidFill>
                <a:schemeClr val="dk1"/>
              </a:solidFill>
              <a:latin typeface="Calibri"/>
              <a:ea typeface="Calibri"/>
              <a:cs typeface="Calibri"/>
              <a:sym typeface="Calibri"/>
            </a:endParaRPr>
          </a:p>
        </p:txBody>
      </p:sp>
      <p:sp>
        <p:nvSpPr>
          <p:cNvPr id="233" name="Google Shape;233;p10"/>
          <p:cNvSpPr/>
          <p:nvPr/>
        </p:nvSpPr>
        <p:spPr>
          <a:xfrm>
            <a:off x="5247002" y="1954775"/>
            <a:ext cx="909600" cy="308400"/>
          </a:xfrm>
          <a:prstGeom prst="rect">
            <a:avLst/>
          </a:prstGeom>
          <a:noFill/>
          <a:ln>
            <a:noFill/>
          </a:ln>
        </p:spPr>
        <p:txBody>
          <a:bodyPr spcFirstLastPara="1" wrap="square" lIns="0" tIns="0" rIns="0" bIns="0" anchor="t" anchorCtr="0">
            <a:noAutofit/>
          </a:bodyPr>
          <a:lstStyle/>
          <a:p>
            <a:pPr marL="0" marR="0" lvl="0" indent="0" algn="l" rtl="0">
              <a:lnSpc>
                <a:spcPct val="163157"/>
              </a:lnSpc>
              <a:spcBef>
                <a:spcPts val="0"/>
              </a:spcBef>
              <a:spcAft>
                <a:spcPts val="0"/>
              </a:spcAft>
              <a:buClr>
                <a:srgbClr val="E2E6E9"/>
              </a:buClr>
              <a:buSzPts val="1900"/>
              <a:buFont typeface="Merriweather Light"/>
              <a:buNone/>
            </a:pPr>
            <a:r>
              <a:rPr lang="en-US" sz="1900">
                <a:solidFill>
                  <a:srgbClr val="E2E6E9"/>
                </a:solidFill>
                <a:latin typeface="Merriweather Light"/>
                <a:ea typeface="Merriweather Light"/>
                <a:cs typeface="Merriweather Light"/>
                <a:sym typeface="Merriweather Light"/>
              </a:rPr>
              <a:t>02</a:t>
            </a:r>
            <a:endParaRPr sz="1900">
              <a:solidFill>
                <a:schemeClr val="dk1"/>
              </a:solidFill>
              <a:latin typeface="Calibri"/>
              <a:ea typeface="Calibri"/>
              <a:cs typeface="Calibri"/>
              <a:sym typeface="Calibri"/>
            </a:endParaRPr>
          </a:p>
        </p:txBody>
      </p:sp>
      <p:sp>
        <p:nvSpPr>
          <p:cNvPr id="234" name="Google Shape;234;p10"/>
          <p:cNvSpPr/>
          <p:nvPr/>
        </p:nvSpPr>
        <p:spPr>
          <a:xfrm>
            <a:off x="5246965" y="2343745"/>
            <a:ext cx="4136350" cy="30480"/>
          </a:xfrm>
          <a:prstGeom prst="rect">
            <a:avLst/>
          </a:prstGeom>
          <a:solidFill>
            <a:srgbClr val="609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10"/>
          <p:cNvSpPr/>
          <p:nvPr/>
        </p:nvSpPr>
        <p:spPr>
          <a:xfrm>
            <a:off x="5246965" y="2528054"/>
            <a:ext cx="4136350" cy="771049"/>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E2E6E9"/>
              </a:buClr>
              <a:buSzPts val="2400"/>
              <a:buFont typeface="Merriweather"/>
              <a:buNone/>
            </a:pPr>
            <a:r>
              <a:rPr lang="en-US" sz="2400">
                <a:solidFill>
                  <a:srgbClr val="E2E6E9"/>
                </a:solidFill>
                <a:latin typeface="Merriweather"/>
                <a:ea typeface="Merriweather"/>
                <a:cs typeface="Merriweather"/>
                <a:sym typeface="Merriweather"/>
              </a:rPr>
              <a:t>Image-Based Feature Extraction</a:t>
            </a:r>
            <a:endParaRPr sz="2400">
              <a:solidFill>
                <a:schemeClr val="dk1"/>
              </a:solidFill>
              <a:latin typeface="Calibri"/>
              <a:ea typeface="Calibri"/>
              <a:cs typeface="Calibri"/>
              <a:sym typeface="Calibri"/>
            </a:endParaRPr>
          </a:p>
        </p:txBody>
      </p:sp>
      <p:sp>
        <p:nvSpPr>
          <p:cNvPr id="236" name="Google Shape;236;p10"/>
          <p:cNvSpPr/>
          <p:nvPr/>
        </p:nvSpPr>
        <p:spPr>
          <a:xfrm>
            <a:off x="5246965" y="3447098"/>
            <a:ext cx="4136350" cy="1579245"/>
          </a:xfrm>
          <a:prstGeom prst="rect">
            <a:avLst/>
          </a:prstGeom>
          <a:noFill/>
          <a:ln>
            <a:noFill/>
          </a:ln>
        </p:spPr>
        <p:txBody>
          <a:bodyPr spcFirstLastPara="1" wrap="square" lIns="0" tIns="0" rIns="0" bIns="0" anchor="t" anchorCtr="0">
            <a:noAutofit/>
          </a:bodyPr>
          <a:lstStyle/>
          <a:p>
            <a:pPr marL="0" marR="0" lvl="0" indent="0" algn="l" rtl="0">
              <a:lnSpc>
                <a:spcPct val="129166"/>
              </a:lnSpc>
              <a:spcBef>
                <a:spcPts val="0"/>
              </a:spcBef>
              <a:spcAft>
                <a:spcPts val="0"/>
              </a:spcAft>
              <a:buNone/>
            </a:pPr>
            <a:r>
              <a:rPr lang="en-US" sz="2400">
                <a:solidFill>
                  <a:schemeClr val="lt1"/>
                </a:solidFill>
                <a:latin typeface="Calibri"/>
                <a:ea typeface="Calibri"/>
                <a:cs typeface="Calibri"/>
                <a:sym typeface="Calibri"/>
              </a:rPr>
              <a:t>Implemented </a:t>
            </a:r>
            <a:r>
              <a:rPr lang="en-US" sz="2400" b="1">
                <a:solidFill>
                  <a:schemeClr val="lt1"/>
                </a:solidFill>
                <a:latin typeface="Calibri"/>
                <a:ea typeface="Calibri"/>
                <a:cs typeface="Calibri"/>
                <a:sym typeface="Calibri"/>
              </a:rPr>
              <a:t>image-based feature extraction (colour histograms)</a:t>
            </a:r>
            <a:r>
              <a:rPr lang="en-US" sz="2400">
                <a:solidFill>
                  <a:schemeClr val="lt1"/>
                </a:solidFill>
                <a:latin typeface="Calibri"/>
                <a:ea typeface="Calibri"/>
                <a:cs typeface="Calibri"/>
                <a:sym typeface="Calibri"/>
              </a:rPr>
              <a:t> rather than tabular data</a:t>
            </a:r>
            <a:endParaRPr sz="2400">
              <a:solidFill>
                <a:schemeClr val="lt1"/>
              </a:solidFill>
              <a:latin typeface="Calibri"/>
              <a:ea typeface="Calibri"/>
              <a:cs typeface="Calibri"/>
              <a:sym typeface="Calibri"/>
            </a:endParaRPr>
          </a:p>
          <a:p>
            <a:pPr marL="0" marR="0" lvl="0" indent="0" algn="l" rtl="0">
              <a:lnSpc>
                <a:spcPct val="163157"/>
              </a:lnSpc>
              <a:spcBef>
                <a:spcPts val="0"/>
              </a:spcBef>
              <a:spcAft>
                <a:spcPts val="0"/>
              </a:spcAft>
              <a:buNone/>
            </a:pPr>
            <a:endParaRPr sz="1900">
              <a:solidFill>
                <a:schemeClr val="dk1"/>
              </a:solidFill>
              <a:latin typeface="Calibri"/>
              <a:ea typeface="Calibri"/>
              <a:cs typeface="Calibri"/>
              <a:sym typeface="Calibri"/>
            </a:endParaRPr>
          </a:p>
        </p:txBody>
      </p:sp>
      <p:sp>
        <p:nvSpPr>
          <p:cNvPr id="237" name="Google Shape;237;p10"/>
          <p:cNvSpPr/>
          <p:nvPr/>
        </p:nvSpPr>
        <p:spPr>
          <a:xfrm>
            <a:off x="9630115" y="1954775"/>
            <a:ext cx="602100" cy="308400"/>
          </a:xfrm>
          <a:prstGeom prst="rect">
            <a:avLst/>
          </a:prstGeom>
          <a:noFill/>
          <a:ln>
            <a:noFill/>
          </a:ln>
        </p:spPr>
        <p:txBody>
          <a:bodyPr spcFirstLastPara="1" wrap="square" lIns="0" tIns="0" rIns="0" bIns="0" anchor="t" anchorCtr="0">
            <a:noAutofit/>
          </a:bodyPr>
          <a:lstStyle/>
          <a:p>
            <a:pPr marL="0" marR="0" lvl="0" indent="0" algn="l" rtl="0">
              <a:lnSpc>
                <a:spcPct val="163157"/>
              </a:lnSpc>
              <a:spcBef>
                <a:spcPts val="0"/>
              </a:spcBef>
              <a:spcAft>
                <a:spcPts val="0"/>
              </a:spcAft>
              <a:buClr>
                <a:srgbClr val="E2E6E9"/>
              </a:buClr>
              <a:buSzPts val="1900"/>
              <a:buFont typeface="Merriweather Light"/>
              <a:buNone/>
            </a:pPr>
            <a:r>
              <a:rPr lang="en-US" sz="1900">
                <a:solidFill>
                  <a:srgbClr val="E2E6E9"/>
                </a:solidFill>
                <a:latin typeface="Merriweather Light"/>
                <a:ea typeface="Merriweather Light"/>
                <a:cs typeface="Merriweather Light"/>
                <a:sym typeface="Merriweather Light"/>
              </a:rPr>
              <a:t>03</a:t>
            </a:r>
            <a:endParaRPr sz="1900">
              <a:solidFill>
                <a:schemeClr val="dk1"/>
              </a:solidFill>
              <a:latin typeface="Calibri"/>
              <a:ea typeface="Calibri"/>
              <a:cs typeface="Calibri"/>
              <a:sym typeface="Calibri"/>
            </a:endParaRPr>
          </a:p>
        </p:txBody>
      </p:sp>
      <p:sp>
        <p:nvSpPr>
          <p:cNvPr id="238" name="Google Shape;238;p10"/>
          <p:cNvSpPr/>
          <p:nvPr/>
        </p:nvSpPr>
        <p:spPr>
          <a:xfrm>
            <a:off x="9630132" y="2343745"/>
            <a:ext cx="4136350" cy="30480"/>
          </a:xfrm>
          <a:prstGeom prst="rect">
            <a:avLst/>
          </a:prstGeom>
          <a:solidFill>
            <a:srgbClr val="609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10"/>
          <p:cNvSpPr/>
          <p:nvPr/>
        </p:nvSpPr>
        <p:spPr>
          <a:xfrm>
            <a:off x="9630132" y="2528054"/>
            <a:ext cx="3932277" cy="385524"/>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E2E6E9"/>
              </a:buClr>
              <a:buSzPts val="2400"/>
              <a:buFont typeface="Merriweather"/>
              <a:buNone/>
            </a:pPr>
            <a:r>
              <a:rPr lang="en-US" sz="2400">
                <a:solidFill>
                  <a:srgbClr val="E2E6E9"/>
                </a:solidFill>
                <a:latin typeface="Merriweather"/>
                <a:ea typeface="Merriweather"/>
                <a:cs typeface="Merriweather"/>
                <a:sym typeface="Merriweather"/>
              </a:rPr>
              <a:t>Modular Training Pipeline</a:t>
            </a:r>
            <a:endParaRPr sz="2400">
              <a:solidFill>
                <a:schemeClr val="dk1"/>
              </a:solidFill>
              <a:latin typeface="Calibri"/>
              <a:ea typeface="Calibri"/>
              <a:cs typeface="Calibri"/>
              <a:sym typeface="Calibri"/>
            </a:endParaRPr>
          </a:p>
        </p:txBody>
      </p:sp>
      <p:sp>
        <p:nvSpPr>
          <p:cNvPr id="240" name="Google Shape;240;p10"/>
          <p:cNvSpPr/>
          <p:nvPr/>
        </p:nvSpPr>
        <p:spPr>
          <a:xfrm>
            <a:off x="9630115" y="3472096"/>
            <a:ext cx="4136350" cy="789622"/>
          </a:xfrm>
          <a:prstGeom prst="rect">
            <a:avLst/>
          </a:prstGeom>
          <a:noFill/>
          <a:ln>
            <a:noFill/>
          </a:ln>
        </p:spPr>
        <p:txBody>
          <a:bodyPr spcFirstLastPara="1" wrap="square" lIns="0" tIns="0" rIns="0" bIns="0" anchor="t" anchorCtr="0">
            <a:noAutofit/>
          </a:bodyPr>
          <a:lstStyle/>
          <a:p>
            <a:pPr marL="0" marR="0" lvl="0" indent="0" algn="l" rtl="0">
              <a:lnSpc>
                <a:spcPct val="163157"/>
              </a:lnSpc>
              <a:spcBef>
                <a:spcPts val="0"/>
              </a:spcBef>
              <a:spcAft>
                <a:spcPts val="0"/>
              </a:spcAft>
              <a:buNone/>
            </a:pPr>
            <a:r>
              <a:rPr lang="en-US" sz="1900" dirty="0">
                <a:solidFill>
                  <a:srgbClr val="E2E6E9"/>
                </a:solidFill>
                <a:latin typeface="Merriweather"/>
                <a:ea typeface="Merriweather"/>
                <a:cs typeface="Merriweather"/>
                <a:sym typeface="Merriweather"/>
              </a:rPr>
              <a:t>Integrated validation split and modular training pipeline</a:t>
            </a:r>
            <a:endParaRPr sz="1900" dirty="0">
              <a:solidFill>
                <a:schemeClr val="dk1"/>
              </a:solidFill>
              <a:latin typeface="Calibri"/>
              <a:ea typeface="Calibri"/>
              <a:cs typeface="Calibri"/>
              <a:sym typeface="Calibri"/>
            </a:endParaRPr>
          </a:p>
        </p:txBody>
      </p:sp>
      <p:sp>
        <p:nvSpPr>
          <p:cNvPr id="241" name="Google Shape;241;p10"/>
          <p:cNvSpPr/>
          <p:nvPr/>
        </p:nvSpPr>
        <p:spPr>
          <a:xfrm>
            <a:off x="863804" y="5458175"/>
            <a:ext cx="748500" cy="308400"/>
          </a:xfrm>
          <a:prstGeom prst="rect">
            <a:avLst/>
          </a:prstGeom>
          <a:noFill/>
          <a:ln>
            <a:noFill/>
          </a:ln>
        </p:spPr>
        <p:txBody>
          <a:bodyPr spcFirstLastPara="1" wrap="square" lIns="0" tIns="0" rIns="0" bIns="0" anchor="t" anchorCtr="0">
            <a:noAutofit/>
          </a:bodyPr>
          <a:lstStyle/>
          <a:p>
            <a:pPr marL="0" marR="0" lvl="0" indent="0" algn="l" rtl="0">
              <a:lnSpc>
                <a:spcPct val="163157"/>
              </a:lnSpc>
              <a:spcBef>
                <a:spcPts val="0"/>
              </a:spcBef>
              <a:spcAft>
                <a:spcPts val="0"/>
              </a:spcAft>
              <a:buClr>
                <a:srgbClr val="E2E6E9"/>
              </a:buClr>
              <a:buSzPts val="1900"/>
              <a:buFont typeface="Merriweather Light"/>
              <a:buNone/>
            </a:pPr>
            <a:r>
              <a:rPr lang="en-US" sz="1900">
                <a:solidFill>
                  <a:srgbClr val="E2E6E9"/>
                </a:solidFill>
                <a:latin typeface="Merriweather Light"/>
                <a:ea typeface="Merriweather Light"/>
                <a:cs typeface="Merriweather Light"/>
                <a:sym typeface="Merriweather Light"/>
              </a:rPr>
              <a:t>04</a:t>
            </a:r>
            <a:endParaRPr sz="1900">
              <a:solidFill>
                <a:schemeClr val="dk1"/>
              </a:solidFill>
              <a:latin typeface="Calibri"/>
              <a:ea typeface="Calibri"/>
              <a:cs typeface="Calibri"/>
              <a:sym typeface="Calibri"/>
            </a:endParaRPr>
          </a:p>
        </p:txBody>
      </p:sp>
      <p:sp>
        <p:nvSpPr>
          <p:cNvPr id="242" name="Google Shape;242;p10"/>
          <p:cNvSpPr/>
          <p:nvPr/>
        </p:nvSpPr>
        <p:spPr>
          <a:xfrm>
            <a:off x="863798" y="5847159"/>
            <a:ext cx="6327934" cy="30480"/>
          </a:xfrm>
          <a:prstGeom prst="rect">
            <a:avLst/>
          </a:prstGeom>
          <a:solidFill>
            <a:srgbClr val="609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0"/>
          <p:cNvSpPr/>
          <p:nvPr/>
        </p:nvSpPr>
        <p:spPr>
          <a:xfrm>
            <a:off x="863797" y="6031467"/>
            <a:ext cx="6499169" cy="555923"/>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E2E6E9"/>
              </a:buClr>
              <a:buSzPts val="2400"/>
              <a:buFont typeface="Merriweather"/>
              <a:buNone/>
            </a:pPr>
            <a:r>
              <a:rPr lang="en-US" sz="2400" dirty="0">
                <a:solidFill>
                  <a:srgbClr val="E2E6E9"/>
                </a:solidFill>
                <a:latin typeface="Merriweather"/>
                <a:ea typeface="Merriweather"/>
                <a:cs typeface="Merriweather"/>
                <a:sym typeface="Merriweather"/>
              </a:rPr>
              <a:t>Comprehensive Performance Comparison</a:t>
            </a:r>
            <a:endParaRPr sz="2400" dirty="0">
              <a:solidFill>
                <a:schemeClr val="dk1"/>
              </a:solidFill>
              <a:latin typeface="Calibri"/>
              <a:ea typeface="Calibri"/>
              <a:cs typeface="Calibri"/>
              <a:sym typeface="Calibri"/>
            </a:endParaRPr>
          </a:p>
        </p:txBody>
      </p:sp>
      <p:sp>
        <p:nvSpPr>
          <p:cNvPr id="244" name="Google Shape;244;p10"/>
          <p:cNvSpPr/>
          <p:nvPr/>
        </p:nvSpPr>
        <p:spPr>
          <a:xfrm>
            <a:off x="863798" y="6564987"/>
            <a:ext cx="6327934" cy="789622"/>
          </a:xfrm>
          <a:prstGeom prst="rect">
            <a:avLst/>
          </a:prstGeom>
          <a:noFill/>
          <a:ln>
            <a:noFill/>
          </a:ln>
        </p:spPr>
        <p:txBody>
          <a:bodyPr spcFirstLastPara="1" wrap="square" lIns="0" tIns="0" rIns="0" bIns="0" anchor="t" anchorCtr="0">
            <a:noAutofit/>
          </a:bodyPr>
          <a:lstStyle/>
          <a:p>
            <a:pPr marL="0" marR="0" lvl="0" indent="0" algn="l" rtl="0">
              <a:lnSpc>
                <a:spcPct val="163157"/>
              </a:lnSpc>
              <a:spcBef>
                <a:spcPts val="0"/>
              </a:spcBef>
              <a:spcAft>
                <a:spcPts val="0"/>
              </a:spcAft>
              <a:buNone/>
            </a:pPr>
            <a:r>
              <a:rPr lang="en-US" sz="1900" dirty="0">
                <a:solidFill>
                  <a:srgbClr val="E2E6E9"/>
                </a:solidFill>
                <a:latin typeface="Merriweather"/>
                <a:ea typeface="Merriweather"/>
                <a:cs typeface="Merriweather"/>
                <a:sym typeface="Merriweather"/>
              </a:rPr>
              <a:t>Compared performance with Random Forest and Baseline SVM to prove </a:t>
            </a:r>
            <a:r>
              <a:rPr lang="en-US" sz="1900" dirty="0" err="1">
                <a:solidFill>
                  <a:srgbClr val="E2E6E9"/>
                </a:solidFill>
                <a:latin typeface="Merriweather"/>
                <a:ea typeface="Merriweather"/>
                <a:cs typeface="Merriweather"/>
                <a:sym typeface="Merriweather"/>
              </a:rPr>
              <a:t>generalisation</a:t>
            </a:r>
            <a:endParaRPr sz="1900" dirty="0">
              <a:solidFill>
                <a:schemeClr val="dk1"/>
              </a:solidFill>
              <a:latin typeface="Calibri"/>
              <a:ea typeface="Calibri"/>
              <a:cs typeface="Calibri"/>
              <a:sym typeface="Calibri"/>
            </a:endParaRPr>
          </a:p>
        </p:txBody>
      </p:sp>
      <p:sp>
        <p:nvSpPr>
          <p:cNvPr id="245" name="Google Shape;245;p10"/>
          <p:cNvSpPr/>
          <p:nvPr/>
        </p:nvSpPr>
        <p:spPr>
          <a:xfrm>
            <a:off x="7438552" y="5458175"/>
            <a:ext cx="748500" cy="308400"/>
          </a:xfrm>
          <a:prstGeom prst="rect">
            <a:avLst/>
          </a:prstGeom>
          <a:noFill/>
          <a:ln>
            <a:noFill/>
          </a:ln>
        </p:spPr>
        <p:txBody>
          <a:bodyPr spcFirstLastPara="1" wrap="square" lIns="0" tIns="0" rIns="0" bIns="0" anchor="t" anchorCtr="0">
            <a:noAutofit/>
          </a:bodyPr>
          <a:lstStyle/>
          <a:p>
            <a:pPr marL="0" marR="0" lvl="0" indent="0" algn="l" rtl="0">
              <a:lnSpc>
                <a:spcPct val="163157"/>
              </a:lnSpc>
              <a:spcBef>
                <a:spcPts val="0"/>
              </a:spcBef>
              <a:spcAft>
                <a:spcPts val="0"/>
              </a:spcAft>
              <a:buClr>
                <a:srgbClr val="E2E6E9"/>
              </a:buClr>
              <a:buSzPts val="1900"/>
              <a:buFont typeface="Merriweather Light"/>
              <a:buNone/>
            </a:pPr>
            <a:r>
              <a:rPr lang="en-US" sz="1900">
                <a:solidFill>
                  <a:srgbClr val="E2E6E9"/>
                </a:solidFill>
                <a:latin typeface="Merriweather Light"/>
                <a:ea typeface="Merriweather Light"/>
                <a:cs typeface="Merriweather Light"/>
                <a:sym typeface="Merriweather Light"/>
              </a:rPr>
              <a:t>05</a:t>
            </a:r>
            <a:endParaRPr sz="1900">
              <a:solidFill>
                <a:schemeClr val="dk1"/>
              </a:solidFill>
              <a:latin typeface="Calibri"/>
              <a:ea typeface="Calibri"/>
              <a:cs typeface="Calibri"/>
              <a:sym typeface="Calibri"/>
            </a:endParaRPr>
          </a:p>
        </p:txBody>
      </p:sp>
      <p:sp>
        <p:nvSpPr>
          <p:cNvPr id="246" name="Google Shape;246;p10"/>
          <p:cNvSpPr/>
          <p:nvPr/>
        </p:nvSpPr>
        <p:spPr>
          <a:xfrm>
            <a:off x="7438549" y="5847159"/>
            <a:ext cx="6327934" cy="30480"/>
          </a:xfrm>
          <a:prstGeom prst="rect">
            <a:avLst/>
          </a:prstGeom>
          <a:solidFill>
            <a:srgbClr val="609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0"/>
          <p:cNvSpPr/>
          <p:nvPr/>
        </p:nvSpPr>
        <p:spPr>
          <a:xfrm>
            <a:off x="7438549" y="6031468"/>
            <a:ext cx="4967266" cy="466094"/>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E2E6E9"/>
              </a:buClr>
              <a:buSzPts val="2400"/>
              <a:buFont typeface="Merriweather"/>
              <a:buNone/>
            </a:pPr>
            <a:r>
              <a:rPr lang="en-US" sz="2400" dirty="0">
                <a:solidFill>
                  <a:srgbClr val="E2E6E9"/>
                </a:solidFill>
                <a:latin typeface="Merriweather"/>
                <a:ea typeface="Merriweather"/>
                <a:cs typeface="Merriweather"/>
                <a:sym typeface="Merriweather"/>
              </a:rPr>
              <a:t>Versatile Framework</a:t>
            </a:r>
            <a:endParaRPr sz="2400" dirty="0">
              <a:solidFill>
                <a:schemeClr val="dk1"/>
              </a:solidFill>
              <a:latin typeface="Calibri"/>
              <a:ea typeface="Calibri"/>
              <a:cs typeface="Calibri"/>
              <a:sym typeface="Calibri"/>
            </a:endParaRPr>
          </a:p>
        </p:txBody>
      </p:sp>
      <p:sp>
        <p:nvSpPr>
          <p:cNvPr id="248" name="Google Shape;248;p10"/>
          <p:cNvSpPr/>
          <p:nvPr/>
        </p:nvSpPr>
        <p:spPr>
          <a:xfrm>
            <a:off x="7438549" y="6564987"/>
            <a:ext cx="6327934" cy="789622"/>
          </a:xfrm>
          <a:prstGeom prst="rect">
            <a:avLst/>
          </a:prstGeom>
          <a:noFill/>
          <a:ln>
            <a:noFill/>
          </a:ln>
        </p:spPr>
        <p:txBody>
          <a:bodyPr spcFirstLastPara="1" wrap="square" lIns="0" tIns="0" rIns="0" bIns="0" anchor="t" anchorCtr="0">
            <a:noAutofit/>
          </a:bodyPr>
          <a:lstStyle/>
          <a:p>
            <a:pPr marL="0" marR="0" lvl="0" indent="0" algn="l" rtl="0">
              <a:lnSpc>
                <a:spcPct val="163157"/>
              </a:lnSpc>
              <a:spcBef>
                <a:spcPts val="0"/>
              </a:spcBef>
              <a:spcAft>
                <a:spcPts val="0"/>
              </a:spcAft>
              <a:buClr>
                <a:srgbClr val="E2E6E9"/>
              </a:buClr>
              <a:buSzPts val="1900"/>
              <a:buFont typeface="Merriweather"/>
              <a:buNone/>
            </a:pPr>
            <a:r>
              <a:rPr lang="en-US" sz="1900">
                <a:solidFill>
                  <a:srgbClr val="E2E6E9"/>
                </a:solidFill>
                <a:latin typeface="Merriweather"/>
                <a:ea typeface="Merriweather"/>
                <a:cs typeface="Merriweather"/>
                <a:sym typeface="Merriweather"/>
              </a:rPr>
              <a:t>Contributed a </a:t>
            </a:r>
            <a:r>
              <a:rPr lang="en-US" sz="1900" b="1">
                <a:solidFill>
                  <a:srgbClr val="E2E6E9"/>
                </a:solidFill>
                <a:latin typeface="Merriweather"/>
                <a:ea typeface="Merriweather"/>
                <a:cs typeface="Merriweather"/>
                <a:sym typeface="Merriweather"/>
              </a:rPr>
              <a:t>versatile IQI-GWO framework</a:t>
            </a:r>
            <a:r>
              <a:rPr lang="en-US" sz="1900">
                <a:solidFill>
                  <a:srgbClr val="E2E6E9"/>
                </a:solidFill>
                <a:latin typeface="Merriweather"/>
                <a:ea typeface="Merriweather"/>
                <a:cs typeface="Merriweather"/>
                <a:sym typeface="Merriweather"/>
              </a:rPr>
              <a:t> for real-world classification tasks</a:t>
            </a:r>
            <a:endParaRPr sz="1900">
              <a:solidFill>
                <a:schemeClr val="dk1"/>
              </a:solidFill>
              <a:latin typeface="Calibri"/>
              <a:ea typeface="Calibri"/>
              <a:cs typeface="Calibri"/>
              <a:sym typeface="Calibri"/>
            </a:endParaRPr>
          </a:p>
        </p:txBody>
      </p:sp>
      <p:sp>
        <p:nvSpPr>
          <p:cNvPr id="249" name="Google Shape;249;p10"/>
          <p:cNvSpPr txBox="1"/>
          <p:nvPr/>
        </p:nvSpPr>
        <p:spPr>
          <a:xfrm>
            <a:off x="710595" y="3657419"/>
            <a:ext cx="3745382"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dirty="0">
                <a:solidFill>
                  <a:schemeClr val="lt1"/>
                </a:solidFill>
                <a:latin typeface="Calibri"/>
                <a:ea typeface="Calibri"/>
                <a:cs typeface="Calibri"/>
                <a:sym typeface="Calibri"/>
              </a:rPr>
              <a:t>Adapted IQI-GWO + SVM for multiple datasets </a:t>
            </a:r>
            <a:endParaRPr sz="2400" dirty="0">
              <a:solidFill>
                <a:schemeClr val="lt1"/>
              </a:solidFill>
              <a:latin typeface="Calibri"/>
              <a:ea typeface="Calibri"/>
              <a:cs typeface="Calibri"/>
              <a:sym typeface="Calibri"/>
            </a:endParaRPr>
          </a:p>
        </p:txBody>
      </p:sp>
      <p:pic>
        <p:nvPicPr>
          <p:cNvPr id="250" name="Google Shape;250;p10"/>
          <p:cNvPicPr preferRelativeResize="0"/>
          <p:nvPr/>
        </p:nvPicPr>
        <p:blipFill rotWithShape="1">
          <a:blip r:embed="rId3">
            <a:alphaModFix/>
          </a:blip>
          <a:srcRect/>
          <a:stretch/>
        </p:blipFill>
        <p:spPr>
          <a:xfrm>
            <a:off x="12788722" y="7075262"/>
            <a:ext cx="1750334" cy="111928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pic>
        <p:nvPicPr>
          <p:cNvPr id="255" name="Google Shape;255;p11"/>
          <p:cNvPicPr preferRelativeResize="0"/>
          <p:nvPr/>
        </p:nvPicPr>
        <p:blipFill rotWithShape="1">
          <a:blip r:embed="rId3">
            <a:alphaModFix/>
          </a:blip>
          <a:srcRect/>
          <a:stretch/>
        </p:blipFill>
        <p:spPr>
          <a:xfrm>
            <a:off x="32589" y="0"/>
            <a:ext cx="14597811" cy="8028904"/>
          </a:xfrm>
          <a:prstGeom prst="rect">
            <a:avLst/>
          </a:prstGeom>
          <a:noFill/>
          <a:ln>
            <a:noFill/>
          </a:ln>
        </p:spPr>
      </p:pic>
      <p:pic>
        <p:nvPicPr>
          <p:cNvPr id="256" name="Google Shape;256;p11"/>
          <p:cNvPicPr preferRelativeResize="0"/>
          <p:nvPr/>
        </p:nvPicPr>
        <p:blipFill rotWithShape="1">
          <a:blip r:embed="rId4">
            <a:alphaModFix/>
          </a:blip>
          <a:srcRect/>
          <a:stretch/>
        </p:blipFill>
        <p:spPr>
          <a:xfrm>
            <a:off x="12698568" y="6994255"/>
            <a:ext cx="1931831" cy="123534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pic>
        <p:nvPicPr>
          <p:cNvPr id="262" name="Google Shape;262;p12" descr="preencoded.png"/>
          <p:cNvPicPr preferRelativeResize="0"/>
          <p:nvPr/>
        </p:nvPicPr>
        <p:blipFill rotWithShape="1">
          <a:blip r:embed="rId3">
            <a:alphaModFix/>
          </a:blip>
          <a:srcRect/>
          <a:stretch/>
        </p:blipFill>
        <p:spPr>
          <a:xfrm>
            <a:off x="0" y="0"/>
            <a:ext cx="14630400" cy="8229600"/>
          </a:xfrm>
          <a:prstGeom prst="rect">
            <a:avLst/>
          </a:prstGeom>
          <a:noFill/>
          <a:ln>
            <a:noFill/>
          </a:ln>
        </p:spPr>
      </p:pic>
      <p:sp>
        <p:nvSpPr>
          <p:cNvPr id="263" name="Google Shape;263;p12"/>
          <p:cNvSpPr/>
          <p:nvPr/>
        </p:nvSpPr>
        <p:spPr>
          <a:xfrm>
            <a:off x="0" y="0"/>
            <a:ext cx="14630400" cy="8229600"/>
          </a:xfrm>
          <a:prstGeom prst="rect">
            <a:avLst/>
          </a:prstGeom>
          <a:solidFill>
            <a:srgbClr val="09151A">
              <a:alpha val="8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2"/>
          <p:cNvSpPr/>
          <p:nvPr/>
        </p:nvSpPr>
        <p:spPr>
          <a:xfrm>
            <a:off x="863798" y="2148007"/>
            <a:ext cx="12902803" cy="1465659"/>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F5F0F0"/>
              </a:buClr>
              <a:buSzPts val="4600"/>
              <a:buFont typeface="Merriweather"/>
              <a:buNone/>
            </a:pPr>
            <a:r>
              <a:rPr lang="en-US" sz="4600" dirty="0">
                <a:solidFill>
                  <a:srgbClr val="F5F0F0"/>
                </a:solidFill>
                <a:latin typeface="Merriweather"/>
                <a:ea typeface="Merriweather"/>
                <a:cs typeface="Merriweather"/>
                <a:sym typeface="Merriweather"/>
              </a:rPr>
              <a:t>Evaluation Scheme — Train, Validation, and Test Flow</a:t>
            </a:r>
            <a:endParaRPr sz="4600" dirty="0">
              <a:solidFill>
                <a:schemeClr val="dk1"/>
              </a:solidFill>
              <a:latin typeface="Calibri"/>
              <a:ea typeface="Calibri"/>
              <a:cs typeface="Calibri"/>
              <a:sym typeface="Calibri"/>
            </a:endParaRPr>
          </a:p>
        </p:txBody>
      </p:sp>
      <p:sp>
        <p:nvSpPr>
          <p:cNvPr id="265" name="Google Shape;265;p12"/>
          <p:cNvSpPr/>
          <p:nvPr/>
        </p:nvSpPr>
        <p:spPr>
          <a:xfrm>
            <a:off x="863798" y="3965377"/>
            <a:ext cx="4144566" cy="2116217"/>
          </a:xfrm>
          <a:prstGeom prst="roundRect">
            <a:avLst>
              <a:gd name="adj" fmla="val 4654"/>
            </a:avLst>
          </a:prstGeom>
          <a:solidFill>
            <a:srgbClr val="003180"/>
          </a:solidFill>
          <a:ln w="9525" cap="flat" cmpd="sng">
            <a:solidFill>
              <a:srgbClr val="194A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2"/>
          <p:cNvSpPr/>
          <p:nvPr/>
        </p:nvSpPr>
        <p:spPr>
          <a:xfrm>
            <a:off x="1105853" y="4207431"/>
            <a:ext cx="3058835" cy="366355"/>
          </a:xfrm>
          <a:prstGeom prst="rect">
            <a:avLst/>
          </a:prstGeom>
          <a:noFill/>
          <a:ln>
            <a:noFill/>
          </a:ln>
        </p:spPr>
        <p:txBody>
          <a:bodyPr spcFirstLastPara="1" wrap="square" lIns="0" tIns="0" rIns="0" bIns="0" anchor="t" anchorCtr="0">
            <a:noAutofit/>
          </a:bodyPr>
          <a:lstStyle/>
          <a:p>
            <a:pPr marL="0" marR="0" lvl="0" indent="0" algn="l" rtl="0">
              <a:lnSpc>
                <a:spcPct val="123913"/>
              </a:lnSpc>
              <a:spcBef>
                <a:spcPts val="0"/>
              </a:spcBef>
              <a:spcAft>
                <a:spcPts val="0"/>
              </a:spcAft>
              <a:buClr>
                <a:srgbClr val="E2E6E9"/>
              </a:buClr>
              <a:buSzPts val="2300"/>
              <a:buFont typeface="Merriweather"/>
              <a:buNone/>
            </a:pPr>
            <a:r>
              <a:rPr lang="en-US" sz="2300">
                <a:solidFill>
                  <a:srgbClr val="E2E6E9"/>
                </a:solidFill>
                <a:latin typeface="Merriweather"/>
                <a:ea typeface="Merriweather"/>
                <a:cs typeface="Merriweather"/>
                <a:sym typeface="Merriweather"/>
              </a:rPr>
              <a:t>Fixed Split Evaluation</a:t>
            </a:r>
            <a:endParaRPr sz="2300">
              <a:solidFill>
                <a:schemeClr val="dk1"/>
              </a:solidFill>
              <a:latin typeface="Calibri"/>
              <a:ea typeface="Calibri"/>
              <a:cs typeface="Calibri"/>
              <a:sym typeface="Calibri"/>
            </a:endParaRPr>
          </a:p>
        </p:txBody>
      </p:sp>
      <p:sp>
        <p:nvSpPr>
          <p:cNvPr id="267" name="Google Shape;267;p12"/>
          <p:cNvSpPr/>
          <p:nvPr/>
        </p:nvSpPr>
        <p:spPr>
          <a:xfrm>
            <a:off x="1105853" y="4714399"/>
            <a:ext cx="3660458" cy="1125141"/>
          </a:xfrm>
          <a:prstGeom prst="rect">
            <a:avLst/>
          </a:prstGeom>
          <a:noFill/>
          <a:ln>
            <a:noFill/>
          </a:ln>
        </p:spPr>
        <p:txBody>
          <a:bodyPr spcFirstLastPara="1" wrap="square" lIns="0" tIns="0" rIns="0" bIns="0" anchor="t" anchorCtr="0">
            <a:noAutofit/>
          </a:bodyPr>
          <a:lstStyle/>
          <a:p>
            <a:pPr marL="0" marR="0" lvl="0" indent="0" algn="l" rtl="0">
              <a:lnSpc>
                <a:spcPct val="163888"/>
              </a:lnSpc>
              <a:spcBef>
                <a:spcPts val="0"/>
              </a:spcBef>
              <a:spcAft>
                <a:spcPts val="0"/>
              </a:spcAft>
              <a:buNone/>
            </a:pPr>
            <a:r>
              <a:rPr lang="en-US" sz="1800">
                <a:solidFill>
                  <a:srgbClr val="E2E6E9"/>
                </a:solidFill>
                <a:latin typeface="Merriweather"/>
                <a:ea typeface="Merriweather"/>
                <a:cs typeface="Merriweather"/>
                <a:sym typeface="Merriweather"/>
              </a:rPr>
              <a:t>The model follows a Fixed Split Evaluation Scheme, not n-fold cross-validation.</a:t>
            </a:r>
            <a:endParaRPr sz="1800">
              <a:solidFill>
                <a:schemeClr val="dk1"/>
              </a:solidFill>
              <a:latin typeface="Calibri"/>
              <a:ea typeface="Calibri"/>
              <a:cs typeface="Calibri"/>
              <a:sym typeface="Calibri"/>
            </a:endParaRPr>
          </a:p>
        </p:txBody>
      </p:sp>
      <p:sp>
        <p:nvSpPr>
          <p:cNvPr id="268" name="Google Shape;268;p12"/>
          <p:cNvSpPr/>
          <p:nvPr/>
        </p:nvSpPr>
        <p:spPr>
          <a:xfrm>
            <a:off x="5242798" y="3965377"/>
            <a:ext cx="4144685" cy="2116217"/>
          </a:xfrm>
          <a:prstGeom prst="roundRect">
            <a:avLst>
              <a:gd name="adj" fmla="val 4654"/>
            </a:avLst>
          </a:prstGeom>
          <a:solidFill>
            <a:srgbClr val="003180"/>
          </a:solidFill>
          <a:ln w="9525" cap="flat" cmpd="sng">
            <a:solidFill>
              <a:srgbClr val="194A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2"/>
          <p:cNvSpPr/>
          <p:nvPr/>
        </p:nvSpPr>
        <p:spPr>
          <a:xfrm>
            <a:off x="5484852" y="4207431"/>
            <a:ext cx="2931081" cy="366355"/>
          </a:xfrm>
          <a:prstGeom prst="rect">
            <a:avLst/>
          </a:prstGeom>
          <a:noFill/>
          <a:ln>
            <a:noFill/>
          </a:ln>
        </p:spPr>
        <p:txBody>
          <a:bodyPr spcFirstLastPara="1" wrap="square" lIns="0" tIns="0" rIns="0" bIns="0" anchor="t" anchorCtr="0">
            <a:noAutofit/>
          </a:bodyPr>
          <a:lstStyle/>
          <a:p>
            <a:pPr marL="0" marR="0" lvl="0" indent="0" algn="l" rtl="0">
              <a:lnSpc>
                <a:spcPct val="123913"/>
              </a:lnSpc>
              <a:spcBef>
                <a:spcPts val="0"/>
              </a:spcBef>
              <a:spcAft>
                <a:spcPts val="0"/>
              </a:spcAft>
              <a:buClr>
                <a:srgbClr val="E2E6E9"/>
              </a:buClr>
              <a:buSzPts val="2300"/>
              <a:buFont typeface="Merriweather"/>
              <a:buNone/>
            </a:pPr>
            <a:r>
              <a:rPr lang="en-US" sz="2300">
                <a:solidFill>
                  <a:srgbClr val="E2E6E9"/>
                </a:solidFill>
                <a:latin typeface="Merriweather"/>
                <a:ea typeface="Merriweather"/>
                <a:cs typeface="Merriweather"/>
                <a:sym typeface="Merriweather"/>
              </a:rPr>
              <a:t>Data Division</a:t>
            </a:r>
            <a:endParaRPr sz="2300">
              <a:solidFill>
                <a:schemeClr val="dk1"/>
              </a:solidFill>
              <a:latin typeface="Calibri"/>
              <a:ea typeface="Calibri"/>
              <a:cs typeface="Calibri"/>
              <a:sym typeface="Calibri"/>
            </a:endParaRPr>
          </a:p>
        </p:txBody>
      </p:sp>
      <p:sp>
        <p:nvSpPr>
          <p:cNvPr id="270" name="Google Shape;270;p12"/>
          <p:cNvSpPr/>
          <p:nvPr/>
        </p:nvSpPr>
        <p:spPr>
          <a:xfrm>
            <a:off x="5484852" y="4714399"/>
            <a:ext cx="3660577" cy="1125141"/>
          </a:xfrm>
          <a:prstGeom prst="rect">
            <a:avLst/>
          </a:prstGeom>
          <a:noFill/>
          <a:ln>
            <a:noFill/>
          </a:ln>
        </p:spPr>
        <p:txBody>
          <a:bodyPr spcFirstLastPara="1" wrap="square" lIns="0" tIns="0" rIns="0" bIns="0" anchor="t" anchorCtr="0">
            <a:noAutofit/>
          </a:bodyPr>
          <a:lstStyle/>
          <a:p>
            <a:pPr marL="0" marR="0" lvl="0" indent="0" algn="l" rtl="0">
              <a:lnSpc>
                <a:spcPct val="163888"/>
              </a:lnSpc>
              <a:spcBef>
                <a:spcPts val="0"/>
              </a:spcBef>
              <a:spcAft>
                <a:spcPts val="0"/>
              </a:spcAft>
              <a:buNone/>
            </a:pPr>
            <a:r>
              <a:rPr lang="en-US" sz="1800">
                <a:solidFill>
                  <a:srgbClr val="E2E6E9"/>
                </a:solidFill>
                <a:latin typeface="Merriweather"/>
                <a:ea typeface="Merriweather"/>
                <a:cs typeface="Merriweather"/>
                <a:sym typeface="Merriweather"/>
              </a:rPr>
              <a:t>Data is divided into Train, Validation, and Test sets before training begins.</a:t>
            </a:r>
            <a:endParaRPr sz="1800">
              <a:solidFill>
                <a:schemeClr val="dk1"/>
              </a:solidFill>
              <a:latin typeface="Calibri"/>
              <a:ea typeface="Calibri"/>
              <a:cs typeface="Calibri"/>
              <a:sym typeface="Calibri"/>
            </a:endParaRPr>
          </a:p>
        </p:txBody>
      </p:sp>
      <p:sp>
        <p:nvSpPr>
          <p:cNvPr id="271" name="Google Shape;271;p12"/>
          <p:cNvSpPr/>
          <p:nvPr/>
        </p:nvSpPr>
        <p:spPr>
          <a:xfrm>
            <a:off x="9621917" y="3965377"/>
            <a:ext cx="4144566" cy="2116217"/>
          </a:xfrm>
          <a:prstGeom prst="roundRect">
            <a:avLst>
              <a:gd name="adj" fmla="val 4654"/>
            </a:avLst>
          </a:prstGeom>
          <a:solidFill>
            <a:srgbClr val="003180"/>
          </a:solidFill>
          <a:ln w="9525" cap="flat" cmpd="sng">
            <a:solidFill>
              <a:srgbClr val="194A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2"/>
          <p:cNvSpPr/>
          <p:nvPr/>
        </p:nvSpPr>
        <p:spPr>
          <a:xfrm>
            <a:off x="9863971" y="4207431"/>
            <a:ext cx="2931081" cy="366355"/>
          </a:xfrm>
          <a:prstGeom prst="rect">
            <a:avLst/>
          </a:prstGeom>
          <a:noFill/>
          <a:ln>
            <a:noFill/>
          </a:ln>
        </p:spPr>
        <p:txBody>
          <a:bodyPr spcFirstLastPara="1" wrap="square" lIns="0" tIns="0" rIns="0" bIns="0" anchor="t" anchorCtr="0">
            <a:noAutofit/>
          </a:bodyPr>
          <a:lstStyle/>
          <a:p>
            <a:pPr marL="0" marR="0" lvl="0" indent="0" algn="l" rtl="0">
              <a:lnSpc>
                <a:spcPct val="123913"/>
              </a:lnSpc>
              <a:spcBef>
                <a:spcPts val="0"/>
              </a:spcBef>
              <a:spcAft>
                <a:spcPts val="0"/>
              </a:spcAft>
              <a:buClr>
                <a:srgbClr val="E2E6E9"/>
              </a:buClr>
              <a:buSzPts val="2300"/>
              <a:buFont typeface="Merriweather"/>
              <a:buNone/>
            </a:pPr>
            <a:r>
              <a:rPr lang="en-US" sz="2300">
                <a:solidFill>
                  <a:srgbClr val="E2E6E9"/>
                </a:solidFill>
                <a:latin typeface="Merriweather"/>
                <a:ea typeface="Merriweather"/>
                <a:cs typeface="Merriweather"/>
                <a:sym typeface="Merriweather"/>
              </a:rPr>
              <a:t>Unique Roles</a:t>
            </a:r>
            <a:endParaRPr sz="2300">
              <a:solidFill>
                <a:schemeClr val="dk1"/>
              </a:solidFill>
              <a:latin typeface="Calibri"/>
              <a:ea typeface="Calibri"/>
              <a:cs typeface="Calibri"/>
              <a:sym typeface="Calibri"/>
            </a:endParaRPr>
          </a:p>
        </p:txBody>
      </p:sp>
      <p:sp>
        <p:nvSpPr>
          <p:cNvPr id="273" name="Google Shape;273;p12"/>
          <p:cNvSpPr/>
          <p:nvPr/>
        </p:nvSpPr>
        <p:spPr>
          <a:xfrm>
            <a:off x="9863971" y="4714399"/>
            <a:ext cx="3660458" cy="1125141"/>
          </a:xfrm>
          <a:prstGeom prst="rect">
            <a:avLst/>
          </a:prstGeom>
          <a:noFill/>
          <a:ln>
            <a:noFill/>
          </a:ln>
        </p:spPr>
        <p:txBody>
          <a:bodyPr spcFirstLastPara="1" wrap="square" lIns="0" tIns="0" rIns="0" bIns="0" anchor="t" anchorCtr="0">
            <a:noAutofit/>
          </a:bodyPr>
          <a:lstStyle/>
          <a:p>
            <a:pPr marL="0" marR="0" lvl="0" indent="0" algn="l" rtl="0">
              <a:lnSpc>
                <a:spcPct val="163888"/>
              </a:lnSpc>
              <a:spcBef>
                <a:spcPts val="0"/>
              </a:spcBef>
              <a:spcAft>
                <a:spcPts val="0"/>
              </a:spcAft>
              <a:buClr>
                <a:srgbClr val="E2E6E9"/>
              </a:buClr>
              <a:buSzPts val="1800"/>
              <a:buFont typeface="Merriweather"/>
              <a:buNone/>
            </a:pPr>
            <a:r>
              <a:rPr lang="en-US" sz="1800">
                <a:solidFill>
                  <a:srgbClr val="E2E6E9"/>
                </a:solidFill>
                <a:latin typeface="Merriweather"/>
                <a:ea typeface="Merriweather"/>
                <a:cs typeface="Merriweather"/>
                <a:sym typeface="Merriweather"/>
              </a:rPr>
              <a:t>Each subset has a unique role in model optimisation and final evaluation.</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13"/>
          <p:cNvSpPr/>
          <p:nvPr/>
        </p:nvSpPr>
        <p:spPr>
          <a:xfrm>
            <a:off x="863798" y="6033968"/>
            <a:ext cx="12902803" cy="789622"/>
          </a:xfrm>
          <a:prstGeom prst="rect">
            <a:avLst/>
          </a:prstGeom>
          <a:noFill/>
          <a:ln>
            <a:noFill/>
          </a:ln>
        </p:spPr>
        <p:txBody>
          <a:bodyPr spcFirstLastPara="1" wrap="square" lIns="0" tIns="0" rIns="0" bIns="0" anchor="t" anchorCtr="0">
            <a:noAutofit/>
          </a:bodyPr>
          <a:lstStyle/>
          <a:p>
            <a:pPr marL="0" marR="0" lvl="0" indent="0" algn="l" rtl="0">
              <a:lnSpc>
                <a:spcPct val="163157"/>
              </a:lnSpc>
              <a:spcBef>
                <a:spcPts val="0"/>
              </a:spcBef>
              <a:spcAft>
                <a:spcPts val="0"/>
              </a:spcAft>
              <a:buClr>
                <a:srgbClr val="E2E6E9"/>
              </a:buClr>
              <a:buSzPts val="1900"/>
              <a:buFont typeface="Merriweather"/>
              <a:buNone/>
            </a:pPr>
            <a:r>
              <a:rPr lang="en-US" sz="1900">
                <a:solidFill>
                  <a:srgbClr val="E2E6E9"/>
                </a:solidFill>
                <a:latin typeface="Merriweather"/>
                <a:ea typeface="Merriweather"/>
                <a:cs typeface="Merriweather"/>
                <a:sym typeface="Merriweather"/>
              </a:rPr>
              <a:t>This evaluation scheme guarantees unbiased model performance whilst maintaining efficiency for multi-dataset experiments.</a:t>
            </a:r>
            <a:endParaRPr sz="1900">
              <a:solidFill>
                <a:schemeClr val="dk1"/>
              </a:solidFill>
              <a:latin typeface="Calibri"/>
              <a:ea typeface="Calibri"/>
              <a:cs typeface="Calibri"/>
              <a:sym typeface="Calibri"/>
            </a:endParaRPr>
          </a:p>
        </p:txBody>
      </p:sp>
      <p:graphicFrame>
        <p:nvGraphicFramePr>
          <p:cNvPr id="280" name="Google Shape;280;p13"/>
          <p:cNvGraphicFramePr/>
          <p:nvPr/>
        </p:nvGraphicFramePr>
        <p:xfrm>
          <a:off x="1053808" y="1098939"/>
          <a:ext cx="12522750" cy="2884700"/>
        </p:xfrm>
        <a:graphic>
          <a:graphicData uri="http://schemas.openxmlformats.org/drawingml/2006/table">
            <a:tbl>
              <a:tblPr>
                <a:noFill/>
                <a:tableStyleId>{5276DB2A-A49B-4E71-99EA-B9CB79705D1E}</a:tableStyleId>
              </a:tblPr>
              <a:tblGrid>
                <a:gridCol w="4174250">
                  <a:extLst>
                    <a:ext uri="{9D8B030D-6E8A-4147-A177-3AD203B41FA5}">
                      <a16:colId xmlns:a16="http://schemas.microsoft.com/office/drawing/2014/main" val="20000"/>
                    </a:ext>
                  </a:extLst>
                </a:gridCol>
                <a:gridCol w="4174250">
                  <a:extLst>
                    <a:ext uri="{9D8B030D-6E8A-4147-A177-3AD203B41FA5}">
                      <a16:colId xmlns:a16="http://schemas.microsoft.com/office/drawing/2014/main" val="20001"/>
                    </a:ext>
                  </a:extLst>
                </a:gridCol>
                <a:gridCol w="4174250">
                  <a:extLst>
                    <a:ext uri="{9D8B030D-6E8A-4147-A177-3AD203B41FA5}">
                      <a16:colId xmlns:a16="http://schemas.microsoft.com/office/drawing/2014/main" val="20002"/>
                    </a:ext>
                  </a:extLst>
                </a:gridCol>
              </a:tblGrid>
              <a:tr h="721175">
                <a:tc>
                  <a:txBody>
                    <a:bodyPr/>
                    <a:lstStyle/>
                    <a:p>
                      <a:pPr marL="0" marR="0" lvl="0" indent="0" algn="l" rtl="0">
                        <a:spcBef>
                          <a:spcPts val="0"/>
                        </a:spcBef>
                        <a:spcAft>
                          <a:spcPts val="0"/>
                        </a:spcAft>
                        <a:buClr>
                          <a:schemeClr val="lt1"/>
                        </a:buClr>
                        <a:buSzPts val="1800"/>
                        <a:buFont typeface="Calibri"/>
                        <a:buNone/>
                      </a:pPr>
                      <a:r>
                        <a:rPr lang="en-US" sz="1800" b="1" u="none" strike="noStrike" cap="none">
                          <a:solidFill>
                            <a:schemeClr val="lt1"/>
                          </a:solidFill>
                        </a:rPr>
                        <a:t>Dataset</a:t>
                      </a:r>
                      <a:endParaRPr sz="1800" u="none" strike="noStrike" cap="none">
                        <a:solidFill>
                          <a:schemeClr val="lt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lt1"/>
                        </a:buClr>
                        <a:buSzPts val="1800"/>
                        <a:buFont typeface="Calibri"/>
                        <a:buNone/>
                      </a:pPr>
                      <a:r>
                        <a:rPr lang="en-US" sz="1800" b="1" u="none" strike="noStrike" cap="none">
                          <a:solidFill>
                            <a:schemeClr val="lt1"/>
                          </a:solidFill>
                        </a:rPr>
                        <a:t>Purpose</a:t>
                      </a:r>
                      <a:endParaRPr sz="1800" u="none" strike="noStrike" cap="none">
                        <a:solidFill>
                          <a:schemeClr val="lt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lt1"/>
                        </a:buClr>
                        <a:buSzPts val="1800"/>
                        <a:buFont typeface="Calibri"/>
                        <a:buNone/>
                      </a:pPr>
                      <a:r>
                        <a:rPr lang="en-US" sz="1800" b="1" u="none" strike="noStrike" cap="none">
                          <a:solidFill>
                            <a:schemeClr val="lt1"/>
                          </a:solidFill>
                        </a:rPr>
                        <a:t>Used In</a:t>
                      </a:r>
                      <a:endParaRPr sz="1800" u="none" strike="noStrike" cap="none">
                        <a:solidFill>
                          <a:schemeClr val="lt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721175">
                <a:tc>
                  <a:txBody>
                    <a:bodyPr/>
                    <a:lstStyle/>
                    <a:p>
                      <a:pPr marL="0" marR="0" lvl="0" indent="0" algn="l" rtl="0">
                        <a:spcBef>
                          <a:spcPts val="0"/>
                        </a:spcBef>
                        <a:spcAft>
                          <a:spcPts val="0"/>
                        </a:spcAft>
                        <a:buClr>
                          <a:schemeClr val="lt1"/>
                        </a:buClr>
                        <a:buSzPts val="1800"/>
                        <a:buFont typeface="Calibri"/>
                        <a:buNone/>
                      </a:pPr>
                      <a:r>
                        <a:rPr lang="en-US" sz="1800" u="none" strike="noStrike" cap="none">
                          <a:solidFill>
                            <a:schemeClr val="lt1"/>
                          </a:solidFill>
                        </a:rPr>
                        <a:t>Train</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lt1"/>
                        </a:buClr>
                        <a:buSzPts val="1800"/>
                        <a:buFont typeface="Calibri"/>
                        <a:buNone/>
                      </a:pPr>
                      <a:r>
                        <a:rPr lang="en-US" sz="1800" u="none" strike="noStrike" cap="none">
                          <a:solidFill>
                            <a:schemeClr val="lt1"/>
                          </a:solidFill>
                        </a:rPr>
                        <a:t>Model fitting</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lt1"/>
                        </a:buClr>
                        <a:buSzPts val="1800"/>
                        <a:buFont typeface="Calibri"/>
                        <a:buNone/>
                      </a:pPr>
                      <a:r>
                        <a:rPr lang="en-US" sz="1800" u="none" strike="noStrike" cap="none">
                          <a:solidFill>
                            <a:schemeClr val="lt1"/>
                          </a:solidFill>
                        </a:rPr>
                        <a:t>Baseline SVM, RF, IQI-GWO training</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721175">
                <a:tc>
                  <a:txBody>
                    <a:bodyPr/>
                    <a:lstStyle/>
                    <a:p>
                      <a:pPr marL="0" marR="0" lvl="0" indent="0" algn="l" rtl="0">
                        <a:spcBef>
                          <a:spcPts val="0"/>
                        </a:spcBef>
                        <a:spcAft>
                          <a:spcPts val="0"/>
                        </a:spcAft>
                        <a:buClr>
                          <a:schemeClr val="lt1"/>
                        </a:buClr>
                        <a:buSzPts val="1800"/>
                        <a:buFont typeface="Calibri"/>
                        <a:buNone/>
                      </a:pPr>
                      <a:r>
                        <a:rPr lang="en-US" sz="1800" u="none" strike="noStrike" cap="none">
                          <a:solidFill>
                            <a:schemeClr val="lt1"/>
                          </a:solidFill>
                        </a:rPr>
                        <a:t>Validation</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lt1"/>
                        </a:buClr>
                        <a:buSzPts val="1800"/>
                        <a:buFont typeface="Calibri"/>
                        <a:buNone/>
                      </a:pPr>
                      <a:r>
                        <a:rPr lang="en-US" sz="1800" u="none" strike="noStrike" cap="none">
                          <a:solidFill>
                            <a:schemeClr val="lt1"/>
                          </a:solidFill>
                        </a:rPr>
                        <a:t>Fitness evaluation</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lt1"/>
                        </a:buClr>
                        <a:buSzPts val="1800"/>
                        <a:buFont typeface="Calibri"/>
                        <a:buNone/>
                      </a:pPr>
                      <a:r>
                        <a:rPr lang="en-US" sz="1800" u="none" strike="noStrike" cap="none">
                          <a:solidFill>
                            <a:schemeClr val="lt1"/>
                          </a:solidFill>
                        </a:rPr>
                        <a:t>IQI-GWO optimization loop</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721175">
                <a:tc>
                  <a:txBody>
                    <a:bodyPr/>
                    <a:lstStyle/>
                    <a:p>
                      <a:pPr marL="0" marR="0" lvl="0" indent="0" algn="l" rtl="0">
                        <a:spcBef>
                          <a:spcPts val="0"/>
                        </a:spcBef>
                        <a:spcAft>
                          <a:spcPts val="0"/>
                        </a:spcAft>
                        <a:buClr>
                          <a:schemeClr val="lt1"/>
                        </a:buClr>
                        <a:buSzPts val="1800"/>
                        <a:buFont typeface="Calibri"/>
                        <a:buNone/>
                      </a:pPr>
                      <a:r>
                        <a:rPr lang="en-US" sz="1800" u="none" strike="noStrike" cap="none">
                          <a:solidFill>
                            <a:schemeClr val="lt1"/>
                          </a:solidFill>
                        </a:rPr>
                        <a:t>Test</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lt1"/>
                        </a:buClr>
                        <a:buSzPts val="1800"/>
                        <a:buFont typeface="Calibri"/>
                        <a:buNone/>
                      </a:pPr>
                      <a:r>
                        <a:rPr lang="en-US" sz="1800" u="none" strike="noStrike" cap="none">
                          <a:solidFill>
                            <a:schemeClr val="lt1"/>
                          </a:solidFill>
                        </a:rPr>
                        <a:t>Final evaluation</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lt1"/>
                        </a:buClr>
                        <a:buSzPts val="1800"/>
                        <a:buFont typeface="Calibri"/>
                        <a:buNone/>
                      </a:pPr>
                      <a:r>
                        <a:rPr lang="en-US" sz="1800" u="none" strike="noStrike" cap="none">
                          <a:solidFill>
                            <a:schemeClr val="lt1"/>
                          </a:solidFill>
                        </a:rPr>
                        <a:t>Accuracy, F1, Confusion Matrix</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81" name="Google Shape;281;p13"/>
          <p:cNvSpPr txBox="1"/>
          <p:nvPr/>
        </p:nvSpPr>
        <p:spPr>
          <a:xfrm>
            <a:off x="950777" y="4858421"/>
            <a:ext cx="1161256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lt1"/>
                </a:solidFill>
                <a:latin typeface="Calibri"/>
                <a:ea typeface="Calibri"/>
                <a:cs typeface="Calibri"/>
                <a:sym typeface="Calibri"/>
              </a:rPr>
              <a:t>➡️ </a:t>
            </a:r>
            <a:r>
              <a:rPr lang="en-US" sz="1800" b="1">
                <a:solidFill>
                  <a:schemeClr val="lt1"/>
                </a:solidFill>
                <a:latin typeface="Calibri"/>
                <a:ea typeface="Calibri"/>
                <a:cs typeface="Calibri"/>
                <a:sym typeface="Calibri"/>
              </a:rPr>
              <a:t>So it’s a Fixed Split Evaluation Scheme (Train/Val/Test)</a:t>
            </a:r>
            <a:r>
              <a:rPr lang="en-US" sz="1800">
                <a:solidFill>
                  <a:schemeClr val="lt1"/>
                </a:solidFill>
                <a:latin typeface="Calibri"/>
                <a:ea typeface="Calibri"/>
                <a:cs typeface="Calibri"/>
                <a:sym typeface="Calibri"/>
              </a:rPr>
              <a:t>, </a:t>
            </a:r>
            <a:r>
              <a:rPr lang="en-US" sz="1800" b="1">
                <a:solidFill>
                  <a:schemeClr val="lt1"/>
                </a:solidFill>
                <a:latin typeface="Calibri"/>
                <a:ea typeface="Calibri"/>
                <a:cs typeface="Calibri"/>
                <a:sym typeface="Calibri"/>
              </a:rPr>
              <a:t>not</a:t>
            </a:r>
            <a:r>
              <a:rPr lang="en-US" sz="1800">
                <a:solidFill>
                  <a:schemeClr val="lt1"/>
                </a:solidFill>
                <a:latin typeface="Calibri"/>
                <a:ea typeface="Calibri"/>
                <a:cs typeface="Calibri"/>
                <a:sym typeface="Calibri"/>
              </a:rPr>
              <a:t> k-fold cross-validation or random split-over-ratio.</a:t>
            </a:r>
            <a:endParaRPr sz="1800">
              <a:solidFill>
                <a:schemeClr val="lt1"/>
              </a:solidFill>
              <a:latin typeface="Calibri"/>
              <a:ea typeface="Calibri"/>
              <a:cs typeface="Calibri"/>
              <a:sym typeface="Calibri"/>
            </a:endParaRPr>
          </a:p>
        </p:txBody>
      </p:sp>
      <p:pic>
        <p:nvPicPr>
          <p:cNvPr id="282" name="Google Shape;282;p13"/>
          <p:cNvPicPr preferRelativeResize="0"/>
          <p:nvPr/>
        </p:nvPicPr>
        <p:blipFill rotWithShape="1">
          <a:blip r:embed="rId3">
            <a:alphaModFix/>
          </a:blip>
          <a:srcRect/>
          <a:stretch/>
        </p:blipFill>
        <p:spPr>
          <a:xfrm>
            <a:off x="12802792" y="7236160"/>
            <a:ext cx="1827608" cy="99344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14"/>
          <p:cNvSpPr txBox="1"/>
          <p:nvPr/>
        </p:nvSpPr>
        <p:spPr>
          <a:xfrm>
            <a:off x="965915" y="875763"/>
            <a:ext cx="12408794" cy="60016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lt1"/>
              </a:buClr>
              <a:buSzPts val="3200"/>
              <a:buFont typeface="Calibri"/>
              <a:buNone/>
            </a:pPr>
            <a:r>
              <a:rPr lang="en-US" sz="3200" b="1">
                <a:solidFill>
                  <a:schemeClr val="lt1"/>
                </a:solidFill>
                <a:latin typeface="Calibri"/>
                <a:ea typeface="Calibri"/>
                <a:cs typeface="Calibri"/>
                <a:sym typeface="Calibri"/>
              </a:rPr>
              <a:t>🔹 Advantages:</a:t>
            </a:r>
            <a:endParaRPr/>
          </a:p>
          <a:p>
            <a:pPr marL="0" marR="0" lvl="0" indent="0" algn="l" rtl="0">
              <a:spcBef>
                <a:spcPts val="0"/>
              </a:spcBef>
              <a:spcAft>
                <a:spcPts val="0"/>
              </a:spcAft>
              <a:buClr>
                <a:schemeClr val="dk1"/>
              </a:buClr>
              <a:buSzPts val="3200"/>
              <a:buFont typeface="Calibri"/>
              <a:buNone/>
            </a:pPr>
            <a:endParaRPr sz="3200" b="1">
              <a:solidFill>
                <a:schemeClr val="lt1"/>
              </a:solidFill>
              <a:latin typeface="Calibri"/>
              <a:ea typeface="Calibri"/>
              <a:cs typeface="Calibri"/>
              <a:sym typeface="Calibri"/>
            </a:endParaRPr>
          </a:p>
          <a:p>
            <a:pPr marL="457200" marR="0" lvl="1" indent="-203200" algn="l" rtl="0">
              <a:spcBef>
                <a:spcPts val="0"/>
              </a:spcBef>
              <a:spcAft>
                <a:spcPts val="0"/>
              </a:spcAft>
              <a:buClr>
                <a:schemeClr val="lt1"/>
              </a:buClr>
              <a:buSzPts val="3200"/>
              <a:buFont typeface="Arial"/>
              <a:buChar char="•"/>
            </a:pPr>
            <a:r>
              <a:rPr lang="en-US" sz="3200" b="0" i="0" u="none" strike="noStrike" cap="none">
                <a:solidFill>
                  <a:schemeClr val="lt1"/>
                </a:solidFill>
                <a:latin typeface="Calibri"/>
                <a:ea typeface="Calibri"/>
                <a:cs typeface="Calibri"/>
                <a:sym typeface="Calibri"/>
              </a:rPr>
              <a:t>  Clear separation avoids overfitting.</a:t>
            </a:r>
            <a:endParaRPr/>
          </a:p>
          <a:p>
            <a:pPr marL="457200" marR="0" lvl="1" indent="-203200" algn="l" rtl="0">
              <a:spcBef>
                <a:spcPts val="0"/>
              </a:spcBef>
              <a:spcAft>
                <a:spcPts val="0"/>
              </a:spcAft>
              <a:buClr>
                <a:schemeClr val="lt1"/>
              </a:buClr>
              <a:buSzPts val="3200"/>
              <a:buFont typeface="Arial"/>
              <a:buChar char="•"/>
            </a:pPr>
            <a:r>
              <a:rPr lang="en-US" sz="3200" b="0" i="0" u="none" strike="noStrike" cap="none">
                <a:solidFill>
                  <a:schemeClr val="lt1"/>
                </a:solidFill>
                <a:latin typeface="Calibri"/>
                <a:ea typeface="Calibri"/>
                <a:cs typeface="Calibri"/>
                <a:sym typeface="Calibri"/>
              </a:rPr>
              <a:t>  Easy reproducibility for multiple datasets.</a:t>
            </a:r>
            <a:endParaRPr/>
          </a:p>
          <a:p>
            <a:pPr marL="457200" marR="0" lvl="1" indent="-203200" algn="l" rtl="0">
              <a:spcBef>
                <a:spcPts val="0"/>
              </a:spcBef>
              <a:spcAft>
                <a:spcPts val="0"/>
              </a:spcAft>
              <a:buClr>
                <a:schemeClr val="lt1"/>
              </a:buClr>
              <a:buSzPts val="3200"/>
              <a:buFont typeface="Arial"/>
              <a:buChar char="•"/>
            </a:pPr>
            <a:r>
              <a:rPr lang="en-US" sz="3200" b="0" i="0" u="none" strike="noStrike" cap="none">
                <a:solidFill>
                  <a:schemeClr val="lt1"/>
                </a:solidFill>
                <a:latin typeface="Calibri"/>
                <a:ea typeface="Calibri"/>
                <a:cs typeface="Calibri"/>
                <a:sym typeface="Calibri"/>
              </a:rPr>
              <a:t>  Faster runtime compared to k-fold.</a:t>
            </a:r>
            <a:endParaRPr/>
          </a:p>
          <a:p>
            <a:pPr marL="0" marR="0" lvl="0" indent="0" algn="l" rtl="0">
              <a:spcBef>
                <a:spcPts val="0"/>
              </a:spcBef>
              <a:spcAft>
                <a:spcPts val="0"/>
              </a:spcAft>
              <a:buClr>
                <a:schemeClr val="dk1"/>
              </a:buClr>
              <a:buSzPts val="3200"/>
              <a:buFont typeface="Arial"/>
              <a:buNone/>
            </a:pPr>
            <a:endParaRPr sz="3200">
              <a:solidFill>
                <a:schemeClr val="lt1"/>
              </a:solidFill>
              <a:latin typeface="Calibri"/>
              <a:ea typeface="Calibri"/>
              <a:cs typeface="Calibri"/>
              <a:sym typeface="Calibri"/>
            </a:endParaRPr>
          </a:p>
          <a:p>
            <a:pPr marL="0" marR="0" lvl="0" indent="0" algn="l" rtl="0">
              <a:spcBef>
                <a:spcPts val="0"/>
              </a:spcBef>
              <a:spcAft>
                <a:spcPts val="0"/>
              </a:spcAft>
              <a:buClr>
                <a:schemeClr val="dk1"/>
              </a:buClr>
              <a:buSzPts val="3200"/>
              <a:buFont typeface="Arial"/>
              <a:buNone/>
            </a:pPr>
            <a:endParaRPr sz="3200">
              <a:solidFill>
                <a:schemeClr val="lt1"/>
              </a:solidFill>
              <a:latin typeface="Calibri"/>
              <a:ea typeface="Calibri"/>
              <a:cs typeface="Calibri"/>
              <a:sym typeface="Calibri"/>
            </a:endParaRPr>
          </a:p>
          <a:p>
            <a:pPr marL="0" marR="0" lvl="0" indent="0" algn="l" rtl="0">
              <a:spcBef>
                <a:spcPts val="0"/>
              </a:spcBef>
              <a:spcAft>
                <a:spcPts val="0"/>
              </a:spcAft>
              <a:buClr>
                <a:schemeClr val="lt1"/>
              </a:buClr>
              <a:buSzPts val="3200"/>
              <a:buFont typeface="Calibri"/>
              <a:buNone/>
            </a:pPr>
            <a:r>
              <a:rPr lang="en-US" sz="3200" b="1">
                <a:solidFill>
                  <a:schemeClr val="lt1"/>
                </a:solidFill>
                <a:latin typeface="Calibri"/>
                <a:ea typeface="Calibri"/>
                <a:cs typeface="Calibri"/>
                <a:sym typeface="Calibri"/>
              </a:rPr>
              <a:t>🔹 Limitation:</a:t>
            </a:r>
            <a:endParaRPr/>
          </a:p>
          <a:p>
            <a:pPr marL="0" marR="0" lvl="0" indent="0" algn="l" rtl="0">
              <a:spcBef>
                <a:spcPts val="0"/>
              </a:spcBef>
              <a:spcAft>
                <a:spcPts val="0"/>
              </a:spcAft>
              <a:buClr>
                <a:schemeClr val="dk1"/>
              </a:buClr>
              <a:buSzPts val="3200"/>
              <a:buFont typeface="Calibri"/>
              <a:buNone/>
            </a:pPr>
            <a:endParaRPr sz="3200" b="1">
              <a:solidFill>
                <a:schemeClr val="lt1"/>
              </a:solidFill>
              <a:latin typeface="Calibri"/>
              <a:ea typeface="Calibri"/>
              <a:cs typeface="Calibri"/>
              <a:sym typeface="Calibri"/>
            </a:endParaRPr>
          </a:p>
          <a:p>
            <a:pPr marL="457200" marR="0" lvl="1" indent="-203200" algn="l" rtl="0">
              <a:spcBef>
                <a:spcPts val="0"/>
              </a:spcBef>
              <a:spcAft>
                <a:spcPts val="0"/>
              </a:spcAft>
              <a:buClr>
                <a:schemeClr val="lt1"/>
              </a:buClr>
              <a:buSzPts val="3200"/>
              <a:buFont typeface="Arial"/>
              <a:buChar char="•"/>
            </a:pPr>
            <a:r>
              <a:rPr lang="en-US" sz="3200" b="0" i="0" u="none" strike="noStrike" cap="none">
                <a:solidFill>
                  <a:schemeClr val="lt1"/>
                </a:solidFill>
                <a:latin typeface="Calibri"/>
                <a:ea typeface="Calibri"/>
                <a:cs typeface="Calibri"/>
                <a:sym typeface="Calibri"/>
              </a:rPr>
              <a:t>  Results may vary slightly depending on how datasets were split.</a:t>
            </a:r>
            <a:endParaRPr/>
          </a:p>
          <a:p>
            <a:pPr marL="457200" marR="0" lvl="1" indent="-203200" algn="l" rtl="0">
              <a:spcBef>
                <a:spcPts val="0"/>
              </a:spcBef>
              <a:spcAft>
                <a:spcPts val="0"/>
              </a:spcAft>
              <a:buClr>
                <a:schemeClr val="lt1"/>
              </a:buClr>
              <a:buSzPts val="3200"/>
              <a:buFont typeface="Arial"/>
              <a:buChar char="•"/>
            </a:pPr>
            <a:r>
              <a:rPr lang="en-US" sz="3200" b="0" i="0" u="none" strike="noStrike" cap="none">
                <a:solidFill>
                  <a:schemeClr val="lt1"/>
                </a:solidFill>
                <a:latin typeface="Calibri"/>
                <a:ea typeface="Calibri"/>
                <a:cs typeface="Calibri"/>
                <a:sym typeface="Calibri"/>
              </a:rPr>
              <a:t>  No averaging over multiple folds (so minor statistical variance    possible).</a:t>
            </a:r>
            <a:endParaRPr/>
          </a:p>
        </p:txBody>
      </p:sp>
      <p:pic>
        <p:nvPicPr>
          <p:cNvPr id="288" name="Google Shape;288;p14"/>
          <p:cNvPicPr preferRelativeResize="0"/>
          <p:nvPr/>
        </p:nvPicPr>
        <p:blipFill rotWithShape="1">
          <a:blip r:embed="rId3">
            <a:alphaModFix/>
          </a:blip>
          <a:srcRect/>
          <a:stretch/>
        </p:blipFill>
        <p:spPr>
          <a:xfrm>
            <a:off x="12657308" y="7040313"/>
            <a:ext cx="1859805" cy="118928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pic>
        <p:nvPicPr>
          <p:cNvPr id="294" name="Google Shape;294;p15" descr="preencoded.png"/>
          <p:cNvPicPr preferRelativeResize="0"/>
          <p:nvPr/>
        </p:nvPicPr>
        <p:blipFill rotWithShape="1">
          <a:blip r:embed="rId3">
            <a:alphaModFix/>
          </a:blip>
          <a:srcRect/>
          <a:stretch/>
        </p:blipFill>
        <p:spPr>
          <a:xfrm>
            <a:off x="50676" y="0"/>
            <a:ext cx="14630400" cy="8229600"/>
          </a:xfrm>
          <a:prstGeom prst="rect">
            <a:avLst/>
          </a:prstGeom>
          <a:noFill/>
          <a:ln>
            <a:noFill/>
          </a:ln>
        </p:spPr>
      </p:pic>
      <p:sp>
        <p:nvSpPr>
          <p:cNvPr id="295" name="Google Shape;295;p15"/>
          <p:cNvSpPr/>
          <p:nvPr/>
        </p:nvSpPr>
        <p:spPr>
          <a:xfrm>
            <a:off x="0" y="0"/>
            <a:ext cx="14630400" cy="8229600"/>
          </a:xfrm>
          <a:prstGeom prst="rect">
            <a:avLst/>
          </a:prstGeom>
          <a:solidFill>
            <a:srgbClr val="09151A">
              <a:alpha val="8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5"/>
          <p:cNvSpPr/>
          <p:nvPr/>
        </p:nvSpPr>
        <p:spPr>
          <a:xfrm>
            <a:off x="715691" y="1561827"/>
            <a:ext cx="7582148" cy="539948"/>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F5F0F0"/>
              </a:buClr>
              <a:buSzPts val="3400"/>
              <a:buFont typeface="Merriweather"/>
              <a:buNone/>
            </a:pPr>
            <a:r>
              <a:rPr lang="en-US" sz="3400" dirty="0" err="1">
                <a:solidFill>
                  <a:srgbClr val="F5F0F0"/>
                </a:solidFill>
                <a:latin typeface="Merriweather"/>
                <a:ea typeface="Merriweather"/>
                <a:cs typeface="Merriweather"/>
                <a:sym typeface="Merriweather"/>
              </a:rPr>
              <a:t>IIITDMJ_Smoke</a:t>
            </a:r>
            <a:r>
              <a:rPr lang="en-US" sz="3400" dirty="0">
                <a:solidFill>
                  <a:srgbClr val="F5F0F0"/>
                </a:solidFill>
                <a:latin typeface="Merriweather"/>
                <a:ea typeface="Merriweather"/>
                <a:cs typeface="Merriweather"/>
                <a:sym typeface="Merriweather"/>
              </a:rPr>
              <a:t> Dataset</a:t>
            </a:r>
            <a:endParaRPr sz="3400" dirty="0">
              <a:solidFill>
                <a:schemeClr val="dk1"/>
              </a:solidFill>
              <a:latin typeface="Calibri"/>
              <a:ea typeface="Calibri"/>
              <a:cs typeface="Calibri"/>
              <a:sym typeface="Calibri"/>
            </a:endParaRPr>
          </a:p>
        </p:txBody>
      </p:sp>
      <p:sp>
        <p:nvSpPr>
          <p:cNvPr id="297" name="Google Shape;297;p15"/>
          <p:cNvSpPr/>
          <p:nvPr/>
        </p:nvSpPr>
        <p:spPr>
          <a:xfrm>
            <a:off x="715691" y="2360855"/>
            <a:ext cx="12902803" cy="552688"/>
          </a:xfrm>
          <a:prstGeom prst="rect">
            <a:avLst/>
          </a:prstGeom>
          <a:noFill/>
          <a:ln>
            <a:noFill/>
          </a:ln>
        </p:spPr>
        <p:txBody>
          <a:bodyPr spcFirstLastPara="1" wrap="square" lIns="0" tIns="0" rIns="0" bIns="0" anchor="t" anchorCtr="0">
            <a:noAutofit/>
          </a:bodyPr>
          <a:lstStyle/>
          <a:p>
            <a:pPr marL="0" marR="0" lvl="0" indent="0" algn="l" rtl="0">
              <a:lnSpc>
                <a:spcPct val="159259"/>
              </a:lnSpc>
              <a:spcBef>
                <a:spcPts val="0"/>
              </a:spcBef>
              <a:spcAft>
                <a:spcPts val="0"/>
              </a:spcAft>
              <a:buClr>
                <a:srgbClr val="E2E6E9"/>
              </a:buClr>
              <a:buSzPts val="1350"/>
              <a:buFont typeface="Merriweather"/>
              <a:buNone/>
            </a:pPr>
            <a:r>
              <a:rPr lang="en-US" sz="1350">
                <a:solidFill>
                  <a:srgbClr val="E2E6E9"/>
                </a:solidFill>
                <a:latin typeface="Merriweather"/>
                <a:ea typeface="Merriweather"/>
                <a:cs typeface="Merriweather"/>
                <a:sym typeface="Merriweather"/>
              </a:rPr>
              <a:t>The IIITDMJ_Smoke dataset provides a comprehensive collection of images specifically designed for smoke detection and classification tasks. This dataset serves as a valuable resource for training machine learning models in fire safety and environmental monitoring applications.</a:t>
            </a:r>
            <a:endParaRPr sz="1350">
              <a:solidFill>
                <a:schemeClr val="dk1"/>
              </a:solidFill>
              <a:latin typeface="Calibri"/>
              <a:ea typeface="Calibri"/>
              <a:cs typeface="Calibri"/>
              <a:sym typeface="Calibri"/>
            </a:endParaRPr>
          </a:p>
        </p:txBody>
      </p:sp>
      <p:sp>
        <p:nvSpPr>
          <p:cNvPr id="298" name="Google Shape;298;p15"/>
          <p:cNvSpPr/>
          <p:nvPr/>
        </p:nvSpPr>
        <p:spPr>
          <a:xfrm>
            <a:off x="715691" y="3107853"/>
            <a:ext cx="12902803" cy="276344"/>
          </a:xfrm>
          <a:prstGeom prst="rect">
            <a:avLst/>
          </a:prstGeom>
          <a:noFill/>
          <a:ln>
            <a:noFill/>
          </a:ln>
        </p:spPr>
        <p:txBody>
          <a:bodyPr spcFirstLastPara="1" wrap="square" lIns="0" tIns="0" rIns="0" bIns="0" anchor="t" anchorCtr="0">
            <a:noAutofit/>
          </a:bodyPr>
          <a:lstStyle/>
          <a:p>
            <a:pPr marL="0" marR="0" lvl="0" indent="0" algn="l" rtl="0">
              <a:lnSpc>
                <a:spcPct val="159259"/>
              </a:lnSpc>
              <a:spcBef>
                <a:spcPts val="0"/>
              </a:spcBef>
              <a:spcAft>
                <a:spcPts val="0"/>
              </a:spcAft>
              <a:buClr>
                <a:srgbClr val="E2E6E9"/>
              </a:buClr>
              <a:buSzPts val="1350"/>
              <a:buFont typeface="Merriweather"/>
              <a:buNone/>
            </a:pPr>
            <a:r>
              <a:rPr lang="en-US" sz="1350">
                <a:solidFill>
                  <a:srgbClr val="E2E6E9"/>
                </a:solidFill>
                <a:latin typeface="Merriweather"/>
                <a:ea typeface="Merriweather"/>
                <a:cs typeface="Merriweather"/>
                <a:sym typeface="Merriweather"/>
              </a:rPr>
              <a:t>Access the dataset: </a:t>
            </a:r>
            <a:r>
              <a:rPr lang="en-US" sz="1350" u="sng">
                <a:solidFill>
                  <a:srgbClr val="609DFF"/>
                </a:solidFill>
                <a:latin typeface="Merriweather"/>
                <a:ea typeface="Merriweather"/>
                <a:cs typeface="Merriweather"/>
                <a:sym typeface="Merriweather"/>
                <a:hlinkClick r:id="rId4">
                  <a:extLst>
                    <a:ext uri="{A12FA001-AC4F-418D-AE19-62706E023703}">
                      <ahyp:hlinkClr xmlns:ahyp="http://schemas.microsoft.com/office/drawing/2018/hyperlinkcolor" val="tx"/>
                    </a:ext>
                  </a:extLst>
                </a:hlinkClick>
              </a:rPr>
              <a:t>https://data.mendeley.com/datasets/4mn2g8cnsf/1</a:t>
            </a:r>
            <a:endParaRPr sz="1350">
              <a:solidFill>
                <a:schemeClr val="dk1"/>
              </a:solidFill>
              <a:latin typeface="Calibri"/>
              <a:ea typeface="Calibri"/>
              <a:cs typeface="Calibri"/>
              <a:sym typeface="Calibri"/>
            </a:endParaRPr>
          </a:p>
        </p:txBody>
      </p:sp>
      <p:sp>
        <p:nvSpPr>
          <p:cNvPr id="299" name="Google Shape;299;p15"/>
          <p:cNvSpPr/>
          <p:nvPr/>
        </p:nvSpPr>
        <p:spPr>
          <a:xfrm>
            <a:off x="715691" y="3643277"/>
            <a:ext cx="2159675" cy="269915"/>
          </a:xfrm>
          <a:prstGeom prst="rect">
            <a:avLst/>
          </a:prstGeom>
          <a:noFill/>
          <a:ln>
            <a:noFill/>
          </a:ln>
        </p:spPr>
        <p:txBody>
          <a:bodyPr spcFirstLastPara="1" wrap="square" lIns="0" tIns="0" rIns="0" bIns="0" anchor="t" anchorCtr="0">
            <a:noAutofit/>
          </a:bodyPr>
          <a:lstStyle/>
          <a:p>
            <a:pPr marL="0" marR="0" lvl="0" indent="0" algn="l" rtl="0">
              <a:lnSpc>
                <a:spcPct val="123529"/>
              </a:lnSpc>
              <a:spcBef>
                <a:spcPts val="0"/>
              </a:spcBef>
              <a:spcAft>
                <a:spcPts val="0"/>
              </a:spcAft>
              <a:buClr>
                <a:srgbClr val="F5F0F0"/>
              </a:buClr>
              <a:buSzPts val="1700"/>
              <a:buFont typeface="Merriweather"/>
              <a:buNone/>
            </a:pPr>
            <a:r>
              <a:rPr lang="en-US" sz="1700">
                <a:solidFill>
                  <a:srgbClr val="F5F0F0"/>
                </a:solidFill>
                <a:latin typeface="Merriweather"/>
                <a:ea typeface="Merriweather"/>
                <a:cs typeface="Merriweather"/>
                <a:sym typeface="Merriweather"/>
              </a:rPr>
              <a:t>Dataset Output</a:t>
            </a:r>
            <a:endParaRPr sz="1700">
              <a:solidFill>
                <a:schemeClr val="dk1"/>
              </a:solidFill>
              <a:latin typeface="Calibri"/>
              <a:ea typeface="Calibri"/>
              <a:cs typeface="Calibri"/>
              <a:sym typeface="Calibri"/>
            </a:endParaRPr>
          </a:p>
        </p:txBody>
      </p:sp>
      <p:pic>
        <p:nvPicPr>
          <p:cNvPr id="300" name="Google Shape;300;p15" descr="preencoded.png"/>
          <p:cNvPicPr preferRelativeResize="0"/>
          <p:nvPr/>
        </p:nvPicPr>
        <p:blipFill rotWithShape="1">
          <a:blip r:embed="rId5">
            <a:alphaModFix/>
          </a:blip>
          <a:srcRect t="4973" b="4731"/>
          <a:stretch>
            <a:fillRect/>
          </a:stretch>
        </p:blipFill>
        <p:spPr>
          <a:xfrm>
            <a:off x="715691" y="4365927"/>
            <a:ext cx="9025771" cy="3515656"/>
          </a:xfrm>
          <a:prstGeom prst="rect">
            <a:avLst/>
          </a:prstGeom>
          <a:noFill/>
          <a:ln>
            <a:noFill/>
          </a:ln>
        </p:spPr>
      </p:pic>
      <p:sp>
        <p:nvSpPr>
          <p:cNvPr id="301" name="Google Shape;301;p15"/>
          <p:cNvSpPr txBox="1"/>
          <p:nvPr/>
        </p:nvSpPr>
        <p:spPr>
          <a:xfrm>
            <a:off x="868018" y="466001"/>
            <a:ext cx="5632174"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u="sng">
                <a:solidFill>
                  <a:schemeClr val="lt2"/>
                </a:solidFill>
                <a:latin typeface="Calibri"/>
                <a:ea typeface="Calibri"/>
                <a:cs typeface="Calibri"/>
                <a:sym typeface="Calibri"/>
              </a:rPr>
              <a:t>Datasets :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07" name="Google Shape;307;p16" descr="preencoded.png"/>
          <p:cNvPicPr preferRelativeResize="0"/>
          <p:nvPr/>
        </p:nvPicPr>
        <p:blipFill rotWithShape="1">
          <a:blip r:embed="rId3">
            <a:alphaModFix/>
          </a:blip>
          <a:srcRect/>
          <a:stretch/>
        </p:blipFill>
        <p:spPr>
          <a:xfrm>
            <a:off x="0" y="0"/>
            <a:ext cx="14630400" cy="8351758"/>
          </a:xfrm>
          <a:prstGeom prst="rect">
            <a:avLst/>
          </a:prstGeom>
          <a:noFill/>
          <a:ln>
            <a:noFill/>
          </a:ln>
        </p:spPr>
      </p:pic>
      <p:sp>
        <p:nvSpPr>
          <p:cNvPr id="308" name="Google Shape;308;p16"/>
          <p:cNvSpPr/>
          <p:nvPr/>
        </p:nvSpPr>
        <p:spPr>
          <a:xfrm>
            <a:off x="0" y="0"/>
            <a:ext cx="14630400" cy="8351758"/>
          </a:xfrm>
          <a:prstGeom prst="rect">
            <a:avLst/>
          </a:prstGeom>
          <a:solidFill>
            <a:srgbClr val="09151A">
              <a:alpha val="8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6"/>
          <p:cNvSpPr/>
          <p:nvPr/>
        </p:nvSpPr>
        <p:spPr>
          <a:xfrm>
            <a:off x="742117" y="583049"/>
            <a:ext cx="4240768" cy="530066"/>
          </a:xfrm>
          <a:prstGeom prst="rect">
            <a:avLst/>
          </a:prstGeom>
          <a:noFill/>
          <a:ln>
            <a:noFill/>
          </a:ln>
        </p:spPr>
        <p:txBody>
          <a:bodyPr spcFirstLastPara="1" wrap="square" lIns="0" tIns="0" rIns="0" bIns="0" anchor="t" anchorCtr="0">
            <a:noAutofit/>
          </a:bodyPr>
          <a:lstStyle/>
          <a:p>
            <a:pPr marL="0" marR="0" lvl="0" indent="0" algn="l" rtl="0">
              <a:lnSpc>
                <a:spcPct val="125757"/>
              </a:lnSpc>
              <a:spcBef>
                <a:spcPts val="0"/>
              </a:spcBef>
              <a:spcAft>
                <a:spcPts val="0"/>
              </a:spcAft>
              <a:buClr>
                <a:srgbClr val="F5F0F0"/>
              </a:buClr>
              <a:buSzPts val="3300"/>
              <a:buFont typeface="Merriweather"/>
              <a:buNone/>
            </a:pPr>
            <a:r>
              <a:rPr lang="en-US" sz="3300">
                <a:solidFill>
                  <a:srgbClr val="F5F0F0"/>
                </a:solidFill>
                <a:latin typeface="Merriweather"/>
                <a:ea typeface="Merriweather"/>
                <a:cs typeface="Merriweather"/>
                <a:sym typeface="Merriweather"/>
              </a:rPr>
              <a:t>LC25000 Dataset</a:t>
            </a:r>
            <a:endParaRPr sz="3300">
              <a:solidFill>
                <a:schemeClr val="dk1"/>
              </a:solidFill>
              <a:latin typeface="Calibri"/>
              <a:ea typeface="Calibri"/>
              <a:cs typeface="Calibri"/>
              <a:sym typeface="Calibri"/>
            </a:endParaRPr>
          </a:p>
        </p:txBody>
      </p:sp>
      <p:sp>
        <p:nvSpPr>
          <p:cNvPr id="310" name="Google Shape;310;p16"/>
          <p:cNvSpPr/>
          <p:nvPr/>
        </p:nvSpPr>
        <p:spPr>
          <a:xfrm>
            <a:off x="742117" y="1367552"/>
            <a:ext cx="13146167" cy="542925"/>
          </a:xfrm>
          <a:prstGeom prst="rect">
            <a:avLst/>
          </a:prstGeom>
          <a:noFill/>
          <a:ln>
            <a:noFill/>
          </a:ln>
        </p:spPr>
        <p:txBody>
          <a:bodyPr spcFirstLastPara="1" wrap="square" lIns="0" tIns="0" rIns="0" bIns="0" anchor="t" anchorCtr="0">
            <a:noAutofit/>
          </a:bodyPr>
          <a:lstStyle/>
          <a:p>
            <a:pPr marL="0" marR="0" lvl="0" indent="0" algn="l" rtl="0">
              <a:lnSpc>
                <a:spcPct val="161538"/>
              </a:lnSpc>
              <a:spcBef>
                <a:spcPts val="0"/>
              </a:spcBef>
              <a:spcAft>
                <a:spcPts val="0"/>
              </a:spcAft>
              <a:buClr>
                <a:srgbClr val="E2E6E9"/>
              </a:buClr>
              <a:buSzPts val="1300"/>
              <a:buFont typeface="Merriweather"/>
              <a:buNone/>
            </a:pPr>
            <a:r>
              <a:rPr lang="en-US" sz="1300">
                <a:solidFill>
                  <a:srgbClr val="E2E6E9"/>
                </a:solidFill>
                <a:latin typeface="Merriweather"/>
                <a:ea typeface="Merriweather"/>
                <a:cs typeface="Merriweather"/>
                <a:sym typeface="Merriweather"/>
              </a:rPr>
              <a:t>The LC25000 dataset is a large-scale medical imaging collection containing 25,000 histopathological images across multiple categories. This dataset is instrumental for developing deep learning models in medical diagnostics, particularly for lung and colon cancer detection and classification.</a:t>
            </a:r>
            <a:endParaRPr sz="1300">
              <a:solidFill>
                <a:schemeClr val="dk1"/>
              </a:solidFill>
              <a:latin typeface="Calibri"/>
              <a:ea typeface="Calibri"/>
              <a:cs typeface="Calibri"/>
              <a:sym typeface="Calibri"/>
            </a:endParaRPr>
          </a:p>
        </p:txBody>
      </p:sp>
      <p:sp>
        <p:nvSpPr>
          <p:cNvPr id="311" name="Google Shape;311;p16"/>
          <p:cNvSpPr/>
          <p:nvPr/>
        </p:nvSpPr>
        <p:spPr>
          <a:xfrm>
            <a:off x="742117" y="2101215"/>
            <a:ext cx="13146167" cy="271463"/>
          </a:xfrm>
          <a:prstGeom prst="rect">
            <a:avLst/>
          </a:prstGeom>
          <a:noFill/>
          <a:ln>
            <a:noFill/>
          </a:ln>
        </p:spPr>
        <p:txBody>
          <a:bodyPr spcFirstLastPara="1" wrap="square" lIns="0" tIns="0" rIns="0" bIns="0" anchor="t" anchorCtr="0">
            <a:noAutofit/>
          </a:bodyPr>
          <a:lstStyle/>
          <a:p>
            <a:pPr marL="0" marR="0" lvl="0" indent="0" algn="l" rtl="0">
              <a:lnSpc>
                <a:spcPct val="161538"/>
              </a:lnSpc>
              <a:spcBef>
                <a:spcPts val="0"/>
              </a:spcBef>
              <a:spcAft>
                <a:spcPts val="0"/>
              </a:spcAft>
              <a:buClr>
                <a:srgbClr val="E2E6E9"/>
              </a:buClr>
              <a:buSzPts val="1300"/>
              <a:buFont typeface="Merriweather"/>
              <a:buNone/>
            </a:pPr>
            <a:r>
              <a:rPr lang="en-US" sz="1300">
                <a:solidFill>
                  <a:srgbClr val="E2E6E9"/>
                </a:solidFill>
                <a:latin typeface="Merriweather"/>
                <a:ea typeface="Merriweather"/>
                <a:cs typeface="Merriweather"/>
                <a:sym typeface="Merriweather"/>
              </a:rPr>
              <a:t>Access the dataset: </a:t>
            </a:r>
            <a:r>
              <a:rPr lang="en-US" sz="1300" u="sng">
                <a:solidFill>
                  <a:srgbClr val="609DFF"/>
                </a:solidFill>
                <a:latin typeface="Merriweather"/>
                <a:ea typeface="Merriweather"/>
                <a:cs typeface="Merriweather"/>
                <a:sym typeface="Merriweather"/>
                <a:hlinkClick r:id="rId4">
                  <a:extLst>
                    <a:ext uri="{A12FA001-AC4F-418D-AE19-62706E023703}">
                      <ahyp:hlinkClr xmlns:ahyp="http://schemas.microsoft.com/office/drawing/2018/hyperlinkcolor" val="tx"/>
                    </a:ext>
                  </a:extLst>
                </a:hlinkClick>
              </a:rPr>
              <a:t>https://www.kaggle.com/datasets/javaidahmadwani/lc25000/data</a:t>
            </a:r>
            <a:endParaRPr sz="1300">
              <a:solidFill>
                <a:schemeClr val="dk1"/>
              </a:solidFill>
              <a:latin typeface="Calibri"/>
              <a:ea typeface="Calibri"/>
              <a:cs typeface="Calibri"/>
              <a:sym typeface="Calibri"/>
            </a:endParaRPr>
          </a:p>
        </p:txBody>
      </p:sp>
      <p:sp>
        <p:nvSpPr>
          <p:cNvPr id="312" name="Google Shape;312;p16"/>
          <p:cNvSpPr/>
          <p:nvPr/>
        </p:nvSpPr>
        <p:spPr>
          <a:xfrm>
            <a:off x="742117" y="2627114"/>
            <a:ext cx="2120384" cy="265033"/>
          </a:xfrm>
          <a:prstGeom prst="rect">
            <a:avLst/>
          </a:prstGeom>
          <a:noFill/>
          <a:ln>
            <a:noFill/>
          </a:ln>
        </p:spPr>
        <p:txBody>
          <a:bodyPr spcFirstLastPara="1" wrap="square" lIns="0" tIns="0" rIns="0" bIns="0" anchor="t" anchorCtr="0">
            <a:noAutofit/>
          </a:bodyPr>
          <a:lstStyle/>
          <a:p>
            <a:pPr marL="0" marR="0" lvl="0" indent="0" algn="l" rtl="0">
              <a:lnSpc>
                <a:spcPct val="124242"/>
              </a:lnSpc>
              <a:spcBef>
                <a:spcPts val="0"/>
              </a:spcBef>
              <a:spcAft>
                <a:spcPts val="0"/>
              </a:spcAft>
              <a:buClr>
                <a:srgbClr val="F5F0F0"/>
              </a:buClr>
              <a:buSzPts val="1650"/>
              <a:buFont typeface="Merriweather"/>
              <a:buNone/>
            </a:pPr>
            <a:r>
              <a:rPr lang="en-US" sz="1650">
                <a:solidFill>
                  <a:srgbClr val="F5F0F0"/>
                </a:solidFill>
                <a:latin typeface="Merriweather"/>
                <a:ea typeface="Merriweather"/>
                <a:cs typeface="Merriweather"/>
                <a:sym typeface="Merriweather"/>
              </a:rPr>
              <a:t>Dataset Output</a:t>
            </a:r>
            <a:endParaRPr sz="1650">
              <a:solidFill>
                <a:schemeClr val="dk1"/>
              </a:solidFill>
              <a:latin typeface="Calibri"/>
              <a:ea typeface="Calibri"/>
              <a:cs typeface="Calibri"/>
              <a:sym typeface="Calibri"/>
            </a:endParaRPr>
          </a:p>
        </p:txBody>
      </p:sp>
      <p:pic>
        <p:nvPicPr>
          <p:cNvPr id="313" name="Google Shape;313;p16" descr="preencoded.png"/>
          <p:cNvPicPr preferRelativeResize="0"/>
          <p:nvPr/>
        </p:nvPicPr>
        <p:blipFill rotWithShape="1">
          <a:blip r:embed="rId5">
            <a:alphaModFix/>
          </a:blip>
          <a:srcRect/>
          <a:stretch/>
        </p:blipFill>
        <p:spPr>
          <a:xfrm>
            <a:off x="742117" y="3146584"/>
            <a:ext cx="10516910" cy="46221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pic>
        <p:nvPicPr>
          <p:cNvPr id="319" name="Google Shape;319;p17" descr="preencoded.png"/>
          <p:cNvPicPr preferRelativeResize="0"/>
          <p:nvPr/>
        </p:nvPicPr>
        <p:blipFill rotWithShape="1">
          <a:blip r:embed="rId3">
            <a:alphaModFix/>
          </a:blip>
          <a:srcRect/>
          <a:stretch/>
        </p:blipFill>
        <p:spPr>
          <a:xfrm>
            <a:off x="0" y="0"/>
            <a:ext cx="14630400" cy="9028867"/>
          </a:xfrm>
          <a:prstGeom prst="rect">
            <a:avLst/>
          </a:prstGeom>
          <a:noFill/>
          <a:ln>
            <a:noFill/>
          </a:ln>
        </p:spPr>
      </p:pic>
      <p:sp>
        <p:nvSpPr>
          <p:cNvPr id="320" name="Google Shape;320;p17"/>
          <p:cNvSpPr/>
          <p:nvPr/>
        </p:nvSpPr>
        <p:spPr>
          <a:xfrm>
            <a:off x="0" y="0"/>
            <a:ext cx="14630400" cy="9028867"/>
          </a:xfrm>
          <a:prstGeom prst="rect">
            <a:avLst/>
          </a:prstGeom>
          <a:solidFill>
            <a:srgbClr val="09151A">
              <a:alpha val="8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17"/>
          <p:cNvSpPr/>
          <p:nvPr/>
        </p:nvSpPr>
        <p:spPr>
          <a:xfrm>
            <a:off x="676037" y="531138"/>
            <a:ext cx="3622000" cy="452676"/>
          </a:xfrm>
          <a:prstGeom prst="rect">
            <a:avLst/>
          </a:prstGeom>
          <a:noFill/>
          <a:ln>
            <a:noFill/>
          </a:ln>
        </p:spPr>
        <p:txBody>
          <a:bodyPr spcFirstLastPara="1" wrap="square" lIns="0" tIns="0" rIns="0" bIns="0" anchor="t" anchorCtr="0">
            <a:noAutofit/>
          </a:bodyPr>
          <a:lstStyle/>
          <a:p>
            <a:pPr marL="0" marR="0" lvl="0" indent="0" algn="l" rtl="0">
              <a:lnSpc>
                <a:spcPct val="124561"/>
              </a:lnSpc>
              <a:spcBef>
                <a:spcPts val="0"/>
              </a:spcBef>
              <a:spcAft>
                <a:spcPts val="0"/>
              </a:spcAft>
              <a:buClr>
                <a:srgbClr val="F5F0F0"/>
              </a:buClr>
              <a:buSzPts val="2850"/>
              <a:buFont typeface="Merriweather"/>
              <a:buNone/>
            </a:pPr>
            <a:r>
              <a:rPr lang="en-US" sz="2850">
                <a:solidFill>
                  <a:srgbClr val="F5F0F0"/>
                </a:solidFill>
                <a:latin typeface="Merriweather"/>
                <a:ea typeface="Merriweather"/>
                <a:cs typeface="Merriweather"/>
                <a:sym typeface="Merriweather"/>
              </a:rPr>
              <a:t>Plant-type-Dataset</a:t>
            </a:r>
            <a:endParaRPr sz="2850">
              <a:solidFill>
                <a:schemeClr val="dk1"/>
              </a:solidFill>
              <a:latin typeface="Calibri"/>
              <a:ea typeface="Calibri"/>
              <a:cs typeface="Calibri"/>
              <a:sym typeface="Calibri"/>
            </a:endParaRPr>
          </a:p>
        </p:txBody>
      </p:sp>
      <p:sp>
        <p:nvSpPr>
          <p:cNvPr id="322" name="Google Shape;322;p17"/>
          <p:cNvSpPr/>
          <p:nvPr/>
        </p:nvSpPr>
        <p:spPr>
          <a:xfrm>
            <a:off x="676037" y="1201103"/>
            <a:ext cx="13278326" cy="463629"/>
          </a:xfrm>
          <a:prstGeom prst="rect">
            <a:avLst/>
          </a:prstGeom>
          <a:noFill/>
          <a:ln>
            <a:noFill/>
          </a:ln>
        </p:spPr>
        <p:txBody>
          <a:bodyPr spcFirstLastPara="1" wrap="square" lIns="0" tIns="0" rIns="0" bIns="0" anchor="t" anchorCtr="0">
            <a:noAutofit/>
          </a:bodyPr>
          <a:lstStyle/>
          <a:p>
            <a:pPr marL="0" marR="0" lvl="0" indent="0" algn="l" rtl="0">
              <a:lnSpc>
                <a:spcPct val="163636"/>
              </a:lnSpc>
              <a:spcBef>
                <a:spcPts val="0"/>
              </a:spcBef>
              <a:spcAft>
                <a:spcPts val="0"/>
              </a:spcAft>
              <a:buClr>
                <a:srgbClr val="E2E6E9"/>
              </a:buClr>
              <a:buSzPts val="1100"/>
              <a:buFont typeface="Merriweather"/>
              <a:buNone/>
            </a:pPr>
            <a:r>
              <a:rPr lang="en-US" sz="1100">
                <a:solidFill>
                  <a:srgbClr val="E2E6E9"/>
                </a:solidFill>
                <a:latin typeface="Merriweather"/>
                <a:ea typeface="Merriweather"/>
                <a:cs typeface="Merriweather"/>
                <a:sym typeface="Merriweather"/>
              </a:rPr>
              <a:t>The Plant-type-Dataset offers an extensive collection of plant images categorised by species and types. This dataset supports agricultural research, botanical studies, and computer vision applications focused on plant identification and classification systems.</a:t>
            </a:r>
            <a:endParaRPr sz="1100">
              <a:solidFill>
                <a:schemeClr val="dk1"/>
              </a:solidFill>
              <a:latin typeface="Calibri"/>
              <a:ea typeface="Calibri"/>
              <a:cs typeface="Calibri"/>
              <a:sym typeface="Calibri"/>
            </a:endParaRPr>
          </a:p>
        </p:txBody>
      </p:sp>
      <p:sp>
        <p:nvSpPr>
          <p:cNvPr id="323" name="Google Shape;323;p17"/>
          <p:cNvSpPr/>
          <p:nvPr/>
        </p:nvSpPr>
        <p:spPr>
          <a:xfrm>
            <a:off x="676037" y="1827609"/>
            <a:ext cx="13278326" cy="231815"/>
          </a:xfrm>
          <a:prstGeom prst="rect">
            <a:avLst/>
          </a:prstGeom>
          <a:noFill/>
          <a:ln>
            <a:noFill/>
          </a:ln>
        </p:spPr>
        <p:txBody>
          <a:bodyPr spcFirstLastPara="1" wrap="square" lIns="0" tIns="0" rIns="0" bIns="0" anchor="t" anchorCtr="0">
            <a:noAutofit/>
          </a:bodyPr>
          <a:lstStyle/>
          <a:p>
            <a:pPr marL="0" marR="0" lvl="0" indent="0" algn="l" rtl="0">
              <a:lnSpc>
                <a:spcPct val="163636"/>
              </a:lnSpc>
              <a:spcBef>
                <a:spcPts val="0"/>
              </a:spcBef>
              <a:spcAft>
                <a:spcPts val="0"/>
              </a:spcAft>
              <a:buClr>
                <a:srgbClr val="E2E6E9"/>
              </a:buClr>
              <a:buSzPts val="1100"/>
              <a:buFont typeface="Merriweather"/>
              <a:buNone/>
            </a:pPr>
            <a:r>
              <a:rPr lang="en-US" sz="1100">
                <a:solidFill>
                  <a:srgbClr val="E2E6E9"/>
                </a:solidFill>
                <a:latin typeface="Merriweather"/>
                <a:ea typeface="Merriweather"/>
                <a:cs typeface="Merriweather"/>
                <a:sym typeface="Merriweather"/>
              </a:rPr>
              <a:t>Access the dataset: </a:t>
            </a:r>
            <a:r>
              <a:rPr lang="en-US" sz="1100" u="sng">
                <a:solidFill>
                  <a:srgbClr val="609DFF"/>
                </a:solidFill>
                <a:latin typeface="Merriweather"/>
                <a:ea typeface="Merriweather"/>
                <a:cs typeface="Merriweather"/>
                <a:sym typeface="Merriweather"/>
                <a:hlinkClick r:id="rId4">
                  <a:extLst>
                    <a:ext uri="{A12FA001-AC4F-418D-AE19-62706E023703}">
                      <ahyp:hlinkClr xmlns:ahyp="http://schemas.microsoft.com/office/drawing/2018/hyperlinkcolor" val="tx"/>
                    </a:ext>
                  </a:extLst>
                </a:hlinkClick>
              </a:rPr>
              <a:t>https://www.kaggle.com/datasets/yudhaislamisulistya/plants-type-datasets</a:t>
            </a:r>
            <a:endParaRPr sz="1100">
              <a:solidFill>
                <a:schemeClr val="dk1"/>
              </a:solidFill>
              <a:latin typeface="Calibri"/>
              <a:ea typeface="Calibri"/>
              <a:cs typeface="Calibri"/>
              <a:sym typeface="Calibri"/>
            </a:endParaRPr>
          </a:p>
        </p:txBody>
      </p:sp>
      <p:sp>
        <p:nvSpPr>
          <p:cNvPr id="324" name="Google Shape;324;p17"/>
          <p:cNvSpPr/>
          <p:nvPr/>
        </p:nvSpPr>
        <p:spPr>
          <a:xfrm>
            <a:off x="676037" y="2276713"/>
            <a:ext cx="1810941" cy="226338"/>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F5F0F0"/>
              </a:buClr>
              <a:buSzPts val="1400"/>
              <a:buFont typeface="Merriweather"/>
              <a:buNone/>
            </a:pPr>
            <a:r>
              <a:rPr lang="en-US" sz="1400">
                <a:solidFill>
                  <a:srgbClr val="F5F0F0"/>
                </a:solidFill>
                <a:latin typeface="Merriweather"/>
                <a:ea typeface="Merriweather"/>
                <a:cs typeface="Merriweather"/>
                <a:sym typeface="Merriweather"/>
              </a:rPr>
              <a:t>Dataset Output</a:t>
            </a:r>
            <a:endParaRPr sz="1400">
              <a:solidFill>
                <a:schemeClr val="dk1"/>
              </a:solidFill>
              <a:latin typeface="Calibri"/>
              <a:ea typeface="Calibri"/>
              <a:cs typeface="Calibri"/>
              <a:sym typeface="Calibri"/>
            </a:endParaRPr>
          </a:p>
        </p:txBody>
      </p:sp>
      <p:pic>
        <p:nvPicPr>
          <p:cNvPr id="325" name="Google Shape;325;p17" descr="preencoded.png"/>
          <p:cNvPicPr preferRelativeResize="0"/>
          <p:nvPr/>
        </p:nvPicPr>
        <p:blipFill rotWithShape="1">
          <a:blip r:embed="rId5">
            <a:alphaModFix/>
          </a:blip>
          <a:srcRect t="1123" r="1270" b="683"/>
          <a:stretch>
            <a:fillRect/>
          </a:stretch>
        </p:blipFill>
        <p:spPr>
          <a:xfrm>
            <a:off x="676038" y="2720340"/>
            <a:ext cx="9546136" cy="567303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18"/>
          <p:cNvSpPr/>
          <p:nvPr/>
        </p:nvSpPr>
        <p:spPr>
          <a:xfrm>
            <a:off x="863798" y="930950"/>
            <a:ext cx="12902803" cy="1079897"/>
          </a:xfrm>
          <a:prstGeom prst="rect">
            <a:avLst/>
          </a:prstGeom>
          <a:noFill/>
          <a:ln>
            <a:noFill/>
          </a:ln>
        </p:spPr>
        <p:txBody>
          <a:bodyPr spcFirstLastPara="1" wrap="square" lIns="0" tIns="0" rIns="0" bIns="0" anchor="t" anchorCtr="0">
            <a:noAutofit/>
          </a:bodyPr>
          <a:lstStyle/>
          <a:p>
            <a:pPr marL="0" marR="0" lvl="0" indent="0" algn="ctr" rtl="0">
              <a:lnSpc>
                <a:spcPct val="125000"/>
              </a:lnSpc>
              <a:spcBef>
                <a:spcPts val="0"/>
              </a:spcBef>
              <a:spcAft>
                <a:spcPts val="0"/>
              </a:spcAft>
              <a:buClr>
                <a:srgbClr val="F5F0F0"/>
              </a:buClr>
              <a:buSzPts val="3400"/>
              <a:buFont typeface="Merriweather"/>
              <a:buNone/>
            </a:pPr>
            <a:r>
              <a:rPr lang="en-US" sz="3400">
                <a:solidFill>
                  <a:srgbClr val="F5F0F0"/>
                </a:solidFill>
                <a:latin typeface="Merriweather"/>
                <a:ea typeface="Merriweather"/>
                <a:cs typeface="Merriweather"/>
                <a:sym typeface="Merriweather"/>
              </a:rPr>
              <a:t>Comparative Analysis of Standard SVM vs SVM Optimized using IQI-GWO for feature Selection</a:t>
            </a:r>
            <a:endParaRPr sz="3400">
              <a:solidFill>
                <a:schemeClr val="dk1"/>
              </a:solidFill>
              <a:latin typeface="Calibri"/>
              <a:ea typeface="Calibri"/>
              <a:cs typeface="Calibri"/>
              <a:sym typeface="Calibri"/>
            </a:endParaRPr>
          </a:p>
        </p:txBody>
      </p:sp>
      <p:graphicFrame>
        <p:nvGraphicFramePr>
          <p:cNvPr id="332" name="Google Shape;332;p18"/>
          <p:cNvGraphicFramePr/>
          <p:nvPr/>
        </p:nvGraphicFramePr>
        <p:xfrm>
          <a:off x="1622738" y="3039414"/>
          <a:ext cx="11410650" cy="3652810"/>
        </p:xfrm>
        <a:graphic>
          <a:graphicData uri="http://schemas.openxmlformats.org/drawingml/2006/table">
            <a:tbl>
              <a:tblPr firstRow="1" bandRow="1">
                <a:noFill/>
                <a:tableStyleId>{CF50C566-705F-44B5-BE17-416DC6F367EF}</a:tableStyleId>
              </a:tblPr>
              <a:tblGrid>
                <a:gridCol w="3803550">
                  <a:extLst>
                    <a:ext uri="{9D8B030D-6E8A-4147-A177-3AD203B41FA5}">
                      <a16:colId xmlns:a16="http://schemas.microsoft.com/office/drawing/2014/main" val="20000"/>
                    </a:ext>
                  </a:extLst>
                </a:gridCol>
                <a:gridCol w="3803550">
                  <a:extLst>
                    <a:ext uri="{9D8B030D-6E8A-4147-A177-3AD203B41FA5}">
                      <a16:colId xmlns:a16="http://schemas.microsoft.com/office/drawing/2014/main" val="20001"/>
                    </a:ext>
                  </a:extLst>
                </a:gridCol>
                <a:gridCol w="3803550">
                  <a:extLst>
                    <a:ext uri="{9D8B030D-6E8A-4147-A177-3AD203B41FA5}">
                      <a16:colId xmlns:a16="http://schemas.microsoft.com/office/drawing/2014/main" val="20002"/>
                    </a:ext>
                  </a:extLst>
                </a:gridCol>
              </a:tblGrid>
              <a:tr h="912800">
                <a:tc>
                  <a:txBody>
                    <a:bodyPr/>
                    <a:lstStyle/>
                    <a:p>
                      <a:pPr marL="0" marR="0" lvl="0" indent="0" algn="ctr" rtl="0">
                        <a:spcBef>
                          <a:spcPts val="0"/>
                        </a:spcBef>
                        <a:spcAft>
                          <a:spcPts val="0"/>
                        </a:spcAft>
                        <a:buNone/>
                      </a:pPr>
                      <a:endParaRPr sz="1800" u="none" strike="noStrike" cap="none"/>
                    </a:p>
                    <a:p>
                      <a:pPr marL="0" marR="0" lvl="0" indent="0" algn="ctr" rtl="0">
                        <a:spcBef>
                          <a:spcPts val="0"/>
                        </a:spcBef>
                        <a:spcAft>
                          <a:spcPts val="0"/>
                        </a:spcAft>
                        <a:buNone/>
                      </a:pPr>
                      <a:r>
                        <a:rPr lang="en-US" sz="1800" u="none" strike="noStrike" cap="none"/>
                        <a:t>Data Set </a:t>
                      </a:r>
                      <a:endParaRPr/>
                    </a:p>
                  </a:txBody>
                  <a:tcPr marL="91450" marR="91450" marT="45725" marB="45725"/>
                </a:tc>
                <a:tc>
                  <a:txBody>
                    <a:bodyPr/>
                    <a:lstStyle/>
                    <a:p>
                      <a:pPr marL="0" marR="0" lvl="0" indent="0" algn="ctr" rtl="0">
                        <a:spcBef>
                          <a:spcPts val="0"/>
                        </a:spcBef>
                        <a:spcAft>
                          <a:spcPts val="0"/>
                        </a:spcAft>
                        <a:buNone/>
                      </a:pPr>
                      <a:endParaRPr sz="1800" u="none" strike="noStrike" cap="none"/>
                    </a:p>
                    <a:p>
                      <a:pPr marL="0" marR="0" lvl="0" indent="0" algn="ctr" rtl="0">
                        <a:spcBef>
                          <a:spcPts val="0"/>
                        </a:spcBef>
                        <a:spcAft>
                          <a:spcPts val="0"/>
                        </a:spcAft>
                        <a:buNone/>
                      </a:pPr>
                      <a:r>
                        <a:rPr lang="en-US" sz="1800"/>
                        <a:t>Baseline</a:t>
                      </a:r>
                      <a:r>
                        <a:rPr lang="en-US" sz="1800" u="none" strike="noStrike" cap="none"/>
                        <a:t> Accuracy</a:t>
                      </a:r>
                      <a:endParaRPr sz="1800" u="none" strike="noStrike" cap="none"/>
                    </a:p>
                  </a:txBody>
                  <a:tcPr marL="91450" marR="91450" marT="45725" marB="45725"/>
                </a:tc>
                <a:tc>
                  <a:txBody>
                    <a:bodyPr/>
                    <a:lstStyle/>
                    <a:p>
                      <a:pPr marL="0" marR="0" lvl="0" indent="0" algn="l" rtl="0">
                        <a:spcBef>
                          <a:spcPts val="0"/>
                        </a:spcBef>
                        <a:spcAft>
                          <a:spcPts val="0"/>
                        </a:spcAft>
                        <a:buNone/>
                      </a:pPr>
                      <a:endParaRPr sz="1800"/>
                    </a:p>
                    <a:p>
                      <a:pPr marL="0" marR="0" lvl="0" indent="0" algn="ctr" rtl="0">
                        <a:spcBef>
                          <a:spcPts val="0"/>
                        </a:spcBef>
                        <a:spcAft>
                          <a:spcPts val="0"/>
                        </a:spcAft>
                        <a:buNone/>
                      </a:pPr>
                      <a:r>
                        <a:rPr lang="en-US" sz="1800"/>
                        <a:t>Accuracy after IQI-GWO</a:t>
                      </a:r>
                      <a:endParaRPr/>
                    </a:p>
                  </a:txBody>
                  <a:tcPr marL="91450" marR="91450" marT="45725" marB="45725"/>
                </a:tc>
                <a:extLst>
                  <a:ext uri="{0D108BD9-81ED-4DB2-BD59-A6C34878D82A}">
                    <a16:rowId xmlns:a16="http://schemas.microsoft.com/office/drawing/2014/main" val="10000"/>
                  </a:ext>
                </a:extLst>
              </a:tr>
              <a:tr h="912800">
                <a:tc>
                  <a:txBody>
                    <a:bodyPr/>
                    <a:lstStyle/>
                    <a:p>
                      <a:pPr marL="0" marR="0" lvl="0" indent="0" algn="ctr" rtl="0">
                        <a:spcBef>
                          <a:spcPts val="0"/>
                        </a:spcBef>
                        <a:spcAft>
                          <a:spcPts val="0"/>
                        </a:spcAft>
                        <a:buNone/>
                      </a:pPr>
                      <a:endParaRPr sz="1600"/>
                    </a:p>
                    <a:p>
                      <a:pPr marL="0" marR="0" lvl="0" indent="0" algn="ctr" rtl="0">
                        <a:spcBef>
                          <a:spcPts val="0"/>
                        </a:spcBef>
                        <a:spcAft>
                          <a:spcPts val="0"/>
                        </a:spcAft>
                        <a:buNone/>
                      </a:pPr>
                      <a:r>
                        <a:rPr lang="en-US" sz="1600"/>
                        <a:t>LC25000</a:t>
                      </a:r>
                      <a:endParaRPr/>
                    </a:p>
                  </a:txBody>
                  <a:tcPr marL="91450" marR="91450" marT="45725" marB="45725"/>
                </a:tc>
                <a:tc>
                  <a:txBody>
                    <a:bodyPr/>
                    <a:lstStyle/>
                    <a:p>
                      <a:pPr marL="0" marR="0" lvl="0" indent="0" algn="ctr" rtl="0">
                        <a:spcBef>
                          <a:spcPts val="0"/>
                        </a:spcBef>
                        <a:spcAft>
                          <a:spcPts val="0"/>
                        </a:spcAft>
                        <a:buNone/>
                      </a:pPr>
                      <a:endParaRPr sz="1800"/>
                    </a:p>
                    <a:p>
                      <a:pPr marL="0" marR="0" lvl="0" indent="0" algn="ctr" rtl="0">
                        <a:lnSpc>
                          <a:spcPct val="100000"/>
                        </a:lnSpc>
                        <a:spcBef>
                          <a:spcPts val="0"/>
                        </a:spcBef>
                        <a:spcAft>
                          <a:spcPts val="0"/>
                        </a:spcAft>
                        <a:buClr>
                          <a:schemeClr val="dk1"/>
                        </a:buClr>
                        <a:buSzPts val="1800"/>
                        <a:buFont typeface="Calibri"/>
                        <a:buNone/>
                      </a:pPr>
                      <a:r>
                        <a:rPr lang="en-US" sz="1800"/>
                        <a:t>96.3 %</a:t>
                      </a:r>
                      <a:endParaRPr/>
                    </a:p>
                    <a:p>
                      <a:pPr marL="0" marR="0" lvl="0" indent="0" algn="ctr" rtl="0">
                        <a:spcBef>
                          <a:spcPts val="0"/>
                        </a:spcBef>
                        <a:spcAft>
                          <a:spcPts val="0"/>
                        </a:spcAft>
                        <a:buNone/>
                      </a:pPr>
                      <a:endParaRPr sz="1800"/>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Calibri"/>
                        <a:buNone/>
                      </a:pPr>
                      <a:endParaRPr sz="1800"/>
                    </a:p>
                    <a:p>
                      <a:pPr marL="0" marR="0" lvl="0" indent="0" algn="ctr" rtl="0">
                        <a:lnSpc>
                          <a:spcPct val="100000"/>
                        </a:lnSpc>
                        <a:spcBef>
                          <a:spcPts val="0"/>
                        </a:spcBef>
                        <a:spcAft>
                          <a:spcPts val="0"/>
                        </a:spcAft>
                        <a:buClr>
                          <a:schemeClr val="dk1"/>
                        </a:buClr>
                        <a:buSzPts val="1800"/>
                        <a:buFont typeface="Calibri"/>
                        <a:buNone/>
                      </a:pPr>
                      <a:r>
                        <a:rPr lang="en-US" sz="1800"/>
                        <a:t>99.70 ± 0.09 %</a:t>
                      </a:r>
                      <a:endParaRPr/>
                    </a:p>
                    <a:p>
                      <a:pPr marL="0" marR="0" lvl="0" indent="0" algn="ctr" rtl="0">
                        <a:spcBef>
                          <a:spcPts val="0"/>
                        </a:spcBef>
                        <a:spcAft>
                          <a:spcPts val="0"/>
                        </a:spcAft>
                        <a:buNone/>
                      </a:pPr>
                      <a:endParaRPr sz="1800"/>
                    </a:p>
                  </a:txBody>
                  <a:tcPr marL="91450" marR="91450" marT="45725" marB="45725"/>
                </a:tc>
                <a:extLst>
                  <a:ext uri="{0D108BD9-81ED-4DB2-BD59-A6C34878D82A}">
                    <a16:rowId xmlns:a16="http://schemas.microsoft.com/office/drawing/2014/main" val="10001"/>
                  </a:ext>
                </a:extLst>
              </a:tr>
              <a:tr h="912800">
                <a:tc>
                  <a:txBody>
                    <a:bodyPr/>
                    <a:lstStyle/>
                    <a:p>
                      <a:pPr marL="0" marR="0" lvl="0" indent="0" algn="ctr" rtl="0">
                        <a:spcBef>
                          <a:spcPts val="0"/>
                        </a:spcBef>
                        <a:spcAft>
                          <a:spcPts val="0"/>
                        </a:spcAft>
                        <a:buNone/>
                      </a:pPr>
                      <a:endParaRPr sz="1600"/>
                    </a:p>
                    <a:p>
                      <a:pPr marL="0" marR="0" lvl="0" indent="0" algn="ctr" rtl="0">
                        <a:spcBef>
                          <a:spcPts val="0"/>
                        </a:spcBef>
                        <a:spcAft>
                          <a:spcPts val="0"/>
                        </a:spcAft>
                        <a:buNone/>
                      </a:pPr>
                      <a:r>
                        <a:rPr lang="en-US" sz="1600"/>
                        <a:t>Plant-type-Dataset</a:t>
                      </a:r>
                      <a:endParaRPr/>
                    </a:p>
                  </a:txBody>
                  <a:tcPr marL="91450" marR="91450" marT="45725" marB="45725"/>
                </a:tc>
                <a:tc>
                  <a:txBody>
                    <a:bodyPr/>
                    <a:lstStyle/>
                    <a:p>
                      <a:pPr marL="0" marR="0" lvl="0" indent="0" algn="ctr" rtl="0">
                        <a:spcBef>
                          <a:spcPts val="0"/>
                        </a:spcBef>
                        <a:spcAft>
                          <a:spcPts val="0"/>
                        </a:spcAft>
                        <a:buNone/>
                      </a:pPr>
                      <a:endParaRPr sz="1800"/>
                    </a:p>
                    <a:p>
                      <a:pPr marL="0" marR="0" lvl="0" indent="0" algn="ctr" rtl="0">
                        <a:spcBef>
                          <a:spcPts val="0"/>
                        </a:spcBef>
                        <a:spcAft>
                          <a:spcPts val="0"/>
                        </a:spcAft>
                        <a:buNone/>
                      </a:pPr>
                      <a:r>
                        <a:rPr lang="en-US" sz="1800"/>
                        <a:t>72.45 %</a:t>
                      </a:r>
                      <a:endParaRPr/>
                    </a:p>
                  </a:txBody>
                  <a:tcPr marL="91450" marR="91450" marT="45725" marB="45725"/>
                </a:tc>
                <a:tc>
                  <a:txBody>
                    <a:bodyPr/>
                    <a:lstStyle/>
                    <a:p>
                      <a:pPr marL="0" marR="0" lvl="0" indent="0" algn="ctr" rtl="0">
                        <a:spcBef>
                          <a:spcPts val="0"/>
                        </a:spcBef>
                        <a:spcAft>
                          <a:spcPts val="0"/>
                        </a:spcAft>
                        <a:buNone/>
                      </a:pPr>
                      <a:endParaRPr sz="1800"/>
                    </a:p>
                    <a:p>
                      <a:pPr marL="0" marR="0" lvl="0" indent="0" algn="ctr" rtl="0">
                        <a:spcBef>
                          <a:spcPts val="0"/>
                        </a:spcBef>
                        <a:spcAft>
                          <a:spcPts val="0"/>
                        </a:spcAft>
                        <a:buNone/>
                      </a:pPr>
                      <a:r>
                        <a:rPr lang="en-US" sz="1800"/>
                        <a:t>97.63 ± 0.02 %</a:t>
                      </a:r>
                      <a:endParaRPr/>
                    </a:p>
                  </a:txBody>
                  <a:tcPr marL="91450" marR="91450" marT="45725" marB="45725"/>
                </a:tc>
                <a:extLst>
                  <a:ext uri="{0D108BD9-81ED-4DB2-BD59-A6C34878D82A}">
                    <a16:rowId xmlns:a16="http://schemas.microsoft.com/office/drawing/2014/main" val="10002"/>
                  </a:ext>
                </a:extLst>
              </a:tr>
              <a:tr h="912800">
                <a:tc>
                  <a:txBody>
                    <a:bodyPr/>
                    <a:lstStyle/>
                    <a:p>
                      <a:pPr marL="0" marR="0" lvl="0" indent="0" algn="ctr" rtl="0">
                        <a:spcBef>
                          <a:spcPts val="0"/>
                        </a:spcBef>
                        <a:spcAft>
                          <a:spcPts val="0"/>
                        </a:spcAft>
                        <a:buNone/>
                      </a:pPr>
                      <a:endParaRPr sz="1600"/>
                    </a:p>
                    <a:p>
                      <a:pPr marL="0" marR="0" lvl="0" indent="0" algn="ctr" rtl="0">
                        <a:spcBef>
                          <a:spcPts val="0"/>
                        </a:spcBef>
                        <a:spcAft>
                          <a:spcPts val="0"/>
                        </a:spcAft>
                        <a:buNone/>
                      </a:pPr>
                      <a:r>
                        <a:rPr lang="en-US" sz="1600"/>
                        <a:t>IIITDMJ_Smoke</a:t>
                      </a:r>
                      <a:endParaRPr sz="1600"/>
                    </a:p>
                  </a:txBody>
                  <a:tcPr marL="91450" marR="91450" marT="45725" marB="45725"/>
                </a:tc>
                <a:tc>
                  <a:txBody>
                    <a:bodyPr/>
                    <a:lstStyle/>
                    <a:p>
                      <a:pPr marL="0" marR="0" lvl="0" indent="0" algn="ctr" rtl="0">
                        <a:spcBef>
                          <a:spcPts val="0"/>
                        </a:spcBef>
                        <a:spcAft>
                          <a:spcPts val="0"/>
                        </a:spcAft>
                        <a:buNone/>
                      </a:pPr>
                      <a:r>
                        <a:rPr lang="en-US" sz="1800"/>
                        <a:t>          </a:t>
                      </a:r>
                      <a:endParaRPr/>
                    </a:p>
                    <a:p>
                      <a:pPr marL="0" marR="0" lvl="0" indent="0" algn="ctr" rtl="0">
                        <a:spcBef>
                          <a:spcPts val="0"/>
                        </a:spcBef>
                        <a:spcAft>
                          <a:spcPts val="0"/>
                        </a:spcAft>
                        <a:buNone/>
                      </a:pPr>
                      <a:r>
                        <a:rPr lang="en-US" sz="1800"/>
                        <a:t>89.23 %</a:t>
                      </a:r>
                      <a:endParaRPr/>
                    </a:p>
                  </a:txBody>
                  <a:tcPr marL="91450" marR="91450" marT="45725" marB="45725"/>
                </a:tc>
                <a:tc>
                  <a:txBody>
                    <a:bodyPr/>
                    <a:lstStyle/>
                    <a:p>
                      <a:pPr marL="0" marR="0" lvl="0" indent="0" algn="ctr" rtl="0">
                        <a:spcBef>
                          <a:spcPts val="0"/>
                        </a:spcBef>
                        <a:spcAft>
                          <a:spcPts val="0"/>
                        </a:spcAft>
                        <a:buNone/>
                      </a:pPr>
                      <a:endParaRPr sz="1800"/>
                    </a:p>
                    <a:p>
                      <a:pPr marL="0" marR="0" lvl="0" indent="0" algn="ctr" rtl="0">
                        <a:spcBef>
                          <a:spcPts val="0"/>
                        </a:spcBef>
                        <a:spcAft>
                          <a:spcPts val="0"/>
                        </a:spcAft>
                        <a:buNone/>
                      </a:pPr>
                      <a:r>
                        <a:rPr lang="en-US" sz="1800"/>
                        <a:t>96.25 ± 0.04 %</a:t>
                      </a:r>
                      <a:endParaRPr/>
                    </a:p>
                  </a:txBody>
                  <a:tcPr marL="91450" marR="91450" marT="45725" marB="45725"/>
                </a:tc>
                <a:extLst>
                  <a:ext uri="{0D108BD9-81ED-4DB2-BD59-A6C34878D82A}">
                    <a16:rowId xmlns:a16="http://schemas.microsoft.com/office/drawing/2014/main" val="10003"/>
                  </a:ext>
                </a:extLst>
              </a:tr>
            </a:tbl>
          </a:graphicData>
        </a:graphic>
      </p:graphicFrame>
      <p:pic>
        <p:nvPicPr>
          <p:cNvPr id="333" name="Google Shape;333;p18"/>
          <p:cNvPicPr preferRelativeResize="0"/>
          <p:nvPr/>
        </p:nvPicPr>
        <p:blipFill rotWithShape="1">
          <a:blip r:embed="rId3">
            <a:alphaModFix/>
          </a:blip>
          <a:srcRect/>
          <a:stretch/>
        </p:blipFill>
        <p:spPr>
          <a:xfrm>
            <a:off x="12672811" y="7083986"/>
            <a:ext cx="1957589" cy="108298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657588"/>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FFFFFF"/>
                </a:solidFill>
                <a:latin typeface="Roboto Medium" pitchFamily="34" charset="0"/>
                <a:ea typeface="Roboto Medium" pitchFamily="34" charset="-122"/>
                <a:cs typeface="Roboto Medium" pitchFamily="34" charset="-120"/>
              </a:rPr>
              <a:t>Challenges </a:t>
            </a:r>
            <a:r>
              <a:rPr lang="en-US" sz="4450" dirty="0">
                <a:solidFill>
                  <a:srgbClr val="FFFFFF"/>
                </a:solidFill>
                <a:latin typeface="Merriweather" panose="00000500000000000000" pitchFamily="2" charset="0"/>
                <a:ea typeface="Roboto Medium" pitchFamily="34" charset="-122"/>
                <a:cs typeface="Roboto Medium" pitchFamily="34" charset="-120"/>
              </a:rPr>
              <a:t>Faced</a:t>
            </a:r>
            <a:endParaRPr lang="en-US" sz="4450" dirty="0">
              <a:latin typeface="Merriweather" panose="00000500000000000000" pitchFamily="2" charset="0"/>
            </a:endParaRPr>
          </a:p>
        </p:txBody>
      </p:sp>
      <p:sp>
        <p:nvSpPr>
          <p:cNvPr id="3" name="Shape 1"/>
          <p:cNvSpPr/>
          <p:nvPr/>
        </p:nvSpPr>
        <p:spPr>
          <a:xfrm>
            <a:off x="793790" y="2819995"/>
            <a:ext cx="6407944" cy="3752017"/>
          </a:xfrm>
          <a:prstGeom prst="roundRect">
            <a:avLst>
              <a:gd name="adj" fmla="val 2539"/>
            </a:avLst>
          </a:prstGeom>
          <a:solidFill>
            <a:srgbClr val="182567"/>
          </a:solidFill>
          <a:ln w="7620">
            <a:solidFill>
              <a:srgbClr val="313E80"/>
            </a:solidFill>
            <a:prstDash val="solid"/>
          </a:ln>
        </p:spPr>
      </p:sp>
      <p:sp>
        <p:nvSpPr>
          <p:cNvPr id="4" name="Shape 2"/>
          <p:cNvSpPr/>
          <p:nvPr/>
        </p:nvSpPr>
        <p:spPr>
          <a:xfrm>
            <a:off x="1028224" y="3054429"/>
            <a:ext cx="680442" cy="680442"/>
          </a:xfrm>
          <a:prstGeom prst="roundRect">
            <a:avLst>
              <a:gd name="adj" fmla="val 13436980"/>
            </a:avLst>
          </a:prstGeom>
          <a:solidFill>
            <a:srgbClr val="5A6ED8"/>
          </a:solidFill>
          <a:ln/>
        </p:spPr>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15390" y="3241477"/>
            <a:ext cx="306110" cy="306110"/>
          </a:xfrm>
          <a:prstGeom prst="rect">
            <a:avLst/>
          </a:prstGeom>
        </p:spPr>
      </p:pic>
      <p:sp>
        <p:nvSpPr>
          <p:cNvPr id="6" name="Text 3"/>
          <p:cNvSpPr/>
          <p:nvPr/>
        </p:nvSpPr>
        <p:spPr>
          <a:xfrm>
            <a:off x="1028224" y="3961686"/>
            <a:ext cx="4630222" cy="425291"/>
          </a:xfrm>
          <a:prstGeom prst="rect">
            <a:avLst/>
          </a:prstGeom>
          <a:noFill/>
          <a:ln/>
        </p:spPr>
        <p:txBody>
          <a:bodyPr wrap="none" lIns="0" tIns="0" rIns="0" bIns="0" rtlCol="0" anchor="t"/>
          <a:lstStyle/>
          <a:p>
            <a:pPr marL="0" indent="0" algn="l">
              <a:lnSpc>
                <a:spcPts val="3300"/>
              </a:lnSpc>
              <a:buNone/>
            </a:pPr>
            <a:r>
              <a:rPr lang="en-US" sz="2650" dirty="0">
                <a:solidFill>
                  <a:srgbClr val="CFD0D8"/>
                </a:solidFill>
                <a:latin typeface="Roboto Medium" pitchFamily="34" charset="0"/>
                <a:ea typeface="Roboto Medium" pitchFamily="34" charset="-122"/>
                <a:cs typeface="Roboto Medium" pitchFamily="34" charset="-120"/>
              </a:rPr>
              <a:t>Inconsistent Dataset Structure</a:t>
            </a:r>
            <a:endParaRPr lang="en-US" sz="2650" dirty="0"/>
          </a:p>
        </p:txBody>
      </p:sp>
      <p:sp>
        <p:nvSpPr>
          <p:cNvPr id="7" name="Text 4"/>
          <p:cNvSpPr/>
          <p:nvPr/>
        </p:nvSpPr>
        <p:spPr>
          <a:xfrm>
            <a:off x="1028224" y="4523065"/>
            <a:ext cx="5939076" cy="1814513"/>
          </a:xfrm>
          <a:prstGeom prst="rect">
            <a:avLst/>
          </a:prstGeom>
          <a:noFill/>
          <a:ln/>
        </p:spPr>
        <p:txBody>
          <a:bodyPr wrap="square" lIns="0" tIns="0" rIns="0" bIns="0" rtlCol="0" anchor="t"/>
          <a:lstStyle/>
          <a:p>
            <a:pPr marL="0" indent="0" algn="l">
              <a:lnSpc>
                <a:spcPts val="2850"/>
              </a:lnSpc>
              <a:buNone/>
            </a:pPr>
            <a:r>
              <a:rPr lang="en-US" sz="1750" dirty="0">
                <a:solidFill>
                  <a:srgbClr val="CFD0D8"/>
                </a:solidFill>
                <a:latin typeface="Roboto" pitchFamily="34" charset="0"/>
                <a:ea typeface="Roboto" pitchFamily="34" charset="-122"/>
                <a:cs typeface="Roboto" pitchFamily="34" charset="-120"/>
              </a:rPr>
              <a:t>Different datasets followed varying folder formats — some had train, validation, and test sets, while others only included partial splits. This required manual organization and splitting before training, making the workflow less automated and more error prone.</a:t>
            </a:r>
            <a:endParaRPr lang="en-US" sz="1750" dirty="0"/>
          </a:p>
        </p:txBody>
      </p:sp>
      <p:sp>
        <p:nvSpPr>
          <p:cNvPr id="8" name="Shape 5"/>
          <p:cNvSpPr/>
          <p:nvPr/>
        </p:nvSpPr>
        <p:spPr>
          <a:xfrm>
            <a:off x="7428548" y="2819995"/>
            <a:ext cx="6408063" cy="3752017"/>
          </a:xfrm>
          <a:prstGeom prst="roundRect">
            <a:avLst>
              <a:gd name="adj" fmla="val 2539"/>
            </a:avLst>
          </a:prstGeom>
          <a:solidFill>
            <a:srgbClr val="182567"/>
          </a:solidFill>
          <a:ln w="7620">
            <a:solidFill>
              <a:srgbClr val="313E80"/>
            </a:solidFill>
            <a:prstDash val="solid"/>
          </a:ln>
        </p:spPr>
      </p:sp>
      <p:sp>
        <p:nvSpPr>
          <p:cNvPr id="9" name="Shape 6"/>
          <p:cNvSpPr/>
          <p:nvPr/>
        </p:nvSpPr>
        <p:spPr>
          <a:xfrm>
            <a:off x="7662982" y="3054429"/>
            <a:ext cx="680442" cy="680442"/>
          </a:xfrm>
          <a:prstGeom prst="roundRect">
            <a:avLst>
              <a:gd name="adj" fmla="val 13436980"/>
            </a:avLst>
          </a:prstGeom>
          <a:solidFill>
            <a:srgbClr val="5A6ED8"/>
          </a:solidFill>
          <a:ln/>
        </p:spPr>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50148" y="3241477"/>
            <a:ext cx="306110" cy="306110"/>
          </a:xfrm>
          <a:prstGeom prst="rect">
            <a:avLst/>
          </a:prstGeom>
        </p:spPr>
      </p:pic>
      <p:sp>
        <p:nvSpPr>
          <p:cNvPr id="11" name="Text 7"/>
          <p:cNvSpPr/>
          <p:nvPr/>
        </p:nvSpPr>
        <p:spPr>
          <a:xfrm>
            <a:off x="7662982" y="3961686"/>
            <a:ext cx="4316016" cy="425291"/>
          </a:xfrm>
          <a:prstGeom prst="rect">
            <a:avLst/>
          </a:prstGeom>
          <a:noFill/>
          <a:ln/>
        </p:spPr>
        <p:txBody>
          <a:bodyPr wrap="none" lIns="0" tIns="0" rIns="0" bIns="0" rtlCol="0" anchor="t"/>
          <a:lstStyle/>
          <a:p>
            <a:pPr marL="0" indent="0" algn="l">
              <a:lnSpc>
                <a:spcPts val="3300"/>
              </a:lnSpc>
              <a:buNone/>
            </a:pPr>
            <a:r>
              <a:rPr lang="en-US" sz="2650" dirty="0">
                <a:solidFill>
                  <a:srgbClr val="CFD0D8"/>
                </a:solidFill>
                <a:latin typeface="Roboto Medium" pitchFamily="34" charset="0"/>
                <a:ea typeface="Roboto Medium" pitchFamily="34" charset="-122"/>
                <a:cs typeface="Roboto Medium" pitchFamily="34" charset="-120"/>
              </a:rPr>
              <a:t>Repeated Dataset Extraction</a:t>
            </a:r>
            <a:endParaRPr lang="en-US" sz="2650" dirty="0"/>
          </a:p>
        </p:txBody>
      </p:sp>
      <p:sp>
        <p:nvSpPr>
          <p:cNvPr id="12" name="Text 8"/>
          <p:cNvSpPr/>
          <p:nvPr/>
        </p:nvSpPr>
        <p:spPr>
          <a:xfrm>
            <a:off x="7662982" y="4523065"/>
            <a:ext cx="5939195" cy="1451610"/>
          </a:xfrm>
          <a:prstGeom prst="rect">
            <a:avLst/>
          </a:prstGeom>
          <a:noFill/>
          <a:ln/>
        </p:spPr>
        <p:txBody>
          <a:bodyPr wrap="square" lIns="0" tIns="0" rIns="0" bIns="0" rtlCol="0" anchor="t"/>
          <a:lstStyle/>
          <a:p>
            <a:pPr marL="0" indent="0" algn="l">
              <a:lnSpc>
                <a:spcPts val="2850"/>
              </a:lnSpc>
              <a:buNone/>
            </a:pPr>
            <a:r>
              <a:rPr lang="en-US" sz="1750" dirty="0">
                <a:solidFill>
                  <a:srgbClr val="CFD0D8"/>
                </a:solidFill>
                <a:latin typeface="Roboto" pitchFamily="34" charset="0"/>
                <a:ea typeface="Roboto" pitchFamily="34" charset="-122"/>
                <a:cs typeface="Roboto" pitchFamily="34" charset="-120"/>
              </a:rPr>
              <a:t>Some datasets were compressed in multiple layers, forcing the coder to extract them twice or more. This not only increased setup time and storage usage but also led to confusion with nested folders and incorrect file paths.</a:t>
            </a:r>
            <a:endParaRPr lang="en-US" sz="1750" dirty="0"/>
          </a:p>
        </p:txBody>
      </p:sp>
      <p:pic>
        <p:nvPicPr>
          <p:cNvPr id="14" name="Picture 13">
            <a:extLst>
              <a:ext uri="{FF2B5EF4-FFF2-40B4-BE49-F238E27FC236}">
                <a16:creationId xmlns:a16="http://schemas.microsoft.com/office/drawing/2014/main" id="{1C8BFEB1-7E21-591E-65B6-3A5572143605}"/>
              </a:ext>
            </a:extLst>
          </p:cNvPr>
          <p:cNvPicPr>
            <a:picLocks noChangeAspect="1"/>
          </p:cNvPicPr>
          <p:nvPr/>
        </p:nvPicPr>
        <p:blipFill>
          <a:blip r:embed="rId7"/>
          <a:stretch>
            <a:fillRect/>
          </a:stretch>
        </p:blipFill>
        <p:spPr>
          <a:xfrm>
            <a:off x="11934449" y="7000704"/>
            <a:ext cx="2695951" cy="122889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22"/>
          <p:cNvSpPr/>
          <p:nvPr/>
        </p:nvSpPr>
        <p:spPr>
          <a:xfrm>
            <a:off x="863798" y="525439"/>
            <a:ext cx="13234339" cy="792583"/>
          </a:xfrm>
          <a:prstGeom prst="rect">
            <a:avLst/>
          </a:prstGeom>
          <a:noFill/>
          <a:ln>
            <a:noFill/>
          </a:ln>
        </p:spPr>
        <p:txBody>
          <a:bodyPr spcFirstLastPara="1" wrap="square" lIns="0" tIns="0" rIns="0" bIns="0" anchor="t" anchorCtr="0">
            <a:noAutofit/>
          </a:bodyPr>
          <a:lstStyle/>
          <a:p>
            <a:pPr marL="0" marR="0" lvl="0" indent="0" algn="l" rtl="0">
              <a:lnSpc>
                <a:spcPct val="126388"/>
              </a:lnSpc>
              <a:spcBef>
                <a:spcPts val="0"/>
              </a:spcBef>
              <a:spcAft>
                <a:spcPts val="0"/>
              </a:spcAft>
              <a:buClr>
                <a:srgbClr val="F5F0F0"/>
              </a:buClr>
              <a:buSzPts val="3600"/>
              <a:buFont typeface="Merriweather"/>
              <a:buNone/>
            </a:pPr>
            <a:r>
              <a:rPr lang="en-US" sz="3600" dirty="0">
                <a:solidFill>
                  <a:srgbClr val="F5F0F0"/>
                </a:solidFill>
                <a:latin typeface="Merriweather"/>
                <a:ea typeface="Merriweather"/>
                <a:cs typeface="Merriweather"/>
                <a:sym typeface="Merriweather"/>
              </a:rPr>
              <a:t>Novel Contributions of the Proposed IQI-GWO Framework</a:t>
            </a:r>
            <a:endParaRPr sz="3600" dirty="0">
              <a:solidFill>
                <a:schemeClr val="dk1"/>
              </a:solidFill>
              <a:latin typeface="Calibri"/>
              <a:ea typeface="Calibri"/>
              <a:cs typeface="Calibri"/>
              <a:sym typeface="Calibri"/>
            </a:endParaRPr>
          </a:p>
        </p:txBody>
      </p:sp>
      <p:sp>
        <p:nvSpPr>
          <p:cNvPr id="437" name="Google Shape;437;p22"/>
          <p:cNvSpPr/>
          <p:nvPr/>
        </p:nvSpPr>
        <p:spPr>
          <a:xfrm>
            <a:off x="863798" y="1688187"/>
            <a:ext cx="4177546" cy="3007043"/>
          </a:xfrm>
          <a:prstGeom prst="roundRect">
            <a:avLst>
              <a:gd name="adj" fmla="val 2586"/>
            </a:avLst>
          </a:prstGeom>
          <a:solidFill>
            <a:srgbClr val="003180"/>
          </a:solidFill>
          <a:ln w="9525" cap="flat" cmpd="sng">
            <a:solidFill>
              <a:srgbClr val="194A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2"/>
          <p:cNvSpPr/>
          <p:nvPr/>
        </p:nvSpPr>
        <p:spPr>
          <a:xfrm>
            <a:off x="1056442" y="1880830"/>
            <a:ext cx="555308" cy="555308"/>
          </a:xfrm>
          <a:prstGeom prst="roundRect">
            <a:avLst>
              <a:gd name="adj" fmla="val 16464891"/>
            </a:avLst>
          </a:prstGeom>
          <a:solidFill>
            <a:srgbClr val="609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39" name="Google Shape;439;p22" descr="preencoded.png"/>
          <p:cNvPicPr preferRelativeResize="0"/>
          <p:nvPr/>
        </p:nvPicPr>
        <p:blipFill rotWithShape="1">
          <a:blip r:embed="rId3">
            <a:alphaModFix/>
          </a:blip>
          <a:srcRect/>
          <a:stretch/>
        </p:blipFill>
        <p:spPr>
          <a:xfrm>
            <a:off x="1209080" y="2033468"/>
            <a:ext cx="249912" cy="249912"/>
          </a:xfrm>
          <a:prstGeom prst="rect">
            <a:avLst/>
          </a:prstGeom>
          <a:noFill/>
          <a:ln>
            <a:noFill/>
          </a:ln>
        </p:spPr>
      </p:pic>
      <p:sp>
        <p:nvSpPr>
          <p:cNvPr id="440" name="Google Shape;440;p22"/>
          <p:cNvSpPr/>
          <p:nvPr/>
        </p:nvSpPr>
        <p:spPr>
          <a:xfrm>
            <a:off x="1071682" y="2491263"/>
            <a:ext cx="3849928" cy="474465"/>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E2E6E9"/>
              </a:buClr>
              <a:buSzPts val="1800"/>
              <a:buFont typeface="Merriweather"/>
              <a:buNone/>
            </a:pPr>
            <a:r>
              <a:rPr lang="en-US" sz="1800" dirty="0">
                <a:solidFill>
                  <a:srgbClr val="E2E6E9"/>
                </a:solidFill>
                <a:latin typeface="Merriweather"/>
                <a:ea typeface="Merriweather"/>
                <a:cs typeface="Merriweather"/>
                <a:sym typeface="Merriweather"/>
              </a:rPr>
              <a:t>Generalized IQI-GWO Framework</a:t>
            </a:r>
            <a:endParaRPr sz="1800" dirty="0">
              <a:solidFill>
                <a:schemeClr val="dk1"/>
              </a:solidFill>
              <a:latin typeface="Calibri"/>
              <a:ea typeface="Calibri"/>
              <a:cs typeface="Calibri"/>
              <a:sym typeface="Calibri"/>
            </a:endParaRPr>
          </a:p>
        </p:txBody>
      </p:sp>
      <p:sp>
        <p:nvSpPr>
          <p:cNvPr id="441" name="Google Shape;441;p22"/>
          <p:cNvSpPr/>
          <p:nvPr/>
        </p:nvSpPr>
        <p:spPr>
          <a:xfrm>
            <a:off x="1056442" y="3021449"/>
            <a:ext cx="3792260" cy="1481138"/>
          </a:xfrm>
          <a:prstGeom prst="rect">
            <a:avLst/>
          </a:prstGeom>
          <a:noFill/>
          <a:ln>
            <a:noFill/>
          </a:ln>
        </p:spPr>
        <p:txBody>
          <a:bodyPr spcFirstLastPara="1" wrap="square" lIns="0" tIns="0" rIns="0" bIns="0" anchor="t" anchorCtr="0">
            <a:noAutofit/>
          </a:bodyPr>
          <a:lstStyle/>
          <a:p>
            <a:pPr marL="0" marR="0" lvl="0" indent="0" algn="l" rtl="0">
              <a:lnSpc>
                <a:spcPct val="158620"/>
              </a:lnSpc>
              <a:spcBef>
                <a:spcPts val="0"/>
              </a:spcBef>
              <a:spcAft>
                <a:spcPts val="0"/>
              </a:spcAft>
              <a:buClr>
                <a:srgbClr val="E2E6E9"/>
              </a:buClr>
              <a:buSzPts val="1450"/>
              <a:buFont typeface="Merriweather"/>
              <a:buNone/>
            </a:pPr>
            <a:r>
              <a:rPr lang="en-US" sz="1100" dirty="0">
                <a:solidFill>
                  <a:srgbClr val="E2E6E9"/>
                </a:solidFill>
                <a:latin typeface="Merriweather"/>
                <a:ea typeface="Merriweather"/>
                <a:cs typeface="Merriweather"/>
                <a:sym typeface="Merriweather"/>
              </a:rPr>
              <a:t>Unlike the base paper focused only on Breast Cancer, your work adapts IQI-GWO to handle multiple datasets from various domains. Demonstrates the flexibility and scalability of the algorithm.</a:t>
            </a:r>
            <a:endParaRPr sz="1100" dirty="0">
              <a:solidFill>
                <a:schemeClr val="dk1"/>
              </a:solidFill>
              <a:latin typeface="Calibri"/>
              <a:ea typeface="Calibri"/>
              <a:cs typeface="Calibri"/>
              <a:sym typeface="Calibri"/>
            </a:endParaRPr>
          </a:p>
        </p:txBody>
      </p:sp>
      <p:sp>
        <p:nvSpPr>
          <p:cNvPr id="442" name="Google Shape;442;p22"/>
          <p:cNvSpPr/>
          <p:nvPr/>
        </p:nvSpPr>
        <p:spPr>
          <a:xfrm>
            <a:off x="5226368" y="1688187"/>
            <a:ext cx="4177546" cy="3007043"/>
          </a:xfrm>
          <a:prstGeom prst="roundRect">
            <a:avLst>
              <a:gd name="adj" fmla="val 2586"/>
            </a:avLst>
          </a:prstGeom>
          <a:solidFill>
            <a:srgbClr val="003180"/>
          </a:solidFill>
          <a:ln w="9525" cap="flat" cmpd="sng">
            <a:solidFill>
              <a:srgbClr val="194A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2"/>
          <p:cNvSpPr/>
          <p:nvPr/>
        </p:nvSpPr>
        <p:spPr>
          <a:xfrm>
            <a:off x="5419011" y="1880830"/>
            <a:ext cx="555308" cy="555308"/>
          </a:xfrm>
          <a:prstGeom prst="roundRect">
            <a:avLst>
              <a:gd name="adj" fmla="val 16464891"/>
            </a:avLst>
          </a:prstGeom>
          <a:solidFill>
            <a:srgbClr val="609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44" name="Google Shape;444;p22" descr="preencoded.png"/>
          <p:cNvPicPr preferRelativeResize="0"/>
          <p:nvPr/>
        </p:nvPicPr>
        <p:blipFill rotWithShape="1">
          <a:blip r:embed="rId4">
            <a:alphaModFix/>
          </a:blip>
          <a:srcRect/>
          <a:stretch/>
        </p:blipFill>
        <p:spPr>
          <a:xfrm>
            <a:off x="5571649" y="2033468"/>
            <a:ext cx="249912" cy="249912"/>
          </a:xfrm>
          <a:prstGeom prst="rect">
            <a:avLst/>
          </a:prstGeom>
          <a:noFill/>
          <a:ln>
            <a:noFill/>
          </a:ln>
        </p:spPr>
      </p:pic>
      <p:sp>
        <p:nvSpPr>
          <p:cNvPr id="445" name="Google Shape;445;p22"/>
          <p:cNvSpPr/>
          <p:nvPr/>
        </p:nvSpPr>
        <p:spPr>
          <a:xfrm>
            <a:off x="5419010" y="2517338"/>
            <a:ext cx="3718165" cy="393145"/>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E2E6E9"/>
              </a:buClr>
              <a:buSzPts val="1800"/>
              <a:buFont typeface="Merriweather"/>
              <a:buNone/>
            </a:pPr>
            <a:r>
              <a:rPr lang="en-US" sz="1800" dirty="0">
                <a:solidFill>
                  <a:srgbClr val="E2E6E9"/>
                </a:solidFill>
                <a:latin typeface="Merriweather"/>
                <a:ea typeface="Merriweather"/>
                <a:cs typeface="Merriweather"/>
                <a:sym typeface="Merriweather"/>
              </a:rPr>
              <a:t>Image-Based Feature Extraction</a:t>
            </a:r>
            <a:endParaRPr sz="1800" dirty="0">
              <a:solidFill>
                <a:schemeClr val="dk1"/>
              </a:solidFill>
              <a:latin typeface="Calibri"/>
              <a:ea typeface="Calibri"/>
              <a:cs typeface="Calibri"/>
              <a:sym typeface="Calibri"/>
            </a:endParaRPr>
          </a:p>
        </p:txBody>
      </p:sp>
      <p:sp>
        <p:nvSpPr>
          <p:cNvPr id="446" name="Google Shape;446;p22"/>
          <p:cNvSpPr/>
          <p:nvPr/>
        </p:nvSpPr>
        <p:spPr>
          <a:xfrm>
            <a:off x="5419011" y="3021449"/>
            <a:ext cx="3792260" cy="1481138"/>
          </a:xfrm>
          <a:prstGeom prst="rect">
            <a:avLst/>
          </a:prstGeom>
          <a:noFill/>
          <a:ln>
            <a:noFill/>
          </a:ln>
        </p:spPr>
        <p:txBody>
          <a:bodyPr spcFirstLastPara="1" wrap="square" lIns="0" tIns="0" rIns="0" bIns="0" anchor="t" anchorCtr="0">
            <a:noAutofit/>
          </a:bodyPr>
          <a:lstStyle/>
          <a:p>
            <a:pPr marL="0" marR="0" lvl="0" indent="0" algn="l" rtl="0">
              <a:lnSpc>
                <a:spcPct val="158620"/>
              </a:lnSpc>
              <a:spcBef>
                <a:spcPts val="0"/>
              </a:spcBef>
              <a:spcAft>
                <a:spcPts val="0"/>
              </a:spcAft>
              <a:buClr>
                <a:srgbClr val="E2E6E9"/>
              </a:buClr>
              <a:buSzPts val="1450"/>
              <a:buFont typeface="Merriweather"/>
              <a:buNone/>
            </a:pPr>
            <a:r>
              <a:rPr lang="en-US" sz="1100" dirty="0">
                <a:solidFill>
                  <a:srgbClr val="E2E6E9"/>
                </a:solidFill>
                <a:latin typeface="Merriweather"/>
                <a:ea typeface="Merriweather"/>
                <a:cs typeface="Merriweather"/>
                <a:sym typeface="Merriweather"/>
              </a:rPr>
              <a:t>Introduced color histogram-based features for image datasets, extending IQI-GWO beyond traditional tabular data. Bridges the gap between medical and visual data classification.</a:t>
            </a:r>
            <a:endParaRPr sz="1100" dirty="0">
              <a:solidFill>
                <a:schemeClr val="dk1"/>
              </a:solidFill>
              <a:latin typeface="Calibri"/>
              <a:ea typeface="Calibri"/>
              <a:cs typeface="Calibri"/>
              <a:sym typeface="Calibri"/>
            </a:endParaRPr>
          </a:p>
        </p:txBody>
      </p:sp>
      <p:sp>
        <p:nvSpPr>
          <p:cNvPr id="447" name="Google Shape;447;p22"/>
          <p:cNvSpPr/>
          <p:nvPr/>
        </p:nvSpPr>
        <p:spPr>
          <a:xfrm>
            <a:off x="9588937" y="1688187"/>
            <a:ext cx="4177546" cy="3007043"/>
          </a:xfrm>
          <a:prstGeom prst="roundRect">
            <a:avLst>
              <a:gd name="adj" fmla="val 2586"/>
            </a:avLst>
          </a:prstGeom>
          <a:solidFill>
            <a:srgbClr val="003180"/>
          </a:solidFill>
          <a:ln w="9525" cap="flat" cmpd="sng">
            <a:solidFill>
              <a:srgbClr val="194A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2"/>
          <p:cNvSpPr/>
          <p:nvPr/>
        </p:nvSpPr>
        <p:spPr>
          <a:xfrm>
            <a:off x="9781580" y="1880830"/>
            <a:ext cx="555308" cy="555308"/>
          </a:xfrm>
          <a:prstGeom prst="roundRect">
            <a:avLst>
              <a:gd name="adj" fmla="val 16464891"/>
            </a:avLst>
          </a:prstGeom>
          <a:solidFill>
            <a:srgbClr val="609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49" name="Google Shape;449;p22" descr="preencoded.png"/>
          <p:cNvPicPr preferRelativeResize="0"/>
          <p:nvPr/>
        </p:nvPicPr>
        <p:blipFill rotWithShape="1">
          <a:blip r:embed="rId5">
            <a:alphaModFix/>
          </a:blip>
          <a:srcRect/>
          <a:stretch/>
        </p:blipFill>
        <p:spPr>
          <a:xfrm>
            <a:off x="9934218" y="2033468"/>
            <a:ext cx="249912" cy="249912"/>
          </a:xfrm>
          <a:prstGeom prst="rect">
            <a:avLst/>
          </a:prstGeom>
          <a:noFill/>
          <a:ln>
            <a:noFill/>
          </a:ln>
        </p:spPr>
      </p:pic>
      <p:sp>
        <p:nvSpPr>
          <p:cNvPr id="450" name="Google Shape;450;p22"/>
          <p:cNvSpPr/>
          <p:nvPr/>
        </p:nvSpPr>
        <p:spPr>
          <a:xfrm>
            <a:off x="9781580" y="2547104"/>
            <a:ext cx="3777020" cy="363379"/>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E2E6E9"/>
              </a:buClr>
              <a:buSzPts val="1800"/>
              <a:buFont typeface="Merriweather"/>
              <a:buNone/>
            </a:pPr>
            <a:r>
              <a:rPr lang="en-US" sz="1800" dirty="0">
                <a:solidFill>
                  <a:srgbClr val="E2E6E9"/>
                </a:solidFill>
                <a:latin typeface="Merriweather"/>
                <a:ea typeface="Merriweather"/>
                <a:cs typeface="Merriweather"/>
                <a:sym typeface="Merriweather"/>
              </a:rPr>
              <a:t>Explicit Validation Mechanism</a:t>
            </a:r>
            <a:endParaRPr sz="1800" dirty="0">
              <a:solidFill>
                <a:schemeClr val="dk1"/>
              </a:solidFill>
              <a:latin typeface="Calibri"/>
              <a:ea typeface="Calibri"/>
              <a:cs typeface="Calibri"/>
              <a:sym typeface="Calibri"/>
            </a:endParaRPr>
          </a:p>
        </p:txBody>
      </p:sp>
      <p:sp>
        <p:nvSpPr>
          <p:cNvPr id="451" name="Google Shape;451;p22"/>
          <p:cNvSpPr/>
          <p:nvPr/>
        </p:nvSpPr>
        <p:spPr>
          <a:xfrm>
            <a:off x="9781580" y="3021448"/>
            <a:ext cx="3777020" cy="1673781"/>
          </a:xfrm>
          <a:prstGeom prst="rect">
            <a:avLst/>
          </a:prstGeom>
          <a:noFill/>
          <a:ln>
            <a:noFill/>
          </a:ln>
        </p:spPr>
        <p:txBody>
          <a:bodyPr spcFirstLastPara="1" wrap="square" lIns="0" tIns="0" rIns="0" bIns="0" anchor="t" anchorCtr="0">
            <a:noAutofit/>
          </a:bodyPr>
          <a:lstStyle/>
          <a:p>
            <a:pPr marL="0" marR="0" lvl="0" indent="0" algn="l" rtl="0">
              <a:lnSpc>
                <a:spcPct val="158620"/>
              </a:lnSpc>
              <a:spcBef>
                <a:spcPts val="0"/>
              </a:spcBef>
              <a:spcAft>
                <a:spcPts val="0"/>
              </a:spcAft>
              <a:buClr>
                <a:srgbClr val="E2E6E9"/>
              </a:buClr>
              <a:buSzPts val="1450"/>
              <a:buFont typeface="Merriweather"/>
              <a:buNone/>
            </a:pPr>
            <a:r>
              <a:rPr lang="en-US" sz="1100" dirty="0">
                <a:solidFill>
                  <a:srgbClr val="E2E6E9"/>
                </a:solidFill>
                <a:latin typeface="Merriweather"/>
                <a:ea typeface="Merriweather"/>
                <a:cs typeface="Merriweather"/>
                <a:sym typeface="Merriweather"/>
              </a:rPr>
              <a:t>Replaced k-fold cross-validation with a fixed Train/Validation/Test split, ensuring cleaner optimization and reproducibility. IQI-GWO uses validation accuracy as a fitness criterion, preventing overfitting.</a:t>
            </a:r>
            <a:endParaRPr sz="1100" dirty="0">
              <a:solidFill>
                <a:schemeClr val="dk1"/>
              </a:solidFill>
              <a:latin typeface="Calibri"/>
              <a:ea typeface="Calibri"/>
              <a:cs typeface="Calibri"/>
              <a:sym typeface="Calibri"/>
            </a:endParaRPr>
          </a:p>
        </p:txBody>
      </p:sp>
      <p:sp>
        <p:nvSpPr>
          <p:cNvPr id="452" name="Google Shape;452;p22"/>
          <p:cNvSpPr/>
          <p:nvPr/>
        </p:nvSpPr>
        <p:spPr>
          <a:xfrm>
            <a:off x="863798" y="4903470"/>
            <a:ext cx="4177546" cy="2586514"/>
          </a:xfrm>
          <a:prstGeom prst="roundRect">
            <a:avLst>
              <a:gd name="adj" fmla="val 3006"/>
            </a:avLst>
          </a:prstGeom>
          <a:solidFill>
            <a:srgbClr val="09151A">
              <a:alpha val="94901"/>
            </a:srgbClr>
          </a:solidFill>
          <a:ln w="22850" cap="flat" cmpd="sng">
            <a:solidFill>
              <a:srgbClr val="194A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2"/>
          <p:cNvSpPr/>
          <p:nvPr/>
        </p:nvSpPr>
        <p:spPr>
          <a:xfrm>
            <a:off x="1071682" y="5111353"/>
            <a:ext cx="3761780" cy="578644"/>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E2E6E9"/>
              </a:buClr>
              <a:buSzPts val="1800"/>
              <a:buFont typeface="Merriweather"/>
              <a:buNone/>
            </a:pPr>
            <a:r>
              <a:rPr lang="en-US" sz="1800">
                <a:solidFill>
                  <a:srgbClr val="E2E6E9"/>
                </a:solidFill>
                <a:latin typeface="Merriweather"/>
                <a:ea typeface="Merriweather"/>
                <a:cs typeface="Merriweather"/>
                <a:sym typeface="Merriweather"/>
              </a:rPr>
              <a:t>Integration with Multiple Classifiers</a:t>
            </a:r>
            <a:endParaRPr sz="1800">
              <a:solidFill>
                <a:schemeClr val="dk1"/>
              </a:solidFill>
              <a:latin typeface="Calibri"/>
              <a:ea typeface="Calibri"/>
              <a:cs typeface="Calibri"/>
              <a:sym typeface="Calibri"/>
            </a:endParaRPr>
          </a:p>
        </p:txBody>
      </p:sp>
      <p:sp>
        <p:nvSpPr>
          <p:cNvPr id="454" name="Google Shape;454;p22"/>
          <p:cNvSpPr/>
          <p:nvPr/>
        </p:nvSpPr>
        <p:spPr>
          <a:xfrm>
            <a:off x="1071682" y="5904429"/>
            <a:ext cx="3761780" cy="1481138"/>
          </a:xfrm>
          <a:prstGeom prst="rect">
            <a:avLst/>
          </a:prstGeom>
          <a:noFill/>
          <a:ln>
            <a:noFill/>
          </a:ln>
        </p:spPr>
        <p:txBody>
          <a:bodyPr spcFirstLastPara="1" wrap="square" lIns="0" tIns="0" rIns="0" bIns="0" anchor="t" anchorCtr="0">
            <a:noAutofit/>
          </a:bodyPr>
          <a:lstStyle/>
          <a:p>
            <a:pPr marL="0" marR="0" lvl="0" indent="0" algn="l" rtl="0">
              <a:lnSpc>
                <a:spcPct val="158620"/>
              </a:lnSpc>
              <a:spcBef>
                <a:spcPts val="0"/>
              </a:spcBef>
              <a:spcAft>
                <a:spcPts val="0"/>
              </a:spcAft>
              <a:buClr>
                <a:srgbClr val="E2E6E9"/>
              </a:buClr>
              <a:buSzPts val="1450"/>
              <a:buFont typeface="Merriweather"/>
              <a:buNone/>
            </a:pPr>
            <a:r>
              <a:rPr lang="en-US" sz="1100" dirty="0">
                <a:solidFill>
                  <a:srgbClr val="E2E6E9"/>
                </a:solidFill>
                <a:latin typeface="Merriweather"/>
                <a:ea typeface="Merriweather"/>
                <a:cs typeface="Merriweather"/>
                <a:sym typeface="Merriweather"/>
              </a:rPr>
              <a:t>Combined IQI-GWO feature selection with Random Forest and SVM for robust comparative analysis. Highlights the algorithm's ability to enhance various classifiers, not just SVM.</a:t>
            </a:r>
            <a:endParaRPr sz="1100" dirty="0">
              <a:solidFill>
                <a:schemeClr val="dk1"/>
              </a:solidFill>
              <a:latin typeface="Calibri"/>
              <a:ea typeface="Calibri"/>
              <a:cs typeface="Calibri"/>
              <a:sym typeface="Calibri"/>
            </a:endParaRPr>
          </a:p>
        </p:txBody>
      </p:sp>
      <p:sp>
        <p:nvSpPr>
          <p:cNvPr id="455" name="Google Shape;455;p22"/>
          <p:cNvSpPr/>
          <p:nvPr/>
        </p:nvSpPr>
        <p:spPr>
          <a:xfrm>
            <a:off x="5226368" y="4903470"/>
            <a:ext cx="4177546" cy="2586514"/>
          </a:xfrm>
          <a:prstGeom prst="roundRect">
            <a:avLst>
              <a:gd name="adj" fmla="val 3006"/>
            </a:avLst>
          </a:prstGeom>
          <a:solidFill>
            <a:srgbClr val="09151A">
              <a:alpha val="94901"/>
            </a:srgbClr>
          </a:solidFill>
          <a:ln w="22850" cap="flat" cmpd="sng">
            <a:solidFill>
              <a:srgbClr val="194A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2"/>
          <p:cNvSpPr/>
          <p:nvPr/>
        </p:nvSpPr>
        <p:spPr>
          <a:xfrm>
            <a:off x="5434251" y="5111353"/>
            <a:ext cx="3761780" cy="578644"/>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E2E6E9"/>
              </a:buClr>
              <a:buSzPts val="1800"/>
              <a:buFont typeface="Merriweather"/>
              <a:buNone/>
            </a:pPr>
            <a:r>
              <a:rPr lang="en-US" sz="1800">
                <a:solidFill>
                  <a:srgbClr val="E2E6E9"/>
                </a:solidFill>
                <a:latin typeface="Merriweather"/>
                <a:ea typeface="Merriweather"/>
                <a:cs typeface="Merriweather"/>
                <a:sym typeface="Merriweather"/>
              </a:rPr>
              <a:t>Improved Optimization Dynamics</a:t>
            </a:r>
            <a:endParaRPr sz="1800">
              <a:solidFill>
                <a:schemeClr val="dk1"/>
              </a:solidFill>
              <a:latin typeface="Calibri"/>
              <a:ea typeface="Calibri"/>
              <a:cs typeface="Calibri"/>
              <a:sym typeface="Calibri"/>
            </a:endParaRPr>
          </a:p>
        </p:txBody>
      </p:sp>
      <p:sp>
        <p:nvSpPr>
          <p:cNvPr id="457" name="Google Shape;457;p22"/>
          <p:cNvSpPr/>
          <p:nvPr/>
        </p:nvSpPr>
        <p:spPr>
          <a:xfrm>
            <a:off x="5449491" y="6028492"/>
            <a:ext cx="3761780" cy="1184910"/>
          </a:xfrm>
          <a:prstGeom prst="rect">
            <a:avLst/>
          </a:prstGeom>
          <a:noFill/>
          <a:ln>
            <a:noFill/>
          </a:ln>
        </p:spPr>
        <p:txBody>
          <a:bodyPr spcFirstLastPara="1" wrap="square" lIns="0" tIns="0" rIns="0" bIns="0" anchor="t" anchorCtr="0">
            <a:noAutofit/>
          </a:bodyPr>
          <a:lstStyle/>
          <a:p>
            <a:pPr marL="0" marR="0" lvl="0" indent="0" algn="l" rtl="0">
              <a:lnSpc>
                <a:spcPct val="158620"/>
              </a:lnSpc>
              <a:spcBef>
                <a:spcPts val="0"/>
              </a:spcBef>
              <a:spcAft>
                <a:spcPts val="0"/>
              </a:spcAft>
              <a:buClr>
                <a:srgbClr val="E2E6E9"/>
              </a:buClr>
              <a:buSzPts val="1450"/>
              <a:buFont typeface="Merriweather"/>
              <a:buNone/>
            </a:pPr>
            <a:r>
              <a:rPr lang="en-US" sz="1100" dirty="0">
                <a:solidFill>
                  <a:srgbClr val="E2E6E9"/>
                </a:solidFill>
                <a:latin typeface="Merriweather"/>
                <a:ea typeface="Merriweather"/>
                <a:cs typeface="Merriweather"/>
                <a:sym typeface="Merriweather"/>
              </a:rPr>
              <a:t>Modified quantum rotation and mutation control to ensure better exploration-exploitation balance. Results in faster convergence and higher accuracy.</a:t>
            </a:r>
            <a:endParaRPr sz="1100" dirty="0">
              <a:solidFill>
                <a:schemeClr val="dk1"/>
              </a:solidFill>
              <a:latin typeface="Calibri"/>
              <a:ea typeface="Calibri"/>
              <a:cs typeface="Calibri"/>
              <a:sym typeface="Calibri"/>
            </a:endParaRPr>
          </a:p>
        </p:txBody>
      </p:sp>
      <p:sp>
        <p:nvSpPr>
          <p:cNvPr id="458" name="Google Shape;458;p22"/>
          <p:cNvSpPr/>
          <p:nvPr/>
        </p:nvSpPr>
        <p:spPr>
          <a:xfrm>
            <a:off x="9588937" y="4903470"/>
            <a:ext cx="4177546" cy="2586514"/>
          </a:xfrm>
          <a:prstGeom prst="roundRect">
            <a:avLst>
              <a:gd name="adj" fmla="val 3006"/>
            </a:avLst>
          </a:prstGeom>
          <a:solidFill>
            <a:srgbClr val="09151A">
              <a:alpha val="94901"/>
            </a:srgbClr>
          </a:solidFill>
          <a:ln w="22850" cap="flat" cmpd="sng">
            <a:solidFill>
              <a:srgbClr val="194A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2"/>
          <p:cNvSpPr/>
          <p:nvPr/>
        </p:nvSpPr>
        <p:spPr>
          <a:xfrm>
            <a:off x="9796820" y="5111353"/>
            <a:ext cx="2727008" cy="289322"/>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E2E6E9"/>
              </a:buClr>
              <a:buSzPts val="1800"/>
              <a:buFont typeface="Merriweather"/>
              <a:buNone/>
            </a:pPr>
            <a:r>
              <a:rPr lang="en-US" sz="1800">
                <a:solidFill>
                  <a:srgbClr val="E2E6E9"/>
                </a:solidFill>
                <a:latin typeface="Merriweather"/>
                <a:ea typeface="Merriweather"/>
                <a:cs typeface="Merriweather"/>
                <a:sym typeface="Merriweather"/>
              </a:rPr>
              <a:t>Multi-Dataset Validation</a:t>
            </a:r>
            <a:endParaRPr sz="1800">
              <a:solidFill>
                <a:schemeClr val="dk1"/>
              </a:solidFill>
              <a:latin typeface="Calibri"/>
              <a:ea typeface="Calibri"/>
              <a:cs typeface="Calibri"/>
              <a:sym typeface="Calibri"/>
            </a:endParaRPr>
          </a:p>
        </p:txBody>
      </p:sp>
      <p:sp>
        <p:nvSpPr>
          <p:cNvPr id="460" name="Google Shape;460;p22"/>
          <p:cNvSpPr/>
          <p:nvPr/>
        </p:nvSpPr>
        <p:spPr>
          <a:xfrm>
            <a:off x="9796820" y="5904429"/>
            <a:ext cx="3761780" cy="888682"/>
          </a:xfrm>
          <a:prstGeom prst="rect">
            <a:avLst/>
          </a:prstGeom>
          <a:noFill/>
          <a:ln>
            <a:noFill/>
          </a:ln>
        </p:spPr>
        <p:txBody>
          <a:bodyPr spcFirstLastPara="1" wrap="square" lIns="0" tIns="0" rIns="0" bIns="0" anchor="t" anchorCtr="0">
            <a:noAutofit/>
          </a:bodyPr>
          <a:lstStyle/>
          <a:p>
            <a:pPr marL="0" marR="0" lvl="0" indent="0" algn="l" rtl="0">
              <a:lnSpc>
                <a:spcPct val="158620"/>
              </a:lnSpc>
              <a:spcBef>
                <a:spcPts val="0"/>
              </a:spcBef>
              <a:spcAft>
                <a:spcPts val="0"/>
              </a:spcAft>
              <a:buClr>
                <a:srgbClr val="E2E6E9"/>
              </a:buClr>
              <a:buSzPts val="1450"/>
              <a:buFont typeface="Merriweather"/>
              <a:buNone/>
            </a:pPr>
            <a:r>
              <a:rPr lang="en-US" sz="1100" dirty="0">
                <a:solidFill>
                  <a:srgbClr val="E2E6E9"/>
                </a:solidFill>
                <a:latin typeface="Merriweather"/>
                <a:ea typeface="Merriweather"/>
                <a:cs typeface="Merriweather"/>
                <a:sym typeface="Merriweather"/>
              </a:rPr>
              <a:t>Evaluated on four different datasets, proving generalization capability — a step beyond the original paper's scope.</a:t>
            </a:r>
            <a:endParaRPr sz="1100" dirty="0">
              <a:solidFill>
                <a:schemeClr val="dk1"/>
              </a:solidFill>
              <a:latin typeface="Calibri"/>
              <a:ea typeface="Calibri"/>
              <a:cs typeface="Calibri"/>
              <a:sym typeface="Calibri"/>
            </a:endParaRPr>
          </a:p>
        </p:txBody>
      </p:sp>
      <p:pic>
        <p:nvPicPr>
          <p:cNvPr id="461" name="Google Shape;461;p22"/>
          <p:cNvPicPr preferRelativeResize="0"/>
          <p:nvPr/>
        </p:nvPicPr>
        <p:blipFill rotWithShape="1">
          <a:blip r:embed="rId6">
            <a:alphaModFix/>
          </a:blip>
          <a:srcRect/>
          <a:stretch/>
        </p:blipFill>
        <p:spPr>
          <a:xfrm>
            <a:off x="11082269" y="7548560"/>
            <a:ext cx="3527043" cy="62933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23"/>
          <p:cNvSpPr/>
          <p:nvPr/>
        </p:nvSpPr>
        <p:spPr>
          <a:xfrm>
            <a:off x="863798" y="552734"/>
            <a:ext cx="7857121" cy="930547"/>
          </a:xfrm>
          <a:prstGeom prst="rect">
            <a:avLst/>
          </a:prstGeom>
          <a:noFill/>
          <a:ln>
            <a:noFill/>
          </a:ln>
        </p:spPr>
        <p:txBody>
          <a:bodyPr spcFirstLastPara="1" wrap="square" lIns="0" tIns="0" rIns="0" bIns="0" anchor="t" anchorCtr="0">
            <a:noAutofit/>
          </a:bodyPr>
          <a:lstStyle/>
          <a:p>
            <a:pPr marL="0" marR="0" lvl="0" indent="0" algn="l" rtl="0">
              <a:lnSpc>
                <a:spcPct val="124742"/>
              </a:lnSpc>
              <a:spcBef>
                <a:spcPts val="0"/>
              </a:spcBef>
              <a:spcAft>
                <a:spcPts val="0"/>
              </a:spcAft>
              <a:buClr>
                <a:srgbClr val="F5F0F0"/>
              </a:buClr>
              <a:buSzPts val="4850"/>
              <a:buFont typeface="Merriweather"/>
              <a:buNone/>
            </a:pPr>
            <a:r>
              <a:rPr lang="en-US" sz="4850" dirty="0">
                <a:solidFill>
                  <a:srgbClr val="F5F0F0"/>
                </a:solidFill>
                <a:latin typeface="Merriweather"/>
                <a:ea typeface="Merriweather"/>
                <a:cs typeface="Merriweather"/>
                <a:sym typeface="Merriweather"/>
              </a:rPr>
              <a:t>Framework Evolution</a:t>
            </a:r>
            <a:endParaRPr sz="4850" dirty="0">
              <a:solidFill>
                <a:schemeClr val="dk1"/>
              </a:solidFill>
              <a:latin typeface="Calibri"/>
              <a:ea typeface="Calibri"/>
              <a:cs typeface="Calibri"/>
              <a:sym typeface="Calibri"/>
            </a:endParaRPr>
          </a:p>
        </p:txBody>
      </p:sp>
      <p:pic>
        <p:nvPicPr>
          <p:cNvPr id="468" name="Google Shape;468;p23" descr="preencoded.png"/>
          <p:cNvPicPr preferRelativeResize="0"/>
          <p:nvPr/>
        </p:nvPicPr>
        <p:blipFill rotWithShape="1">
          <a:blip r:embed="rId3">
            <a:alphaModFix/>
          </a:blip>
          <a:srcRect/>
          <a:stretch/>
        </p:blipFill>
        <p:spPr>
          <a:xfrm>
            <a:off x="863798" y="1853446"/>
            <a:ext cx="1234083" cy="1480899"/>
          </a:xfrm>
          <a:prstGeom prst="rect">
            <a:avLst/>
          </a:prstGeom>
          <a:noFill/>
          <a:ln>
            <a:noFill/>
          </a:ln>
        </p:spPr>
      </p:pic>
      <p:sp>
        <p:nvSpPr>
          <p:cNvPr id="469" name="Google Shape;469;p23"/>
          <p:cNvSpPr/>
          <p:nvPr/>
        </p:nvSpPr>
        <p:spPr>
          <a:xfrm>
            <a:off x="2344698" y="2100263"/>
            <a:ext cx="3085386" cy="385524"/>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E2E6E9"/>
              </a:buClr>
              <a:buSzPts val="2400"/>
              <a:buFont typeface="Merriweather"/>
              <a:buNone/>
            </a:pPr>
            <a:r>
              <a:rPr lang="en-US" sz="2400">
                <a:solidFill>
                  <a:srgbClr val="E2E6E9"/>
                </a:solidFill>
                <a:latin typeface="Merriweather"/>
                <a:ea typeface="Merriweather"/>
                <a:cs typeface="Merriweather"/>
                <a:sym typeface="Merriweather"/>
              </a:rPr>
              <a:t>Base Paper</a:t>
            </a:r>
            <a:endParaRPr sz="2400">
              <a:solidFill>
                <a:schemeClr val="dk1"/>
              </a:solidFill>
              <a:latin typeface="Calibri"/>
              <a:ea typeface="Calibri"/>
              <a:cs typeface="Calibri"/>
              <a:sym typeface="Calibri"/>
            </a:endParaRPr>
          </a:p>
        </p:txBody>
      </p:sp>
      <p:sp>
        <p:nvSpPr>
          <p:cNvPr id="470" name="Google Shape;470;p23"/>
          <p:cNvSpPr/>
          <p:nvPr/>
        </p:nvSpPr>
        <p:spPr>
          <a:xfrm>
            <a:off x="2344698" y="2633782"/>
            <a:ext cx="11421904" cy="394811"/>
          </a:xfrm>
          <a:prstGeom prst="rect">
            <a:avLst/>
          </a:prstGeom>
          <a:noFill/>
          <a:ln>
            <a:noFill/>
          </a:ln>
        </p:spPr>
        <p:txBody>
          <a:bodyPr spcFirstLastPara="1" wrap="square" lIns="0" tIns="0" rIns="0" bIns="0" anchor="t" anchorCtr="0">
            <a:noAutofit/>
          </a:bodyPr>
          <a:lstStyle/>
          <a:p>
            <a:pPr marL="0" marR="0" lvl="0" indent="0" algn="l" rtl="0">
              <a:lnSpc>
                <a:spcPct val="163157"/>
              </a:lnSpc>
              <a:spcBef>
                <a:spcPts val="0"/>
              </a:spcBef>
              <a:spcAft>
                <a:spcPts val="0"/>
              </a:spcAft>
              <a:buClr>
                <a:srgbClr val="E2E6E9"/>
              </a:buClr>
              <a:buSzPts val="1900"/>
              <a:buFont typeface="Merriweather"/>
              <a:buNone/>
            </a:pPr>
            <a:r>
              <a:rPr lang="en-US" sz="1900">
                <a:solidFill>
                  <a:srgbClr val="E2E6E9"/>
                </a:solidFill>
                <a:latin typeface="Merriweather"/>
                <a:ea typeface="Merriweather"/>
                <a:cs typeface="Merriweather"/>
                <a:sym typeface="Merriweather"/>
              </a:rPr>
              <a:t>IQI-GWO + SVM on Breast Cancer</a:t>
            </a:r>
            <a:endParaRPr sz="1900">
              <a:solidFill>
                <a:schemeClr val="dk1"/>
              </a:solidFill>
              <a:latin typeface="Calibri"/>
              <a:ea typeface="Calibri"/>
              <a:cs typeface="Calibri"/>
              <a:sym typeface="Calibri"/>
            </a:endParaRPr>
          </a:p>
        </p:txBody>
      </p:sp>
      <p:pic>
        <p:nvPicPr>
          <p:cNvPr id="471" name="Google Shape;471;p23" descr="preencoded.png"/>
          <p:cNvPicPr preferRelativeResize="0"/>
          <p:nvPr/>
        </p:nvPicPr>
        <p:blipFill rotWithShape="1">
          <a:blip r:embed="rId4">
            <a:alphaModFix/>
          </a:blip>
          <a:srcRect/>
          <a:stretch/>
        </p:blipFill>
        <p:spPr>
          <a:xfrm>
            <a:off x="863798" y="3334345"/>
            <a:ext cx="1234083" cy="1480899"/>
          </a:xfrm>
          <a:prstGeom prst="rect">
            <a:avLst/>
          </a:prstGeom>
          <a:noFill/>
          <a:ln>
            <a:noFill/>
          </a:ln>
        </p:spPr>
      </p:pic>
      <p:sp>
        <p:nvSpPr>
          <p:cNvPr id="472" name="Google Shape;472;p23"/>
          <p:cNvSpPr/>
          <p:nvPr/>
        </p:nvSpPr>
        <p:spPr>
          <a:xfrm>
            <a:off x="2344698" y="3581162"/>
            <a:ext cx="3085386" cy="385524"/>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E2E6E9"/>
              </a:buClr>
              <a:buSzPts val="2400"/>
              <a:buFont typeface="Merriweather"/>
              <a:buNone/>
            </a:pPr>
            <a:r>
              <a:rPr lang="en-US" sz="2400">
                <a:solidFill>
                  <a:srgbClr val="E2E6E9"/>
                </a:solidFill>
                <a:latin typeface="Merriweather"/>
                <a:ea typeface="Merriweather"/>
                <a:cs typeface="Merriweather"/>
                <a:sym typeface="Merriweather"/>
              </a:rPr>
              <a:t>Our Work</a:t>
            </a:r>
            <a:endParaRPr sz="2400">
              <a:solidFill>
                <a:schemeClr val="dk1"/>
              </a:solidFill>
              <a:latin typeface="Calibri"/>
              <a:ea typeface="Calibri"/>
              <a:cs typeface="Calibri"/>
              <a:sym typeface="Calibri"/>
            </a:endParaRPr>
          </a:p>
        </p:txBody>
      </p:sp>
      <p:sp>
        <p:nvSpPr>
          <p:cNvPr id="473" name="Google Shape;473;p23"/>
          <p:cNvSpPr/>
          <p:nvPr/>
        </p:nvSpPr>
        <p:spPr>
          <a:xfrm>
            <a:off x="2344698" y="4114681"/>
            <a:ext cx="11421904" cy="394811"/>
          </a:xfrm>
          <a:prstGeom prst="rect">
            <a:avLst/>
          </a:prstGeom>
          <a:noFill/>
          <a:ln>
            <a:noFill/>
          </a:ln>
        </p:spPr>
        <p:txBody>
          <a:bodyPr spcFirstLastPara="1" wrap="square" lIns="0" tIns="0" rIns="0" bIns="0" anchor="t" anchorCtr="0">
            <a:noAutofit/>
          </a:bodyPr>
          <a:lstStyle/>
          <a:p>
            <a:pPr marL="0" marR="0" lvl="0" indent="0" algn="l" rtl="0">
              <a:lnSpc>
                <a:spcPct val="163157"/>
              </a:lnSpc>
              <a:spcBef>
                <a:spcPts val="0"/>
              </a:spcBef>
              <a:spcAft>
                <a:spcPts val="0"/>
              </a:spcAft>
              <a:buClr>
                <a:srgbClr val="E2E6E9"/>
              </a:buClr>
              <a:buSzPts val="1900"/>
              <a:buFont typeface="Merriweather"/>
              <a:buNone/>
            </a:pPr>
            <a:r>
              <a:rPr lang="en-US" sz="1900">
                <a:solidFill>
                  <a:srgbClr val="E2E6E9"/>
                </a:solidFill>
                <a:latin typeface="Merriweather"/>
                <a:ea typeface="Merriweather"/>
                <a:cs typeface="Merriweather"/>
                <a:sym typeface="Merriweather"/>
              </a:rPr>
              <a:t>IQI-GWO + Multi-Dataset + RF/SVM + Image Features</a:t>
            </a:r>
            <a:endParaRPr sz="1900">
              <a:solidFill>
                <a:schemeClr val="dk1"/>
              </a:solidFill>
              <a:latin typeface="Calibri"/>
              <a:ea typeface="Calibri"/>
              <a:cs typeface="Calibri"/>
              <a:sym typeface="Calibri"/>
            </a:endParaRPr>
          </a:p>
        </p:txBody>
      </p:sp>
      <p:sp>
        <p:nvSpPr>
          <p:cNvPr id="474" name="Google Shape;474;p23"/>
          <p:cNvSpPr/>
          <p:nvPr/>
        </p:nvSpPr>
        <p:spPr>
          <a:xfrm>
            <a:off x="863798" y="5185410"/>
            <a:ext cx="4936569" cy="616982"/>
          </a:xfrm>
          <a:prstGeom prst="rect">
            <a:avLst/>
          </a:prstGeom>
          <a:noFill/>
          <a:ln>
            <a:noFill/>
          </a:ln>
        </p:spPr>
        <p:txBody>
          <a:bodyPr spcFirstLastPara="1" wrap="square" lIns="0" tIns="0" rIns="0" bIns="0" anchor="t" anchorCtr="0">
            <a:noAutofit/>
          </a:bodyPr>
          <a:lstStyle/>
          <a:p>
            <a:pPr marL="0" marR="0" lvl="0" indent="0" algn="l" rtl="0">
              <a:lnSpc>
                <a:spcPct val="125974"/>
              </a:lnSpc>
              <a:spcBef>
                <a:spcPts val="0"/>
              </a:spcBef>
              <a:spcAft>
                <a:spcPts val="0"/>
              </a:spcAft>
              <a:buClr>
                <a:srgbClr val="F5F0F0"/>
              </a:buClr>
              <a:buSzPts val="3850"/>
              <a:buFont typeface="Merriweather"/>
              <a:buNone/>
            </a:pPr>
            <a:r>
              <a:rPr lang="en-US" sz="3850">
                <a:solidFill>
                  <a:srgbClr val="F5F0F0"/>
                </a:solidFill>
                <a:latin typeface="Merriweather"/>
                <a:ea typeface="Merriweather"/>
                <a:cs typeface="Merriweather"/>
                <a:sym typeface="Merriweather"/>
              </a:rPr>
              <a:t>Conclusion</a:t>
            </a:r>
            <a:endParaRPr sz="3850">
              <a:solidFill>
                <a:schemeClr val="dk1"/>
              </a:solidFill>
              <a:latin typeface="Calibri"/>
              <a:ea typeface="Calibri"/>
              <a:cs typeface="Calibri"/>
              <a:sym typeface="Calibri"/>
            </a:endParaRPr>
          </a:p>
        </p:txBody>
      </p:sp>
      <p:sp>
        <p:nvSpPr>
          <p:cNvPr id="475" name="Google Shape;475;p23"/>
          <p:cNvSpPr/>
          <p:nvPr/>
        </p:nvSpPr>
        <p:spPr>
          <a:xfrm>
            <a:off x="1233964" y="6450211"/>
            <a:ext cx="12532638" cy="789622"/>
          </a:xfrm>
          <a:prstGeom prst="rect">
            <a:avLst/>
          </a:prstGeom>
          <a:noFill/>
          <a:ln>
            <a:noFill/>
          </a:ln>
        </p:spPr>
        <p:txBody>
          <a:bodyPr spcFirstLastPara="1" wrap="square" lIns="0" tIns="0" rIns="0" bIns="0" anchor="t" anchorCtr="0">
            <a:noAutofit/>
          </a:bodyPr>
          <a:lstStyle/>
          <a:p>
            <a:pPr marL="0" marR="0" lvl="0" indent="0" algn="l" rtl="0">
              <a:lnSpc>
                <a:spcPct val="163157"/>
              </a:lnSpc>
              <a:spcBef>
                <a:spcPts val="0"/>
              </a:spcBef>
              <a:spcAft>
                <a:spcPts val="0"/>
              </a:spcAft>
              <a:buClr>
                <a:srgbClr val="E2E6E9"/>
              </a:buClr>
              <a:buSzPts val="1900"/>
              <a:buFont typeface="Merriweather"/>
              <a:buNone/>
            </a:pPr>
            <a:r>
              <a:rPr lang="en-US" sz="1900">
                <a:solidFill>
                  <a:srgbClr val="E2E6E9"/>
                </a:solidFill>
                <a:latin typeface="Merriweather"/>
                <a:ea typeface="Merriweather"/>
                <a:cs typeface="Merriweather"/>
                <a:sym typeface="Merriweather"/>
              </a:rPr>
              <a:t>The novelty of this research lies in transforming a dataset-specific algorithm into a </a:t>
            </a:r>
            <a:r>
              <a:rPr lang="en-US" sz="1900" b="1">
                <a:solidFill>
                  <a:srgbClr val="E2E6E9"/>
                </a:solidFill>
                <a:latin typeface="Merriweather"/>
                <a:ea typeface="Merriweather"/>
                <a:cs typeface="Merriweather"/>
                <a:sym typeface="Merriweather"/>
              </a:rPr>
              <a:t>general-purpose, validation-driven, and image-compatible optimization framework</a:t>
            </a:r>
            <a:r>
              <a:rPr lang="en-US" sz="1900">
                <a:solidFill>
                  <a:srgbClr val="E2E6E9"/>
                </a:solidFill>
                <a:latin typeface="Merriweather"/>
                <a:ea typeface="Merriweather"/>
                <a:cs typeface="Merriweather"/>
                <a:sym typeface="Merriweather"/>
              </a:rPr>
              <a:t> for machine learning.</a:t>
            </a:r>
            <a:endParaRPr sz="1900">
              <a:solidFill>
                <a:schemeClr val="dk1"/>
              </a:solidFill>
              <a:latin typeface="Calibri"/>
              <a:ea typeface="Calibri"/>
              <a:cs typeface="Calibri"/>
              <a:sym typeface="Calibri"/>
            </a:endParaRPr>
          </a:p>
        </p:txBody>
      </p:sp>
      <p:sp>
        <p:nvSpPr>
          <p:cNvPr id="476" name="Google Shape;476;p23"/>
          <p:cNvSpPr/>
          <p:nvPr/>
        </p:nvSpPr>
        <p:spPr>
          <a:xfrm>
            <a:off x="863798" y="6172557"/>
            <a:ext cx="30480" cy="1344930"/>
          </a:xfrm>
          <a:prstGeom prst="rect">
            <a:avLst/>
          </a:prstGeom>
          <a:solidFill>
            <a:srgbClr val="609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77" name="Google Shape;477;p23"/>
          <p:cNvPicPr preferRelativeResize="0"/>
          <p:nvPr/>
        </p:nvPicPr>
        <p:blipFill rotWithShape="1">
          <a:blip r:embed="rId5">
            <a:alphaModFix/>
          </a:blip>
          <a:srcRect/>
          <a:stretch/>
        </p:blipFill>
        <p:spPr>
          <a:xfrm>
            <a:off x="12099700" y="7439977"/>
            <a:ext cx="2458673" cy="789623"/>
          </a:xfrm>
          <a:prstGeom prst="rect">
            <a:avLst/>
          </a:prstGeom>
          <a:noFill/>
          <a:ln>
            <a:noFill/>
          </a:ln>
        </p:spPr>
      </p:pic>
      <p:sp>
        <p:nvSpPr>
          <p:cNvPr id="18" name="TextBox 17">
            <a:extLst>
              <a:ext uri="{FF2B5EF4-FFF2-40B4-BE49-F238E27FC236}">
                <a16:creationId xmlns:a16="http://schemas.microsoft.com/office/drawing/2014/main" id="{7323DD1D-82CB-FD81-7363-42E0FFC43F5C}"/>
              </a:ext>
            </a:extLst>
          </p:cNvPr>
          <p:cNvSpPr txBox="1"/>
          <p:nvPr/>
        </p:nvSpPr>
        <p:spPr>
          <a:xfrm>
            <a:off x="8720920" y="7524007"/>
            <a:ext cx="5561462" cy="523220"/>
          </a:xfrm>
          <a:prstGeom prst="rect">
            <a:avLst/>
          </a:prstGeom>
          <a:noFill/>
        </p:spPr>
        <p:txBody>
          <a:bodyPr wrap="square" rtlCol="0">
            <a:spAutoFit/>
          </a:bodyPr>
          <a:lstStyle/>
          <a:p>
            <a:pPr algn="r"/>
            <a:r>
              <a:rPr lang="en-IN" sz="2800" dirty="0">
                <a:solidFill>
                  <a:schemeClr val="bg1"/>
                </a:solidFill>
                <a:latin typeface="Script MT Bold" panose="03040602040607080904" pitchFamily="66" charset="0"/>
              </a:rPr>
              <a:t>------- Sandeep Sankar Balla</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1377</Words>
  <Application>Microsoft Office PowerPoint</Application>
  <PresentationFormat>Custom</PresentationFormat>
  <Paragraphs>234</Paragraphs>
  <Slides>20</Slides>
  <Notes>20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Roboto Medium</vt:lpstr>
      <vt:lpstr>Calibri</vt:lpstr>
      <vt:lpstr>Roboto</vt:lpstr>
      <vt:lpstr>Arial</vt:lpstr>
      <vt:lpstr>Merriweather Light</vt:lpstr>
      <vt:lpstr>Merriweather</vt:lpstr>
      <vt:lpstr>Script MT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Sandeep Sankar</cp:lastModifiedBy>
  <cp:revision>4</cp:revision>
  <dcterms:created xsi:type="dcterms:W3CDTF">2025-10-27T15:49:15Z</dcterms:created>
  <dcterms:modified xsi:type="dcterms:W3CDTF">2026-01-14T04:01:59Z</dcterms:modified>
</cp:coreProperties>
</file>